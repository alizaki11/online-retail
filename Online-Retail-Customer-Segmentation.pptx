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charts/chart1.xml" ContentType="application/vnd.openxmlformats-officedocument.drawingml.chart+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charts/chart2.xml" ContentType="application/vnd.openxmlformats-officedocument.drawingml.chart+xml"/>
  <Override PartName="/ppt/slideMasters/slideMaster10.xml" ContentType="application/vnd.openxmlformats-officedocument.presentationml.slideMaster+xml"/>
  <Override PartName="/ppt/slides/slide10.xml" ContentType="application/vnd.openxmlformats-officedocument.presentationml.slide+xml"/>
  <Override PartName="/ppt/charts/chart3.xml" ContentType="application/vnd.openxmlformats-officedocument.drawingml.chart+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charts/chart4.xml" ContentType="application/vnd.openxmlformats-officedocument.drawingml.chart+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charts/chart5.xml" ContentType="application/vnd.openxmlformats-officedocument.drawingml.chart+xml"/>
  <Override PartName="/ppt/slideMasters/slideMaster18.xml" ContentType="application/vnd.openxmlformats-officedocument.presentationml.slideMaster+xml"/>
  <Override PartName="/ppt/slides/slide1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Lst>
  <p:notesMasterIdLst>
    <p:notesMasterId r:id="rId20"/>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notesMaster" Target="notesMasters/notesMaster1.xml"/><Relationship Id="rId21" Type="http://schemas.openxmlformats.org/officeDocument/2006/relationships/presProps" Target="presProps.xml"/><Relationship Id="rId22" Type="http://schemas.openxmlformats.org/officeDocument/2006/relationships/viewProps" Target="viewProps.xml"/><Relationship Id="rId23" Type="http://schemas.openxmlformats.org/officeDocument/2006/relationships/theme" Target="theme/theme1.xml"/><Relationship Id="rId24"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Relationships xmlns="http://schemas.openxmlformats.org/package/2006/relationships"><Relationship Id="rId1" Type="http://schemas.openxmlformats.org/officeDocument/2006/relationships/package" Target="../embeddings/Microsoft_Excel_Worksheet3.xlsx"/></Relationships>
</file>

<file path=ppt/charts/_rels/chart4.xml.rels><?xml version="1.0" encoding="UTF-8" standalone="yes"?><Relationships xmlns="http://schemas.openxmlformats.org/package/2006/relationships"><Relationship Id="rId1" Type="http://schemas.openxmlformats.org/officeDocument/2006/relationships/package" Target="../embeddings/Microsoft_Excel_Worksheet4.xlsx"/></Relationships>
</file>

<file path=ppt/charts/_rels/chart5.xml.rels><?xml version="1.0" encoding="UTF-8" standalone="yes"?><Relationships xmlns="http://schemas.openxmlformats.org/package/2006/relationships"><Relationship Id="rId1" Type="http://schemas.openxmlformats.org/officeDocument/2006/relationships/package" Target="../embeddings/Microsoft_Excel_Worksheet5.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lineChart>
        <c:varyColors val="0"/>
        <c:ser>
          <c:idx val="0"/>
          <c:order val="0"/>
          <c:tx>
            <c:strRef>
              <c:f>Sheet1!$B$1</c:f>
              <c:strCache>
                <c:ptCount val="1"/>
                <c:pt idx="0">
                  <c:v>Silhouette Score</c:v>
                </c:pt>
              </c:strCache>
            </c:strRef>
          </c:tx>
          <c:spPr>
            <a:solidFill>
              <a:srgbClr val="3B82F6"/>
            </a:solidFill>
            <a:ln w="31750" cap="flat">
              <a:solidFill>
                <a:srgbClr val="3B82F6"/>
              </a:solidFill>
              <a:prstDash val="solid"/>
              <a:round/>
            </a:ln>
            <a:effectLst/>
          </c:spPr>
          <c:invertIfNegative val="0"/>
          <c:dLbls>
            <c:numFmt formatCode="#,##0" sourceLinked="0"/>
            <c:txPr>
              <a:bodyPr/>
              <a:lstStyle/>
              <a:p>
                <a:pPr>
                  <a:defRPr b="0" i="0" strike="noStrike" sz="1200" u="none">
                    <a:solidFill>
                      <a:srgbClr val="A8B8D0"/>
                    </a:solidFill>
                    <a:latin typeface="Arial"/>
                  </a:defRPr>
                </a:pPr>
              </a:p>
            </c:txPr>
            <c:showLegendKey val="0"/>
            <c:showVal val="0"/>
            <c:showCatName val="0"/>
            <c:showSerName val="0"/>
            <c:showPercent val="0"/>
            <c:showBubbleSize val="0"/>
            <c:showLeaderLines val="0"/>
          </c:dLbls>
          <c:marker>
            <c:symbol val="circle"/>
            <c:size val="7"/>
            <c:spPr>
              <a:solidFill>
                <a:srgbClr val="3B82F6"/>
              </a:solidFill>
              <a:ln w="9525" cap="flat">
                <a:solidFill>
                  <a:srgbClr val="3B82F6"/>
                </a:solidFill>
                <a:prstDash val="solid"/>
                <a:round/>
              </a:ln>
              <a:effectLst/>
            </c:spPr>
          </c:marker>
          <c:cat>
            <c:multiLvlStrRef>
              <c:f>Sheet1!$A$2:$A$10</c:f>
              <c:multiLvlStrCache>
                <c:ptCount val="9"/>
                <c:lvl>
                  <c:pt idx="0">
                    <c:v>2</c:v>
                  </c:pt>
                  <c:pt idx="1">
                    <c:v>3</c:v>
                  </c:pt>
                  <c:pt idx="2">
                    <c:v>4</c:v>
                  </c:pt>
                  <c:pt idx="3">
                    <c:v>5</c:v>
                  </c:pt>
                  <c:pt idx="4">
                    <c:v>6</c:v>
                  </c:pt>
                  <c:pt idx="5">
                    <c:v>7</c:v>
                  </c:pt>
                  <c:pt idx="6">
                    <c:v>8</c:v>
                  </c:pt>
                  <c:pt idx="7">
                    <c:v>9</c:v>
                  </c:pt>
                  <c:pt idx="8">
                    <c:v>10</c:v>
                  </c:pt>
                </c:lvl>
              </c:multiLvlStrCache>
            </c:multiLvlStrRef>
          </c:cat>
          <c:val>
            <c:numRef>
              <c:f>Sheet1!$B$2:$B$10</c:f>
              <c:numCache>
                <c:formatCode>General</c:formatCode>
                <c:ptCount val="9"/>
                <c:pt idx="0">
                  <c:v>0.5828</c:v>
                </c:pt>
                <c:pt idx="1">
                  <c:v>0.4323</c:v>
                </c:pt>
                <c:pt idx="2">
                  <c:v>0.403</c:v>
                </c:pt>
                <c:pt idx="3">
                  <c:v>0.2766</c:v>
                </c:pt>
                <c:pt idx="4">
                  <c:v>0.2634</c:v>
                </c:pt>
                <c:pt idx="5">
                  <c:v>0.2669</c:v>
                </c:pt>
                <c:pt idx="6">
                  <c:v>0.2646</c:v>
                </c:pt>
                <c:pt idx="7">
                  <c:v>0.27</c:v>
                </c:pt>
                <c:pt idx="8">
                  <c:v>0.2806</c:v>
                </c:pt>
              </c:numCache>
            </c:numRef>
          </c:val>
          <c:smooth val="0"/>
        </c:ser>
        <c:dLbls>
          <c:numFmt formatCode="#,##0" sourceLinked="0"/>
          <c:txPr>
            <a:bodyPr/>
            <a:lstStyle/>
            <a:p>
              <a:pPr>
                <a:defRPr b="0" i="0" strike="noStrike" sz="1200" u="none">
                  <a:solidFill>
                    <a:srgbClr val="A8B8D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title>
          <c:tx>
            <c:rich>
              <a:bodyPr/>
              <a:lstStyle/>
              <a:p>
                <a:pPr>
                  <a:defRPr sz="1100" b="0" i="0" u="none" strike="noStrike">
                    <a:solidFill>
                      <a:srgbClr val="A8B8D0"/>
                    </a:solidFill>
                    <a:latin typeface="Arial"/>
                  </a:defRPr>
                </a:pPr>
                <a:r>
                  <a:rPr sz="1100" b="0" i="0" u="none" strike="noStrike">
                    <a:solidFill>
                      <a:srgbClr val="A8B8D0"/>
                    </a:solidFill>
                    <a:latin typeface="Arial"/>
                  </a:rPr>
                  <a:t>Number of Clusters (k)</a:t>
                </a:r>
              </a:p>
            </c:rich>
          </c:tx>
          <c:layout/>
          <c:overlay val="0"/>
        </c:title>
        <c:numFmt formatCode="General" sourceLinked="1"/>
        <c:majorTickMark val="out"/>
        <c:minorTickMark val="none"/>
        <c:tickLblPos val="low"/>
        <c:spPr>
          <a:ln w="12700" cap="flat">
            <a:solidFill>
              <a:srgbClr val="24314E"/>
            </a:solidFill>
            <a:prstDash val="solid"/>
            <a:round/>
          </a:ln>
        </c:spPr>
        <c:txPr>
          <a:bodyPr/>
          <a:lstStyle/>
          <a:p>
            <a:pPr>
              <a:defRPr sz="1200" b="0" i="0" u="none" strike="noStrike">
                <a:solidFill>
                  <a:srgbClr val="72859E"/>
                </a:solidFill>
                <a:latin typeface="Arial"/>
              </a:defRPr>
            </a:pPr>
            <a:endParaRPr lang="en-US"/>
          </a:p>
        </c:txPr>
        <c:crossAx val="2094734552"/>
        <c:crosses val="autoZero"/>
        <c:auto val="1"/>
        <c:lblAlgn val="ctr"/>
        <c:noMultiLvlLbl val="1"/>
      </c:catAx>
      <c:valAx>
        <c:axId val="2094734552"/>
        <c:scaling>
          <c:orientation val="minMax"/>
          <c:max val="0.62"/>
          <c:min val="0.2"/>
        </c:scaling>
        <c:delete val="0"/>
        <c:axPos val="l"/>
        <c:majorGridlines>
          <c:spPr>
            <a:ln w="9525" cap="flat">
              <a:solidFill>
                <a:srgbClr val="24314E"/>
              </a:solidFill>
              <a:prstDash val="solid"/>
              <a:round/>
            </a:ln>
          </c:spPr>
        </c:majorGridlines>
        <c:title>
          <c:tx>
            <c:rich>
              <a:bodyPr/>
              <a:lstStyle/>
              <a:p>
                <a:pPr>
                  <a:defRPr sz="1100" b="0" i="0" u="none" strike="noStrike">
                    <a:solidFill>
                      <a:srgbClr val="A8B8D0"/>
                    </a:solidFill>
                    <a:latin typeface="Arial"/>
                  </a:defRPr>
                </a:pPr>
                <a:r>
                  <a:rPr sz="1100" b="0" i="0" u="none" strike="noStrike">
                    <a:solidFill>
                      <a:srgbClr val="A8B8D0"/>
                    </a:solidFill>
                    <a:latin typeface="Arial"/>
                  </a:rPr>
                  <a:t>Silhouette Score</a:t>
                </a:r>
              </a:p>
            </c:rich>
          </c:tx>
          <c:layout/>
          <c:overlay val="0"/>
        </c:title>
        <c:numFmt formatCode="General" sourceLinked="0"/>
        <c:majorTickMark val="out"/>
        <c:minorTickMark val="none"/>
        <c:tickLblPos val="nextTo"/>
        <c:spPr>
          <a:ln w="12700" cap="flat">
            <a:solidFill>
              <a:srgbClr val="24314E"/>
            </a:solidFill>
            <a:prstDash val="solid"/>
            <a:round/>
          </a:ln>
        </c:spPr>
        <c:txPr>
          <a:bodyPr/>
          <a:lstStyle/>
          <a:p>
            <a:pPr>
              <a:defRPr sz="1200" b="0" i="0" u="none" strike="noStrike">
                <a:solidFill>
                  <a:srgbClr val="72859E"/>
                </a:solidFill>
                <a:latin typeface="Arial"/>
              </a:defRPr>
            </a:pPr>
            <a:endParaRPr lang="en-US"/>
          </a:p>
        </c:txPr>
        <c:crossAx val="2094734554"/>
        <c:crosses val="autoZero"/>
        <c:crossBetween val="between"/>
      </c:valAx>
      <c:spPr>
        <a:solidFill>
          <a:srgbClr val="111F38"/>
        </a:solidFill>
        <a:ln>
          <a:noFill/>
        </a:ln>
        <a:effectLst/>
      </c:spPr>
    </c:plotArea>
    <c:plotVisOnly val="1"/>
    <c:dispBlanksAs val="span"/>
  </c:chart>
  <c:spPr>
    <a:solidFill>
      <a:srgbClr val="0B1220"/>
    </a:solid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doughnutChart>
        <c:varyColors val="1"/>
        <c:ser>
          <c:idx val="0"/>
          <c:order val="0"/>
          <c:tx>
            <c:strRef>
              <c:f>Sheet1!$B$1</c:f>
              <c:strCache>
                <c:ptCount val="1"/>
                <c:pt idx="0">
                  <c:v>Customers</c:v>
                </c:pt>
              </c:strCache>
            </c:strRef>
          </c:tx>
          <c:spPr>
            <a:solidFill>
              <a:schemeClr val="accent1"/>
            </a:solidFill>
            <a:ln w="9525" cap="flat">
              <a:solidFill>
                <a:srgbClr val="F9F9F9"/>
              </a:solidFill>
              <a:prstDash val="solid"/>
              <a:round/>
            </a:ln>
            <a:effectLst/>
          </c:spPr>
          <c:dPt>
            <c:idx val="0"/>
            <c:bubble3D val="0"/>
            <c:spPr>
              <a:solidFill>
                <a:srgbClr val="3B82F6"/>
              </a:solidFill>
              <a:effectLst/>
            </c:spPr>
          </c:dPt>
          <c:dPt>
            <c:idx val="1"/>
            <c:bubble3D val="0"/>
            <c:spPr>
              <a:solidFill>
                <a:srgbClr val="F0B429"/>
              </a:solidFill>
              <a:effectLst/>
            </c:spPr>
          </c:dPt>
          <c:dPt>
            <c:idx val="2"/>
            <c:bubble3D val="0"/>
            <c:spPr>
              <a:solidFill>
                <a:srgbClr val="EF4444"/>
              </a:solidFill>
              <a:effectLst/>
            </c:spPr>
          </c:dPt>
          <c:dLbls>
            <c:dLbl>
              <c:idx val="0"/>
              <c:numFmt formatCode="General" sourceLinked="0"/>
              <c:spPr/>
              <c:txPr>
                <a:bodyPr/>
                <a:lstStyle/>
                <a:p>
                  <a:pPr>
                    <a:defRPr sz="1200" b="0" i="0" u="none" strike="noStrike">
                      <a:solidFill>
                        <a:srgbClr val="000000"/>
                      </a:solidFill>
                      <a:latin typeface="Arial"/>
                    </a:defRPr>
                  </a:pPr>
                </a:p>
              </c:txPr>
              <c:showLegendKey val="0"/>
              <c:showVal val="0"/>
              <c:showCatName val="0"/>
              <c:showSerName val="0"/>
              <c:showPercent val="0"/>
              <c:showBubbleSize val="0"/>
            </c:dLbl>
            <c:dLbl>
              <c:idx val="1"/>
              <c:numFmt formatCode="General" sourceLinked="0"/>
              <c:spPr/>
              <c:txPr>
                <a:bodyPr/>
                <a:lstStyle/>
                <a:p>
                  <a:pPr>
                    <a:defRPr sz="1200" b="0" i="0" u="none" strike="noStrike">
                      <a:solidFill>
                        <a:srgbClr val="000000"/>
                      </a:solidFill>
                      <a:latin typeface="Arial"/>
                    </a:defRPr>
                  </a:pPr>
                </a:p>
              </c:txPr>
              <c:showLegendKey val="0"/>
              <c:showVal val="0"/>
              <c:showCatName val="0"/>
              <c:showSerName val="0"/>
              <c:showPercent val="0"/>
              <c:showBubbleSize val="0"/>
            </c:dLbl>
            <c:dLbl>
              <c:idx val="2"/>
              <c:numFmt formatCode="General" sourceLinked="0"/>
              <c:spPr/>
              <c:txPr>
                <a:bodyPr/>
                <a:lstStyle/>
                <a:p>
                  <a:pPr>
                    <a:defRPr sz="1200" b="0" i="0" u="none" strike="noStrike">
                      <a:solidFill>
                        <a:srgbClr val="000000"/>
                      </a:solidFill>
                      <a:latin typeface="Arial"/>
                    </a:defRPr>
                  </a:pPr>
                </a:p>
              </c:txPr>
              <c:showLegendKey val="0"/>
              <c:showVal val="0"/>
              <c:showCatName val="0"/>
              <c:showSerName val="0"/>
              <c:showPercent val="0"/>
              <c:showBubbleSize val="0"/>
            </c:dLbl>
            <c:numFmt formatCode="General" sourceLinked="0"/>
            <c:txPr>
              <a:bodyPr/>
              <a:lstStyle/>
              <a:p>
                <a:pPr>
                  <a:defRPr sz="1800" b="0" i="0" u="none" strike="noStrike">
                    <a:solidFill>
                      <a:srgbClr val="000000"/>
                    </a:solidFill>
                    <a:latin typeface="Arial"/>
                  </a:defRPr>
                </a:pPr>
              </a:p>
            </c:txPr>
            <c:showLegendKey val="0"/>
            <c:showVal val="0"/>
            <c:showCatName val="1"/>
            <c:showSerName val="0"/>
            <c:showPercent val="1"/>
            <c:showBubbleSize val="0"/>
            <c:showLeaderLines val="0"/>
          </c:dLbls>
          <c:cat>
            <c:strRef>
              <c:f>Sheet1!$A$2:$A$4</c:f>
              <c:strCache>
                <c:ptCount val="3"/>
                <c:pt idx="0">
                  <c:v>Regular (68.1%)</c:v>
                </c:pt>
                <c:pt idx="1">
                  <c:v>High Value (25.0%)</c:v>
                </c:pt>
                <c:pt idx="2">
                  <c:v>At Risk (6.9%)</c:v>
                </c:pt>
              </c:strCache>
            </c:strRef>
          </c:cat>
          <c:val>
            <c:numRef>
              <c:f>Sheet1!$B$2:$B$4</c:f>
              <c:numCache>
                <c:ptCount val="3"/>
                <c:pt idx="0">
                  <c:v>619</c:v>
                </c:pt>
                <c:pt idx="1">
                  <c:v>227</c:v>
                </c:pt>
                <c:pt idx="2">
                  <c:v>63</c:v>
                </c:pt>
              </c:numCache>
            </c:numRef>
          </c:val>
        </c:ser>
        <c:firstSliceAng val="0"/>
        <c:holeSize val="62"/>
      </c:doughnutChart>
      <c:spPr>
        <a:noFill/>
        <a:ln>
          <a:noFill/>
        </a:ln>
        <a:effectLst/>
      </c:spPr>
    </c:plotArea>
    <c:legend>
      <c:legendPos val="b"/>
      <c:overlay val="0"/>
      <c:txPr>
        <a:bodyPr/>
        <a:lstStyle/>
        <a:p>
          <a:pPr>
            <a:defRPr sz="1100">
              <a:solidFill>
                <a:srgbClr val="A8B8D0"/>
              </a:solidFill>
            </a:defRPr>
          </a:pPr>
          <a:endParaRPr lang="en-US"/>
        </a:p>
      </c:txPr>
    </c:legend>
    <c:plotVisOnly val="1"/>
    <c:dispBlanksAs val="span"/>
  </c:chart>
  <c:spPr>
    <a:solidFill>
      <a:srgbClr val="0B1220"/>
    </a:solid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 of Customers</c:v>
                </c:pt>
              </c:strCache>
            </c:strRef>
          </c:tx>
          <c:spPr>
            <a:solidFill>
              <a:srgbClr val="3B82F6"/>
            </a:solidFill>
            <a:effectLst/>
          </c:spPr>
          <c:invertIfNegative val="0"/>
          <c:dLbls>
            <c:numFmt formatCode="0.0" sourceLinked="0"/>
            <c:txPr>
              <a:bodyPr/>
              <a:lstStyle/>
              <a:p>
                <a:pPr>
                  <a:defRPr b="0" i="0" strike="noStrike" sz="900" u="none">
                    <a:solidFill>
                      <a:srgbClr val="E8EDF5"/>
                    </a:solidFill>
                    <a:latin typeface="Arial"/>
                  </a:defRPr>
                </a:pPr>
              </a:p>
            </c:txPr>
            <c:showLegendKey val="0"/>
            <c:showVal val="1"/>
            <c:showCatName val="0"/>
            <c:showSerName val="0"/>
            <c:showPercent val="0"/>
            <c:showBubbleSize val="0"/>
            <c:showLeaderLines val="0"/>
          </c:dLbls>
          <c:cat>
            <c:multiLvlStrRef>
              <c:f>Sheet1!$A$2:$A$4</c:f>
              <c:multiLvlStrCache>
                <c:ptCount val="3"/>
                <c:lvl>
                  <c:pt idx="0">
                    <c:v>High Value</c:v>
                  </c:pt>
                  <c:pt idx="1">
                    <c:v>Regular</c:v>
                  </c:pt>
                  <c:pt idx="2">
                    <c:v>At Risk</c:v>
                  </c:pt>
                </c:lvl>
              </c:multiLvlStrCache>
            </c:multiLvlStrRef>
          </c:cat>
          <c:val>
            <c:numRef>
              <c:f>Sheet1!$B$2:$B$4</c:f>
              <c:numCache>
                <c:formatCode>General</c:formatCode>
                <c:ptCount val="3"/>
                <c:pt idx="0">
                  <c:v>24.97</c:v>
                </c:pt>
                <c:pt idx="1">
                  <c:v>68.1</c:v>
                </c:pt>
                <c:pt idx="2">
                  <c:v>6.93</c:v>
                </c:pt>
              </c:numCache>
            </c:numRef>
          </c:val>
        </c:ser>
        <c:ser>
          <c:idx val="1"/>
          <c:order val="1"/>
          <c:tx>
            <c:strRef>
              <c:f>Sheet1!$C$1</c:f>
              <c:strCache>
                <c:ptCount val="1"/>
                <c:pt idx="0">
                  <c:v>% of Revenue</c:v>
                </c:pt>
              </c:strCache>
            </c:strRef>
          </c:tx>
          <c:spPr>
            <a:solidFill>
              <a:srgbClr val="F0B429"/>
            </a:solidFill>
            <a:effectLst/>
          </c:spPr>
          <c:invertIfNegative val="0"/>
          <c:dLbls>
            <c:numFmt formatCode="0.0" sourceLinked="0"/>
            <c:txPr>
              <a:bodyPr/>
              <a:lstStyle/>
              <a:p>
                <a:pPr>
                  <a:defRPr b="0" i="0" strike="noStrike" sz="900" u="none">
                    <a:solidFill>
                      <a:srgbClr val="E8EDF5"/>
                    </a:solidFill>
                    <a:latin typeface="Arial"/>
                  </a:defRPr>
                </a:pPr>
              </a:p>
            </c:txPr>
            <c:showLegendKey val="0"/>
            <c:showVal val="1"/>
            <c:showCatName val="0"/>
            <c:showSerName val="0"/>
            <c:showPercent val="0"/>
            <c:showBubbleSize val="0"/>
            <c:showLeaderLines val="0"/>
          </c:dLbls>
          <c:cat>
            <c:multiLvlStrRef>
              <c:f>Sheet1!$A$2:$A$4</c:f>
              <c:multiLvlStrCache>
                <c:ptCount val="3"/>
                <c:lvl>
                  <c:pt idx="0">
                    <c:v>High Value</c:v>
                  </c:pt>
                  <c:pt idx="1">
                    <c:v>Regular</c:v>
                  </c:pt>
                  <c:pt idx="2">
                    <c:v>At Risk</c:v>
                  </c:pt>
                </c:lvl>
              </c:multiLvlStrCache>
            </c:multiLvlStrRef>
          </c:cat>
          <c:val>
            <c:numRef>
              <c:f>Sheet1!$C$2:$C$4</c:f>
              <c:numCache>
                <c:formatCode>General</c:formatCode>
                <c:ptCount val="3"/>
                <c:pt idx="0">
                  <c:v>54.68</c:v>
                </c:pt>
                <c:pt idx="1">
                  <c:v>45.33</c:v>
                </c:pt>
                <c:pt idx="2">
                  <c:v>0.002</c:v>
                </c:pt>
              </c:numCache>
            </c:numRef>
          </c:val>
        </c:ser>
        <c:dLbls>
          <c:numFmt formatCode="0.0" sourceLinked="0"/>
          <c:txPr>
            <a:bodyPr/>
            <a:lstStyle/>
            <a:p>
              <a:pPr>
                <a:defRPr b="0" i="0" strike="noStrike" sz="900" u="none">
                  <a:solidFill>
                    <a:srgbClr val="E8EDF5"/>
                  </a:solidFill>
                  <a:latin typeface="Arial"/>
                </a:defRPr>
              </a:pPr>
            </a:p>
          </c:txPr>
          <c:showLegendKey val="0"/>
          <c:showVal val="1"/>
          <c:showCatName val="0"/>
          <c:showSerName val="0"/>
          <c:showPercent val="0"/>
          <c:showBubbleSize val="0"/>
          <c:showLeaderLines val="0"/>
        </c:dLbls>
        <c:gapWidth val="35"/>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24314E"/>
            </a:solidFill>
            <a:prstDash val="solid"/>
            <a:round/>
          </a:ln>
        </c:spPr>
        <c:txPr>
          <a:bodyPr/>
          <a:lstStyle/>
          <a:p>
            <a:pPr>
              <a:defRPr sz="1200" b="0" i="0" u="none" strike="noStrike">
                <a:solidFill>
                  <a:srgbClr val="72859E"/>
                </a:solidFill>
                <a:latin typeface="Arial"/>
              </a:defRPr>
            </a:pPr>
            <a:endParaRPr lang="en-US"/>
          </a:p>
        </c:txPr>
        <c:crossAx val="2094734552"/>
        <c:crosses val="autoZero"/>
        <c:auto val="1"/>
        <c:lblAlgn val="ctr"/>
        <c:noMultiLvlLbl val="1"/>
      </c:catAx>
      <c:valAx>
        <c:axId val="2094734552"/>
        <c:scaling>
          <c:orientation val="minMax"/>
        </c:scaling>
        <c:delete val="0"/>
        <c:axPos val="l"/>
        <c:majorGridlines>
          <c:spPr>
            <a:ln w="9525" cap="flat">
              <a:solidFill>
                <a:srgbClr val="24314E"/>
              </a:solidFill>
              <a:prstDash val="solid"/>
              <a:round/>
            </a:ln>
          </c:spPr>
        </c:majorGridlines>
        <c:title>
          <c:tx>
            <c:rich>
              <a:bodyPr/>
              <a:lstStyle/>
              <a:p>
                <a:pPr>
                  <a:defRPr sz="1100" b="0" i="0" u="none" strike="noStrike">
                    <a:solidFill>
                      <a:srgbClr val="A8B8D0"/>
                    </a:solidFill>
                    <a:latin typeface="Arial"/>
                  </a:defRPr>
                </a:pPr>
                <a:r>
                  <a:rPr sz="1100" b="0" i="0" u="none" strike="noStrike">
                    <a:solidFill>
                      <a:srgbClr val="A8B8D0"/>
                    </a:solidFill>
                    <a:latin typeface="Arial"/>
                  </a:rPr>
                  <a:t>% Share</a:t>
                </a:r>
              </a:p>
            </c:rich>
          </c:tx>
          <c:layout/>
          <c:overlay val="0"/>
        </c:title>
        <c:numFmt formatCode="General" sourceLinked="0"/>
        <c:majorTickMark val="out"/>
        <c:minorTickMark val="none"/>
        <c:tickLblPos val="nextTo"/>
        <c:spPr>
          <a:ln w="12700" cap="flat">
            <a:solidFill>
              <a:srgbClr val="24314E"/>
            </a:solidFill>
            <a:prstDash val="solid"/>
            <a:round/>
          </a:ln>
        </c:spPr>
        <c:txPr>
          <a:bodyPr/>
          <a:lstStyle/>
          <a:p>
            <a:pPr>
              <a:defRPr sz="1200" b="0" i="0" u="none" strike="noStrike">
                <a:solidFill>
                  <a:srgbClr val="72859E"/>
                </a:solidFill>
                <a:latin typeface="Arial"/>
              </a:defRPr>
            </a:pPr>
            <a:endParaRPr lang="en-US"/>
          </a:p>
        </c:txPr>
        <c:crossAx val="2094734554"/>
        <c:crosses val="autoZero"/>
        <c:crossBetween val="between"/>
      </c:valAx>
      <c:spPr>
        <a:solidFill>
          <a:srgbClr val="111F38"/>
        </a:solidFill>
        <a:ln>
          <a:noFill/>
        </a:ln>
        <a:effectLst/>
      </c:spPr>
    </c:plotArea>
    <c:legend>
      <c:legendPos val="b"/>
      <c:overlay val="0"/>
      <c:txPr>
        <a:bodyPr/>
        <a:lstStyle/>
        <a:p>
          <a:pPr>
            <a:defRPr sz="1100">
              <a:solidFill>
                <a:srgbClr val="A8B8D0"/>
              </a:solidFill>
            </a:defRPr>
          </a:pPr>
          <a:endParaRPr lang="en-US"/>
        </a:p>
      </c:txPr>
    </c:legend>
    <c:plotVisOnly val="1"/>
    <c:dispBlanksAs val="span"/>
  </c:chart>
  <c:spPr>
    <a:solidFill>
      <a:srgbClr val="0B1220"/>
    </a:solidFill>
    <a:ln>
      <a:noFill/>
    </a:ln>
    <a:effectLst/>
  </c:sp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bar"/>
        <c:grouping val="clustered"/>
        <c:varyColors val="0"/>
        <c:ser>
          <c:idx val="0"/>
          <c:order val="0"/>
          <c:tx>
            <c:strRef>
              <c:f>Sheet1!$B$1</c:f>
              <c:strCache>
                <c:ptCount val="1"/>
                <c:pt idx="0">
                  <c:v>Regular</c:v>
                </c:pt>
              </c:strCache>
            </c:strRef>
          </c:tx>
          <c:spPr>
            <a:solidFill>
              <a:srgbClr val="3B82F6"/>
            </a:solidFill>
            <a:effectLst/>
          </c:spPr>
          <c:invertIfNegative val="0"/>
          <c:dLbls>
            <c:numFmt formatCode="#,##0" sourceLinked="0"/>
            <c:txPr>
              <a:bodyPr/>
              <a:lstStyle/>
              <a:p>
                <a:pPr>
                  <a:defRPr b="0" i="0" strike="noStrike" sz="900" u="none">
                    <a:solidFill>
                      <a:srgbClr val="E8EDF5"/>
                    </a:solidFill>
                    <a:latin typeface="Arial"/>
                  </a:defRPr>
                </a:pPr>
              </a:p>
            </c:txPr>
            <c:showLegendKey val="0"/>
            <c:showVal val="1"/>
            <c:showCatName val="0"/>
            <c:showSerName val="0"/>
            <c:showPercent val="0"/>
            <c:showBubbleSize val="0"/>
            <c:showLeaderLines val="0"/>
          </c:dLbls>
          <c:cat>
            <c:multiLvlStrRef>
              <c:f>Sheet1!$A$2:$A$4</c:f>
              <c:multiLvlStrCache>
                <c:ptCount val="3"/>
                <c:lvl>
                  <c:pt idx="0">
                    <c:v>Frequency</c:v>
                  </c:pt>
                  <c:pt idx="1">
                    <c:v>Monetary ($, ÷100)</c:v>
                  </c:pt>
                  <c:pt idx="2">
                    <c:v>Unique Products</c:v>
                  </c:pt>
                </c:lvl>
              </c:multiLvlStrCache>
            </c:multiLvlStrRef>
          </c:cat>
          <c:val>
            <c:numRef>
              <c:f>Sheet1!$B$2:$B$4</c:f>
              <c:numCache>
                <c:formatCode>General</c:formatCode>
                <c:ptCount val="3"/>
                <c:pt idx="0">
                  <c:v>1.18</c:v>
                </c:pt>
                <c:pt idx="1">
                  <c:v>3.87</c:v>
                </c:pt>
                <c:pt idx="2">
                  <c:v>22.47</c:v>
                </c:pt>
              </c:numCache>
            </c:numRef>
          </c:val>
        </c:ser>
        <c:ser>
          <c:idx val="1"/>
          <c:order val="1"/>
          <c:tx>
            <c:strRef>
              <c:f>Sheet1!$C$1</c:f>
              <c:strCache>
                <c:ptCount val="1"/>
                <c:pt idx="0">
                  <c:v>High Value</c:v>
                </c:pt>
              </c:strCache>
            </c:strRef>
          </c:tx>
          <c:spPr>
            <a:solidFill>
              <a:srgbClr val="F0B429"/>
            </a:solidFill>
            <a:effectLst/>
          </c:spPr>
          <c:invertIfNegative val="0"/>
          <c:dLbls>
            <c:numFmt formatCode="#,##0" sourceLinked="0"/>
            <c:txPr>
              <a:bodyPr/>
              <a:lstStyle/>
              <a:p>
                <a:pPr>
                  <a:defRPr b="0" i="0" strike="noStrike" sz="900" u="none">
                    <a:solidFill>
                      <a:srgbClr val="E8EDF5"/>
                    </a:solidFill>
                    <a:latin typeface="Arial"/>
                  </a:defRPr>
                </a:pPr>
              </a:p>
            </c:txPr>
            <c:showLegendKey val="0"/>
            <c:showVal val="1"/>
            <c:showCatName val="0"/>
            <c:showSerName val="0"/>
            <c:showPercent val="0"/>
            <c:showBubbleSize val="0"/>
            <c:showLeaderLines val="0"/>
          </c:dLbls>
          <c:cat>
            <c:multiLvlStrRef>
              <c:f>Sheet1!$A$2:$A$4</c:f>
              <c:multiLvlStrCache>
                <c:ptCount val="3"/>
                <c:lvl>
                  <c:pt idx="0">
                    <c:v>Frequency</c:v>
                  </c:pt>
                  <c:pt idx="1">
                    <c:v>Monetary ($, ÷100)</c:v>
                  </c:pt>
                  <c:pt idx="2">
                    <c:v>Unique Products</c:v>
                  </c:pt>
                </c:lvl>
              </c:multiLvlStrCache>
            </c:multiLvlStrRef>
          </c:cat>
          <c:val>
            <c:numRef>
              <c:f>Sheet1!$C$2:$C$4</c:f>
              <c:numCache>
                <c:formatCode>General</c:formatCode>
                <c:ptCount val="3"/>
                <c:pt idx="0">
                  <c:v>3.32</c:v>
                </c:pt>
                <c:pt idx="1">
                  <c:v>12.73</c:v>
                </c:pt>
                <c:pt idx="2">
                  <c:v>35.99</c:v>
                </c:pt>
              </c:numCache>
            </c:numRef>
          </c:val>
        </c:ser>
        <c:dLbls>
          <c:numFmt formatCode="#,##0" sourceLinked="0"/>
          <c:txPr>
            <a:bodyPr/>
            <a:lstStyle/>
            <a:p>
              <a:pPr>
                <a:defRPr b="0" i="0" strike="noStrike" sz="900" u="none">
                  <a:solidFill>
                    <a:srgbClr val="E8EDF5"/>
                  </a:solidFill>
                  <a:latin typeface="Arial"/>
                </a:defRPr>
              </a:pPr>
            </a:p>
          </c:txPr>
          <c:showLegendKey val="0"/>
          <c:showVal val="1"/>
          <c:showCatName val="0"/>
          <c:showSerName val="0"/>
          <c:showPercent val="0"/>
          <c:showBubbleSize val="0"/>
          <c:showLeaderLines val="0"/>
        </c:dLbls>
        <c:gapWidth val="40"/>
        <c:overlap val="0"/>
        <c:axId val="2094734554"/>
        <c:axId val="2094734552"/>
        <c:axId val="2094734556"/>
      </c:barChart>
      <c:catAx>
        <c:axId val="2094734554"/>
        <c:scaling>
          <c:orientation val="minMax"/>
        </c:scaling>
        <c:delete val="0"/>
        <c:axPos val="l"/>
        <c:numFmt formatCode="General" sourceLinked="1"/>
        <c:majorTickMark val="out"/>
        <c:minorTickMark val="none"/>
        <c:tickLblPos val="nextTo"/>
        <c:spPr>
          <a:ln w="12700" cap="flat">
            <a:solidFill>
              <a:srgbClr val="24314E"/>
            </a:solidFill>
            <a:prstDash val="solid"/>
            <a:round/>
          </a:ln>
        </c:spPr>
        <c:txPr>
          <a:bodyPr/>
          <a:lstStyle/>
          <a:p>
            <a:pPr>
              <a:defRPr sz="1200" b="0" i="0" u="none" strike="noStrike">
                <a:solidFill>
                  <a:srgbClr val="72859E"/>
                </a:solidFill>
                <a:latin typeface="Arial"/>
              </a:defRPr>
            </a:pPr>
            <a:endParaRPr lang="en-US"/>
          </a:p>
        </c:txPr>
        <c:crossAx val="2094734552"/>
        <c:crosses val="autoZero"/>
        <c:auto val="1"/>
        <c:lblAlgn val="ctr"/>
        <c:noMultiLvlLbl val="1"/>
      </c:catAx>
      <c:valAx>
        <c:axId val="2094734552"/>
        <c:scaling>
          <c:orientation val="minMax"/>
        </c:scaling>
        <c:delete val="0"/>
        <c:axPos val="b"/>
        <c:majorGridlines>
          <c:spPr>
            <a:ln w="9525" cap="flat">
              <a:solidFill>
                <a:srgbClr val="24314E"/>
              </a:solidFill>
              <a:prstDash val="solid"/>
              <a:round/>
            </a:ln>
          </c:spPr>
        </c:majorGridlines>
        <c:numFmt formatCode="General" sourceLinked="0"/>
        <c:majorTickMark val="out"/>
        <c:minorTickMark val="none"/>
        <c:tickLblPos val="low"/>
        <c:spPr>
          <a:ln w="12700" cap="flat">
            <a:solidFill>
              <a:srgbClr val="24314E"/>
            </a:solidFill>
            <a:prstDash val="solid"/>
            <a:round/>
          </a:ln>
        </c:spPr>
        <c:txPr>
          <a:bodyPr/>
          <a:lstStyle/>
          <a:p>
            <a:pPr>
              <a:defRPr sz="1200" b="0" i="0" u="none" strike="noStrike">
                <a:solidFill>
                  <a:srgbClr val="72859E"/>
                </a:solidFill>
                <a:latin typeface="Arial"/>
              </a:defRPr>
            </a:pPr>
            <a:endParaRPr lang="en-US"/>
          </a:p>
        </c:txPr>
        <c:crossAx val="2094734554"/>
        <c:crosses val="autoZero"/>
        <c:crossBetween val="between"/>
      </c:valAx>
      <c:spPr>
        <a:solidFill>
          <a:srgbClr val="111F38"/>
        </a:solidFill>
        <a:ln>
          <a:noFill/>
        </a:ln>
        <a:effectLst/>
      </c:spPr>
    </c:plotArea>
    <c:legend>
      <c:legendPos val="b"/>
      <c:overlay val="0"/>
      <c:txPr>
        <a:bodyPr/>
        <a:lstStyle/>
        <a:p>
          <a:pPr>
            <a:defRPr sz="1100">
              <a:solidFill>
                <a:srgbClr val="A8B8D0"/>
              </a:solidFill>
            </a:defRPr>
          </a:pPr>
          <a:endParaRPr lang="en-US"/>
        </a:p>
      </c:txPr>
    </c:legend>
    <c:plotVisOnly val="1"/>
    <c:dispBlanksAs val="span"/>
  </c:chart>
  <c:spPr>
    <a:solidFill>
      <a:srgbClr val="0B1220"/>
    </a:solidFill>
    <a:ln>
      <a:noFill/>
    </a:ln>
    <a:effectLst/>
  </c:sp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lineChart>
        <c:varyColors val="0"/>
        <c:ser>
          <c:idx val="0"/>
          <c:order val="0"/>
          <c:tx>
            <c:strRef>
              <c:f>Sheet1!$B$1</c:f>
              <c:strCache>
                <c:ptCount val="1"/>
                <c:pt idx="0">
                  <c:v>With Roadmap Executed</c:v>
                </c:pt>
              </c:strCache>
            </c:strRef>
          </c:tx>
          <c:spPr>
            <a:solidFill>
              <a:srgbClr val="22C55E"/>
            </a:solidFill>
            <a:ln w="31750" cap="flat">
              <a:solidFill>
                <a:srgbClr val="22C55E"/>
              </a:solidFill>
              <a:prstDash val="solid,dash,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circle"/>
            <c:size val="5"/>
            <c:spPr>
              <a:solidFill>
                <a:srgbClr val="22C55E"/>
              </a:solidFill>
              <a:ln w="9525" cap="flat">
                <a:solidFill>
                  <a:srgbClr val="22C55E"/>
                </a:solidFill>
                <a:prstDash val="solid"/>
                <a:round/>
              </a:ln>
              <a:effectLst/>
            </c:spPr>
          </c:marker>
          <c:cat>
            <c:multiLvlStrRef>
              <c:f>Sheet1!$A$2:$A$6</c:f>
              <c:multiLvlStrCache>
                <c:ptCount val="5"/>
                <c:lvl>
                  <c:pt idx="0">
                    <c:v>Current</c:v>
                  </c:pt>
                  <c:pt idx="1">
                    <c:v>Q1</c:v>
                  </c:pt>
                  <c:pt idx="2">
                    <c:v>Q2</c:v>
                  </c:pt>
                  <c:pt idx="3">
                    <c:v>Q3</c:v>
                  </c:pt>
                  <c:pt idx="4">
                    <c:v>Q4</c:v>
                  </c:pt>
                </c:lvl>
              </c:multiLvlStrCache>
            </c:multiLvlStrRef>
          </c:cat>
          <c:val>
            <c:numRef>
              <c:f>Sheet1!$B$2:$B$6</c:f>
              <c:numCache>
                <c:formatCode>General</c:formatCode>
                <c:ptCount val="5"/>
                <c:pt idx="0">
                  <c:v>132.1</c:v>
                </c:pt>
                <c:pt idx="1">
                  <c:v>136</c:v>
                </c:pt>
                <c:pt idx="2">
                  <c:v>146</c:v>
                </c:pt>
                <c:pt idx="3">
                  <c:v>159</c:v>
                </c:pt>
                <c:pt idx="4">
                  <c:v>172</c:v>
                </c:pt>
              </c:numCache>
            </c:numRef>
          </c:val>
          <c:smooth val="0"/>
        </c:ser>
        <c:ser>
          <c:idx val="1"/>
          <c:order val="1"/>
          <c:tx>
            <c:strRef>
              <c:f>Sheet1!$C$1</c:f>
              <c:strCache>
                <c:ptCount val="1"/>
                <c:pt idx="0">
                  <c:v>Status Quo (no action)</c:v>
                </c:pt>
              </c:strCache>
            </c:strRef>
          </c:tx>
          <c:spPr>
            <a:solidFill>
              <a:srgbClr val="72859E"/>
            </a:solidFill>
            <a:ln w="31750" cap="flat">
              <a:solidFill>
                <a:srgbClr val="72859E"/>
              </a:solidFill>
              <a:prstDash val="solid,dash,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circle"/>
            <c:size val="5"/>
            <c:spPr>
              <a:solidFill>
                <a:srgbClr val="72859E"/>
              </a:solidFill>
              <a:ln w="9525" cap="flat">
                <a:solidFill>
                  <a:srgbClr val="72859E"/>
                </a:solidFill>
                <a:prstDash val="solid"/>
                <a:round/>
              </a:ln>
              <a:effectLst/>
            </c:spPr>
          </c:marker>
          <c:cat>
            <c:multiLvlStrRef>
              <c:f>Sheet1!$A$2:$A$6</c:f>
              <c:multiLvlStrCache>
                <c:ptCount val="5"/>
                <c:lvl>
                  <c:pt idx="0">
                    <c:v>Current</c:v>
                  </c:pt>
                  <c:pt idx="1">
                    <c:v>Q1</c:v>
                  </c:pt>
                  <c:pt idx="2">
                    <c:v>Q2</c:v>
                  </c:pt>
                  <c:pt idx="3">
                    <c:v>Q3</c:v>
                  </c:pt>
                  <c:pt idx="4">
                    <c:v>Q4</c:v>
                  </c:pt>
                </c:lvl>
              </c:multiLvlStrCache>
            </c:multiLvlStrRef>
          </c:cat>
          <c:val>
            <c:numRef>
              <c:f>Sheet1!$C$2:$C$6</c:f>
              <c:numCache>
                <c:formatCode>General</c:formatCode>
                <c:ptCount val="5"/>
                <c:pt idx="0">
                  <c:v>132.1</c:v>
                </c:pt>
                <c:pt idx="1">
                  <c:v>132.1</c:v>
                </c:pt>
                <c:pt idx="2">
                  <c:v>132.1</c:v>
                </c:pt>
                <c:pt idx="3">
                  <c:v>132.1</c:v>
                </c:pt>
                <c:pt idx="4">
                  <c:v>132.1</c:v>
                </c:pt>
              </c:numCache>
            </c:numRef>
          </c:val>
          <c:smooth val="0"/>
        </c:ser>
        <c:ser>
          <c:idx val="2"/>
          <c:order val="2"/>
          <c:tx>
            <c:strRef>
              <c:f>Sheet1!$D$1</c:f>
              <c:strCache>
                <c:ptCount val="1"/>
                <c:pt idx="0">
                  <c:v>Risk of Inaction (issues compound)</c:v>
                </c:pt>
              </c:strCache>
            </c:strRef>
          </c:tx>
          <c:spPr>
            <a:solidFill>
              <a:srgbClr val="EF4444"/>
            </a:solidFill>
            <a:ln w="31750" cap="flat">
              <a:solidFill>
                <a:srgbClr val="EF4444"/>
              </a:solidFill>
              <a:prstDash val="solid,dash,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circle"/>
            <c:size val="5"/>
            <c:spPr>
              <a:solidFill>
                <a:srgbClr val="EF4444"/>
              </a:solidFill>
              <a:ln w="9525" cap="flat">
                <a:solidFill>
                  <a:srgbClr val="EF4444"/>
                </a:solidFill>
                <a:prstDash val="solid"/>
                <a:round/>
              </a:ln>
              <a:effectLst/>
            </c:spPr>
          </c:marker>
          <c:cat>
            <c:multiLvlStrRef>
              <c:f>Sheet1!$A$2:$A$6</c:f>
              <c:multiLvlStrCache>
                <c:ptCount val="5"/>
                <c:lvl>
                  <c:pt idx="0">
                    <c:v>Current</c:v>
                  </c:pt>
                  <c:pt idx="1">
                    <c:v>Q1</c:v>
                  </c:pt>
                  <c:pt idx="2">
                    <c:v>Q2</c:v>
                  </c:pt>
                  <c:pt idx="3">
                    <c:v>Q3</c:v>
                  </c:pt>
                  <c:pt idx="4">
                    <c:v>Q4</c:v>
                  </c:pt>
                </c:lvl>
              </c:multiLvlStrCache>
            </c:multiLvlStrRef>
          </c:cat>
          <c:val>
            <c:numRef>
              <c:f>Sheet1!$D$2:$D$6</c:f>
              <c:numCache>
                <c:formatCode>General</c:formatCode>
                <c:ptCount val="5"/>
                <c:pt idx="0">
                  <c:v>132.1</c:v>
                </c:pt>
                <c:pt idx="1">
                  <c:v>129</c:v>
                </c:pt>
                <c:pt idx="2">
                  <c:v>125</c:v>
                </c:pt>
                <c:pt idx="3">
                  <c:v>120</c:v>
                </c:pt>
                <c:pt idx="4">
                  <c:v>114</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solidFill>
              <a:srgbClr val="24314E"/>
            </a:solidFill>
            <a:prstDash val="solid"/>
            <a:round/>
          </a:ln>
        </c:spPr>
        <c:txPr>
          <a:bodyPr/>
          <a:lstStyle/>
          <a:p>
            <a:pPr>
              <a:defRPr sz="1200" b="0" i="0" u="none" strike="noStrike">
                <a:solidFill>
                  <a:srgbClr val="72859E"/>
                </a:solidFill>
                <a:latin typeface="Arial"/>
              </a:defRPr>
            </a:pPr>
            <a:endParaRPr lang="en-US"/>
          </a:p>
        </c:txPr>
        <c:crossAx val="2094734552"/>
        <c:crosses val="autoZero"/>
        <c:auto val="1"/>
        <c:lblAlgn val="ctr"/>
        <c:noMultiLvlLbl val="1"/>
      </c:catAx>
      <c:valAx>
        <c:axId val="2094734552"/>
        <c:scaling>
          <c:orientation val="minMax"/>
          <c:max val="180"/>
          <c:min val="100"/>
        </c:scaling>
        <c:delete val="0"/>
        <c:axPos val="l"/>
        <c:majorGridlines>
          <c:spPr>
            <a:ln w="9525" cap="flat">
              <a:solidFill>
                <a:srgbClr val="24314E"/>
              </a:solidFill>
              <a:prstDash val="solid"/>
              <a:round/>
            </a:ln>
          </c:spPr>
        </c:majorGridlines>
        <c:title>
          <c:tx>
            <c:rich>
              <a:bodyPr/>
              <a:lstStyle/>
              <a:p>
                <a:pPr>
                  <a:defRPr sz="1050" b="0" i="0" u="none" strike="noStrike">
                    <a:solidFill>
                      <a:srgbClr val="A8B8D0"/>
                    </a:solidFill>
                    <a:latin typeface="Arial"/>
                  </a:defRPr>
                </a:pPr>
                <a:r>
                  <a:rPr sz="1050" b="0" i="0" u="none" strike="noStrike">
                    <a:solidFill>
                      <a:srgbClr val="A8B8D0"/>
                    </a:solidFill>
                    <a:latin typeface="Arial"/>
                  </a:rPr>
                  <a:t>Est. Quarterly Revenue ($K)</a:t>
                </a:r>
              </a:p>
            </c:rich>
          </c:tx>
          <c:layout/>
          <c:overlay val="0"/>
        </c:title>
        <c:numFmt formatCode="General" sourceLinked="0"/>
        <c:majorTickMark val="out"/>
        <c:minorTickMark val="none"/>
        <c:tickLblPos val="nextTo"/>
        <c:spPr>
          <a:ln w="12700" cap="flat">
            <a:solidFill>
              <a:srgbClr val="24314E"/>
            </a:solidFill>
            <a:prstDash val="solid"/>
            <a:round/>
          </a:ln>
        </c:spPr>
        <c:txPr>
          <a:bodyPr/>
          <a:lstStyle/>
          <a:p>
            <a:pPr>
              <a:defRPr sz="1200" b="0" i="0" u="none" strike="noStrike">
                <a:solidFill>
                  <a:srgbClr val="72859E"/>
                </a:solidFill>
                <a:latin typeface="Arial"/>
              </a:defRPr>
            </a:pPr>
            <a:endParaRPr lang="en-US"/>
          </a:p>
        </c:txPr>
        <c:crossAx val="2094734554"/>
        <c:crosses val="autoZero"/>
        <c:crossBetween val="between"/>
      </c:valAx>
      <c:spPr>
        <a:solidFill>
          <a:srgbClr val="111F38"/>
        </a:solidFill>
        <a:ln>
          <a:noFill/>
        </a:ln>
        <a:effectLst/>
      </c:spPr>
    </c:plotArea>
    <c:legend>
      <c:legendPos val="b"/>
      <c:overlay val="0"/>
      <c:txPr>
        <a:bodyPr/>
        <a:lstStyle/>
        <a:p>
          <a:pPr>
            <a:defRPr sz="950">
              <a:solidFill>
                <a:srgbClr val="A8B8D0"/>
              </a:solidFill>
            </a:defRPr>
          </a:pPr>
          <a:endParaRPr lang="en-US"/>
        </a:p>
      </c:txPr>
    </c:legend>
    <c:plotVisOnly val="1"/>
    <c:dispBlanksAs val="span"/>
  </c:chart>
  <c:spPr>
    <a:solidFill>
      <a:srgbClr val="0B1220"/>
    </a:solid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Opening framing: this deck walks through how we went from raw transaction exports to three actionable customer segments, and — more importantly — what those segments actually mean for revenue. Two headline numbers to set up early: $528.5K in estimated value across 909 customers, and a 0.432 silhouette score, which is a solid (not perfect) statistical separation. The real story is in how unevenly that value is distributed — that's what the rest of the deck builds toward.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Six sections: the question we're answering, the methodology (including the real data-quality problems found while cleaning), the three segments themselves, the revenue mismatch that changes the interpretation, a structured problems-and-solutions business plan with owners and a timeline, and finally the roadmap with growth/decline forecasts and dollar-value scenarios.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Frame this as decision-driven, not a data-science exercise for its own sake. Every section after this maps back to one of these three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Transparency slide — good to get ahead of the 'why is our customer count so much lower than transaction count' question before someone asks it. The 34% drop is standard for RFM modeling but should be flagged, not buried.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slide that shows the rigor behind the 909 number — good to have ready if anyone on the team asks 'how do we know the data is clean.' The missing-CustomerID problem is really a checkout/CRM process issue, not a modeling issue — worth flagging as a separate action item outside this segmentation project.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All 13 features were log-transformed (log1p) to tame the heavy right-skew typical of spend/frequency data, then standardized before clustering — otherwise Monetary, which ranges from $0 to $1,000+, would dominate the distance calculation over ratio features like Cancellation Rate.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slide to slow down on if anyone on the team is data-savvy — it preempts the obvious 'why didn't you just pick the highest score' question. The answer is business actionability, not just statistics.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direct output from the notebook's final PCA scatter — three visually distinguishable clusters, which is what you'd want to see before trusting the segment definitions downstream.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Headcount alone makes this look like a healthy, broad-based business — 68% Regular, 25% High Value, only 7% At Risk. Set this up as the 'first impression' that the next slide overturns.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pivot slide of the whole deck. Headcount said the business looked broad and healthy; revenue-weighting shows it's concentrated in High Value, propped up modestly by Regular, and that At Risk is essentially inert — not a mid-tier segment worth nurturing.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point for discussion: this needs an owner outside of marketing — likely payments/fraud or engineering — before it's treated as a customer-lifecycle problem.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reframes Regular from 'the boring majority' into 'the biggest lever we have' — it's the segment with the most customers and the most unrealized upside per customer.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slide to project full-screen during the team discussion — it's the whole analysis compressed into one problem/impact/solution/outcome view. Good anchor for assigning owners in the next roadmap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card has a suggested owner — useful to pressure-test in the discussion since this deck is going to the team. Priority order left-to-right, top-to-bottom roughly reflects urgency vs. effort.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slide that turns 'insight' into an actual accountable plan — good to walk through owner-by-owner and confirm buy-in live in the meeting rather than assigning it unilaterally.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directional estimates built from the segment averages, not a finance-team-approved forecast — good to frame it that way so it reads as a planning input, not a commitment.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Frame the three lines as three choices, not three predictions: green is what the roadmap targets on the previous slide add up to quarter by quarter; gray is doing literally nothing; red is what happens if the At Risk failure mode turns out to be systemic and Regular keeps stagnating. The swing between the best and worst case by Q4 is the real argument for prioritizing this in planning.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on the discussion question, not a recap — the team already saw the numbers. Point them to the interactive HTML report for anyone who wants to explore the 3D cluster view or re-check a number live during the conversation.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chart" Target="/ppt/charts/chart3.xml"/><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chart" Target="/ppt/charts/chart4.xml"/><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chart" Target="/ppt/charts/chart5.xml"/><Relationship Id="rId2" Type="http://schemas.openxmlformats.org/officeDocument/2006/relationships/slideLayout" Target="../slideLayouts/slideLayout1.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B1220"/>
        </a:solidFill>
      </p:bgPr>
    </p:bg>
    <p:spTree>
      <p:nvGrpSpPr>
        <p:cNvPr id="1" name=""/>
        <p:cNvGrpSpPr/>
        <p:nvPr/>
      </p:nvGrpSpPr>
      <p:grpSpPr>
        <a:xfrm>
          <a:off x="0" y="0"/>
          <a:ext cx="0" cy="0"/>
          <a:chOff x="0" y="0"/>
          <a:chExt cx="0" cy="0"/>
        </a:xfrm>
      </p:grpSpPr>
      <p:sp>
        <p:nvSpPr>
          <p:cNvPr id="2" name="Shape 0"/>
          <p:cNvSpPr/>
          <p:nvPr/>
        </p:nvSpPr>
        <p:spPr>
          <a:xfrm>
            <a:off x="0" y="0"/>
            <a:ext cx="12188952" cy="6858000"/>
          </a:xfrm>
          <a:prstGeom prst="rect">
            <a:avLst/>
          </a:prstGeom>
          <a:solidFill>
            <a:srgbClr val="0B1220"/>
          </a:solidFill>
          <a:ln/>
        </p:spPr>
      </p:sp>
      <p:sp>
        <p:nvSpPr>
          <p:cNvPr id="3" name="Shape 1"/>
          <p:cNvSpPr/>
          <p:nvPr/>
        </p:nvSpPr>
        <p:spPr>
          <a:xfrm>
            <a:off x="-2286000" y="-2743200"/>
            <a:ext cx="7315200" cy="7315200"/>
          </a:xfrm>
          <a:prstGeom prst="ellipse">
            <a:avLst/>
          </a:prstGeom>
          <a:solidFill>
            <a:srgbClr val="3B82F6">
              <a:alpha val="10000"/>
            </a:srgbClr>
          </a:solidFill>
          <a:ln/>
        </p:spPr>
      </p:sp>
      <p:sp>
        <p:nvSpPr>
          <p:cNvPr id="4" name="Shape 2"/>
          <p:cNvSpPr/>
          <p:nvPr/>
        </p:nvSpPr>
        <p:spPr>
          <a:xfrm>
            <a:off x="8229600" y="3657600"/>
            <a:ext cx="6400800" cy="6400800"/>
          </a:xfrm>
          <a:prstGeom prst="ellipse">
            <a:avLst/>
          </a:prstGeom>
          <a:solidFill>
            <a:srgbClr val="F0B429">
              <a:alpha val="8000"/>
            </a:srgbClr>
          </a:solidFill>
          <a:ln/>
        </p:spPr>
      </p:sp>
      <p:sp>
        <p:nvSpPr>
          <p:cNvPr id="5" name="Shape 3"/>
          <p:cNvSpPr/>
          <p:nvPr/>
        </p:nvSpPr>
        <p:spPr>
          <a:xfrm>
            <a:off x="548640" y="914400"/>
            <a:ext cx="2505456" cy="292608"/>
          </a:xfrm>
          <a:prstGeom prst="roundRect">
            <a:avLst>
              <a:gd name="adj" fmla="val 50000"/>
            </a:avLst>
          </a:prstGeom>
          <a:solidFill>
            <a:srgbClr val="F0B429">
              <a:alpha val="16000"/>
            </a:srgbClr>
          </a:solidFill>
          <a:ln/>
        </p:spPr>
      </p:sp>
      <p:sp>
        <p:nvSpPr>
          <p:cNvPr id="6" name="Text 4"/>
          <p:cNvSpPr txBox="1"/>
          <p:nvPr/>
        </p:nvSpPr>
        <p:spPr>
          <a:xfrm>
            <a:off x="548640" y="905256"/>
            <a:ext cx="2505456" cy="292608"/>
          </a:xfrm>
          <a:prstGeom prst="rect">
            <a:avLst/>
          </a:prstGeom>
          <a:noFill/>
          <a:ln/>
        </p:spPr>
        <p:txBody>
          <a:bodyPr wrap="square" lIns="0" tIns="0" rIns="0" bIns="0" rtlCol="0" anchor="ctr"/>
          <a:lstStyle/>
          <a:p>
            <a:pPr algn="ctr" indent="0" marL="0">
              <a:buNone/>
            </a:pPr>
            <a:r>
              <a:rPr lang="en-US" sz="1100" b="1" dirty="0">
                <a:solidFill>
                  <a:srgbClr val="F0B429"/>
                </a:solidFill>
                <a:latin typeface="Calibri" pitchFamily="34" charset="0"/>
                <a:ea typeface="Calibri" pitchFamily="34" charset="-122"/>
                <a:cs typeface="Calibri" pitchFamily="34" charset="-120"/>
              </a:rPr>
              <a:t>📊  CUSTOMER INTELLIGENCE REVIEW</a:t>
            </a:r>
            <a:endParaRPr lang="en-US" sz="1100" dirty="0"/>
          </a:p>
        </p:txBody>
      </p:sp>
      <p:sp>
        <p:nvSpPr>
          <p:cNvPr id="7" name="Text 5"/>
          <p:cNvSpPr txBox="1"/>
          <p:nvPr/>
        </p:nvSpPr>
        <p:spPr>
          <a:xfrm>
            <a:off x="548640" y="1737360"/>
            <a:ext cx="10515600" cy="914400"/>
          </a:xfrm>
          <a:prstGeom prst="rect">
            <a:avLst/>
          </a:prstGeom>
          <a:noFill/>
          <a:ln/>
        </p:spPr>
        <p:txBody>
          <a:bodyPr wrap="square" lIns="0" tIns="0" rIns="0" bIns="0" rtlCol="0" anchor="ctr"/>
          <a:lstStyle/>
          <a:p>
            <a:pPr indent="0" marL="0">
              <a:buNone/>
            </a:pPr>
            <a:r>
              <a:rPr lang="en-US" sz="4400" b="1" dirty="0">
                <a:solidFill>
                  <a:srgbClr val="FFFFFF"/>
                </a:solidFill>
                <a:latin typeface="Cambria" pitchFamily="34" charset="0"/>
                <a:ea typeface="Cambria" pitchFamily="34" charset="-122"/>
                <a:cs typeface="Cambria" pitchFamily="34" charset="-120"/>
              </a:rPr>
              <a:t>Online Retail Business</a:t>
            </a:r>
            <a:endParaRPr lang="en-US" sz="4400" dirty="0"/>
          </a:p>
        </p:txBody>
      </p:sp>
      <p:sp>
        <p:nvSpPr>
          <p:cNvPr id="8" name="Text 6"/>
          <p:cNvSpPr txBox="1"/>
          <p:nvPr/>
        </p:nvSpPr>
        <p:spPr>
          <a:xfrm>
            <a:off x="548640" y="2606040"/>
            <a:ext cx="9875520" cy="822960"/>
          </a:xfrm>
          <a:prstGeom prst="rect">
            <a:avLst/>
          </a:prstGeom>
          <a:noFill/>
          <a:ln/>
        </p:spPr>
        <p:txBody>
          <a:bodyPr wrap="square" lIns="0" tIns="0" rIns="0" bIns="0" rtlCol="0" anchor="ctr"/>
          <a:lstStyle/>
          <a:p>
            <a:pPr indent="0" marL="0">
              <a:buNone/>
            </a:pPr>
            <a:r>
              <a:rPr lang="en-US" sz="1900" dirty="0">
                <a:solidFill>
                  <a:srgbClr val="FFD166"/>
                </a:solidFill>
                <a:latin typeface="Calibri" pitchFamily="34" charset="0"/>
                <a:ea typeface="Calibri" pitchFamily="34" charset="-122"/>
                <a:cs typeface="Calibri" pitchFamily="34" charset="-120"/>
              </a:rPr>
              <a:t>Customer Segmentation: From Raw Transactions to a Revenue-Weighted Growth Plan</a:t>
            </a:r>
            <a:endParaRPr lang="en-US" sz="1900" dirty="0"/>
          </a:p>
        </p:txBody>
      </p:sp>
      <p:sp>
        <p:nvSpPr>
          <p:cNvPr id="9" name="Text 7"/>
          <p:cNvSpPr txBox="1"/>
          <p:nvPr/>
        </p:nvSpPr>
        <p:spPr>
          <a:xfrm>
            <a:off x="548640" y="3429000"/>
            <a:ext cx="8686800" cy="640080"/>
          </a:xfrm>
          <a:prstGeom prst="rect">
            <a:avLst/>
          </a:prstGeom>
          <a:noFill/>
          <a:ln/>
        </p:spPr>
        <p:txBody>
          <a:bodyPr wrap="square" lIns="0" tIns="0" rIns="0" bIns="0" rtlCol="0" anchor="ctr"/>
          <a:lstStyle/>
          <a:p>
            <a:pPr indent="0" marL="0">
              <a:buNone/>
            </a:pPr>
            <a:r>
              <a:rPr lang="en-US" sz="1300" dirty="0">
                <a:solidFill>
                  <a:srgbClr val="A8B8D0"/>
                </a:solidFill>
                <a:latin typeface="Calibri" pitchFamily="34" charset="0"/>
                <a:ea typeface="Calibri" pitchFamily="34" charset="-122"/>
                <a:cs typeface="Calibri" pitchFamily="34" charset="-120"/>
              </a:rPr>
              <a:t>A behavioral segmentation model built on 909 active customers, validated end-to-end — from data cleaning through to prioritized, revenue-backed recommendations.</a:t>
            </a:r>
            <a:endParaRPr lang="en-US" sz="1300" dirty="0"/>
          </a:p>
        </p:txBody>
      </p:sp>
      <p:sp>
        <p:nvSpPr>
          <p:cNvPr id="10" name="Shape 8"/>
          <p:cNvSpPr/>
          <p:nvPr/>
        </p:nvSpPr>
        <p:spPr>
          <a:xfrm>
            <a:off x="548640" y="4343400"/>
            <a:ext cx="2606040" cy="1417320"/>
          </a:xfrm>
          <a:prstGeom prst="roundRect">
            <a:avLst>
              <a:gd name="adj" fmla="val 7742"/>
            </a:avLst>
          </a:prstGeom>
          <a:solidFill>
            <a:srgbClr val="111F38"/>
          </a:solidFill>
          <a:ln w="9525">
            <a:solidFill>
              <a:srgbClr val="24314E"/>
            </a:solidFill>
            <a:prstDash val="solid"/>
          </a:ln>
        </p:spPr>
      </p:sp>
      <p:sp>
        <p:nvSpPr>
          <p:cNvPr id="11" name="Shape 9"/>
          <p:cNvSpPr/>
          <p:nvPr/>
        </p:nvSpPr>
        <p:spPr>
          <a:xfrm>
            <a:off x="749808" y="4507992"/>
            <a:ext cx="384048" cy="384048"/>
          </a:xfrm>
          <a:prstGeom prst="ellipse">
            <a:avLst/>
          </a:prstGeom>
          <a:solidFill>
            <a:srgbClr val="F0B429">
              <a:alpha val="18000"/>
            </a:srgbClr>
          </a:solidFill>
          <a:ln w="12700">
            <a:solidFill>
              <a:srgbClr val="F0B429"/>
            </a:solidFill>
            <a:prstDash val="solid"/>
          </a:ln>
        </p:spPr>
      </p:sp>
      <p:sp>
        <p:nvSpPr>
          <p:cNvPr id="12" name="Text 10"/>
          <p:cNvSpPr txBox="1"/>
          <p:nvPr/>
        </p:nvSpPr>
        <p:spPr>
          <a:xfrm>
            <a:off x="749808" y="4489704"/>
            <a:ext cx="384048" cy="384048"/>
          </a:xfrm>
          <a:prstGeom prst="rect">
            <a:avLst/>
          </a:prstGeom>
          <a:noFill/>
          <a:ln/>
        </p:spPr>
        <p:txBody>
          <a:bodyPr wrap="square" lIns="0" tIns="0" rIns="0" bIns="0" rtlCol="0" anchor="ctr"/>
          <a:lstStyle/>
          <a:p>
            <a:pPr algn="ctr" indent="0" marL="0">
              <a:buNone/>
            </a:pPr>
            <a:r>
              <a:rPr lang="en-US" sz="1092" dirty="0">
                <a:solidFill>
                  <a:srgbClr val="F0B429"/>
                </a:solidFill>
                <a:latin typeface="Calibri" pitchFamily="34" charset="0"/>
                <a:ea typeface="Calibri" pitchFamily="34" charset="-122"/>
                <a:cs typeface="Calibri" pitchFamily="34" charset="-120"/>
              </a:rPr>
              <a:t>👥</a:t>
            </a:r>
            <a:endParaRPr lang="en-US" sz="1092" dirty="0"/>
          </a:p>
        </p:txBody>
      </p:sp>
      <p:sp>
        <p:nvSpPr>
          <p:cNvPr id="13" name="Text 11"/>
          <p:cNvSpPr txBox="1"/>
          <p:nvPr/>
        </p:nvSpPr>
        <p:spPr>
          <a:xfrm>
            <a:off x="749808" y="4965192"/>
            <a:ext cx="2203704" cy="384048"/>
          </a:xfrm>
          <a:prstGeom prst="rect">
            <a:avLst/>
          </a:prstGeom>
          <a:noFill/>
          <a:ln/>
        </p:spPr>
        <p:txBody>
          <a:bodyPr wrap="square" lIns="0" tIns="0" rIns="0" bIns="0" rtlCol="0" anchor="t"/>
          <a:lstStyle/>
          <a:p>
            <a:pPr indent="0" marL="0">
              <a:buNone/>
            </a:pPr>
            <a:r>
              <a:rPr lang="en-US" sz="2200" b="1" dirty="0">
                <a:solidFill>
                  <a:srgbClr val="FFFFFF"/>
                </a:solidFill>
                <a:latin typeface="Cambria" pitchFamily="34" charset="0"/>
                <a:ea typeface="Cambria" pitchFamily="34" charset="-122"/>
                <a:cs typeface="Cambria" pitchFamily="34" charset="-120"/>
              </a:rPr>
              <a:t>909</a:t>
            </a:r>
            <a:endParaRPr lang="en-US" sz="2200" dirty="0"/>
          </a:p>
        </p:txBody>
      </p:sp>
      <p:sp>
        <p:nvSpPr>
          <p:cNvPr id="14" name="Text 12"/>
          <p:cNvSpPr txBox="1"/>
          <p:nvPr/>
        </p:nvSpPr>
        <p:spPr>
          <a:xfrm>
            <a:off x="749808" y="5431536"/>
            <a:ext cx="2203704" cy="237744"/>
          </a:xfrm>
          <a:prstGeom prst="rect">
            <a:avLst/>
          </a:prstGeom>
          <a:noFill/>
          <a:ln/>
        </p:spPr>
        <p:txBody>
          <a:bodyPr wrap="square" lIns="0" tIns="0" rIns="0" bIns="0" rtlCol="0" anchor="t"/>
          <a:lstStyle/>
          <a:p>
            <a:pPr indent="0" marL="0">
              <a:buNone/>
            </a:pPr>
            <a:r>
              <a:rPr lang="en-US" sz="1000" b="1" spc="50" kern="0" dirty="0">
                <a:solidFill>
                  <a:srgbClr val="72859E"/>
                </a:solidFill>
                <a:latin typeface="Calibri" pitchFamily="34" charset="0"/>
                <a:ea typeface="Calibri" pitchFamily="34" charset="-122"/>
                <a:cs typeface="Calibri" pitchFamily="34" charset="-120"/>
              </a:rPr>
              <a:t>Customers Segmented</a:t>
            </a:r>
            <a:endParaRPr lang="en-US" sz="1000" dirty="0"/>
          </a:p>
        </p:txBody>
      </p:sp>
      <p:sp>
        <p:nvSpPr>
          <p:cNvPr id="15" name="Shape 13"/>
          <p:cNvSpPr/>
          <p:nvPr/>
        </p:nvSpPr>
        <p:spPr>
          <a:xfrm>
            <a:off x="3291840" y="4343400"/>
            <a:ext cx="2606040" cy="1417320"/>
          </a:xfrm>
          <a:prstGeom prst="roundRect">
            <a:avLst>
              <a:gd name="adj" fmla="val 7742"/>
            </a:avLst>
          </a:prstGeom>
          <a:solidFill>
            <a:srgbClr val="111F38"/>
          </a:solidFill>
          <a:ln w="9525">
            <a:solidFill>
              <a:srgbClr val="24314E"/>
            </a:solidFill>
            <a:prstDash val="solid"/>
          </a:ln>
        </p:spPr>
      </p:sp>
      <p:sp>
        <p:nvSpPr>
          <p:cNvPr id="16" name="Shape 14"/>
          <p:cNvSpPr/>
          <p:nvPr/>
        </p:nvSpPr>
        <p:spPr>
          <a:xfrm>
            <a:off x="3493008" y="4507992"/>
            <a:ext cx="384048" cy="384048"/>
          </a:xfrm>
          <a:prstGeom prst="ellipse">
            <a:avLst/>
          </a:prstGeom>
          <a:solidFill>
            <a:srgbClr val="F0B429">
              <a:alpha val="18000"/>
            </a:srgbClr>
          </a:solidFill>
          <a:ln w="12700">
            <a:solidFill>
              <a:srgbClr val="F0B429"/>
            </a:solidFill>
            <a:prstDash val="solid"/>
          </a:ln>
        </p:spPr>
      </p:sp>
      <p:sp>
        <p:nvSpPr>
          <p:cNvPr id="17" name="Text 15"/>
          <p:cNvSpPr txBox="1"/>
          <p:nvPr/>
        </p:nvSpPr>
        <p:spPr>
          <a:xfrm>
            <a:off x="3493008" y="4489704"/>
            <a:ext cx="384048" cy="384048"/>
          </a:xfrm>
          <a:prstGeom prst="rect">
            <a:avLst/>
          </a:prstGeom>
          <a:noFill/>
          <a:ln/>
        </p:spPr>
        <p:txBody>
          <a:bodyPr wrap="square" lIns="0" tIns="0" rIns="0" bIns="0" rtlCol="0" anchor="ctr"/>
          <a:lstStyle/>
          <a:p>
            <a:pPr algn="ctr" indent="0" marL="0">
              <a:buNone/>
            </a:pPr>
            <a:r>
              <a:rPr lang="en-US" sz="1092" dirty="0">
                <a:solidFill>
                  <a:srgbClr val="F0B429"/>
                </a:solidFill>
                <a:latin typeface="Calibri" pitchFamily="34" charset="0"/>
                <a:ea typeface="Calibri" pitchFamily="34" charset="-122"/>
                <a:cs typeface="Calibri" pitchFamily="34" charset="-120"/>
              </a:rPr>
              <a:t>🧩</a:t>
            </a:r>
            <a:endParaRPr lang="en-US" sz="1092" dirty="0"/>
          </a:p>
        </p:txBody>
      </p:sp>
      <p:sp>
        <p:nvSpPr>
          <p:cNvPr id="18" name="Text 16"/>
          <p:cNvSpPr txBox="1"/>
          <p:nvPr/>
        </p:nvSpPr>
        <p:spPr>
          <a:xfrm>
            <a:off x="3493008" y="4965192"/>
            <a:ext cx="2203704" cy="384048"/>
          </a:xfrm>
          <a:prstGeom prst="rect">
            <a:avLst/>
          </a:prstGeom>
          <a:noFill/>
          <a:ln/>
        </p:spPr>
        <p:txBody>
          <a:bodyPr wrap="square" lIns="0" tIns="0" rIns="0" bIns="0" rtlCol="0" anchor="t"/>
          <a:lstStyle/>
          <a:p>
            <a:pPr indent="0" marL="0">
              <a:buNone/>
            </a:pPr>
            <a:r>
              <a:rPr lang="en-US" sz="2200" b="1" dirty="0">
                <a:solidFill>
                  <a:srgbClr val="FFFFFF"/>
                </a:solidFill>
                <a:latin typeface="Cambria" pitchFamily="34" charset="0"/>
                <a:ea typeface="Cambria" pitchFamily="34" charset="-122"/>
                <a:cs typeface="Cambria" pitchFamily="34" charset="-120"/>
              </a:rPr>
              <a:t>3</a:t>
            </a:r>
            <a:endParaRPr lang="en-US" sz="2200" dirty="0"/>
          </a:p>
        </p:txBody>
      </p:sp>
      <p:sp>
        <p:nvSpPr>
          <p:cNvPr id="19" name="Text 17"/>
          <p:cNvSpPr txBox="1"/>
          <p:nvPr/>
        </p:nvSpPr>
        <p:spPr>
          <a:xfrm>
            <a:off x="3493008" y="5431536"/>
            <a:ext cx="2203704" cy="237744"/>
          </a:xfrm>
          <a:prstGeom prst="rect">
            <a:avLst/>
          </a:prstGeom>
          <a:noFill/>
          <a:ln/>
        </p:spPr>
        <p:txBody>
          <a:bodyPr wrap="square" lIns="0" tIns="0" rIns="0" bIns="0" rtlCol="0" anchor="t"/>
          <a:lstStyle/>
          <a:p>
            <a:pPr indent="0" marL="0">
              <a:buNone/>
            </a:pPr>
            <a:r>
              <a:rPr lang="en-US" sz="1000" b="1" spc="50" kern="0" dirty="0">
                <a:solidFill>
                  <a:srgbClr val="72859E"/>
                </a:solidFill>
                <a:latin typeface="Calibri" pitchFamily="34" charset="0"/>
                <a:ea typeface="Calibri" pitchFamily="34" charset="-122"/>
                <a:cs typeface="Calibri" pitchFamily="34" charset="-120"/>
              </a:rPr>
              <a:t>Behavioral Segments</a:t>
            </a:r>
            <a:endParaRPr lang="en-US" sz="1000" dirty="0"/>
          </a:p>
        </p:txBody>
      </p:sp>
      <p:sp>
        <p:nvSpPr>
          <p:cNvPr id="20" name="Shape 18"/>
          <p:cNvSpPr/>
          <p:nvPr/>
        </p:nvSpPr>
        <p:spPr>
          <a:xfrm>
            <a:off x="6035040" y="4343400"/>
            <a:ext cx="2606040" cy="1417320"/>
          </a:xfrm>
          <a:prstGeom prst="roundRect">
            <a:avLst>
              <a:gd name="adj" fmla="val 7742"/>
            </a:avLst>
          </a:prstGeom>
          <a:solidFill>
            <a:srgbClr val="111F38"/>
          </a:solidFill>
          <a:ln w="9525">
            <a:solidFill>
              <a:srgbClr val="24314E"/>
            </a:solidFill>
            <a:prstDash val="solid"/>
          </a:ln>
        </p:spPr>
      </p:sp>
      <p:sp>
        <p:nvSpPr>
          <p:cNvPr id="21" name="Shape 19"/>
          <p:cNvSpPr/>
          <p:nvPr/>
        </p:nvSpPr>
        <p:spPr>
          <a:xfrm>
            <a:off x="6236208" y="4507992"/>
            <a:ext cx="384048" cy="384048"/>
          </a:xfrm>
          <a:prstGeom prst="ellipse">
            <a:avLst/>
          </a:prstGeom>
          <a:solidFill>
            <a:srgbClr val="F0B429">
              <a:alpha val="18000"/>
            </a:srgbClr>
          </a:solidFill>
          <a:ln w="12700">
            <a:solidFill>
              <a:srgbClr val="F0B429"/>
            </a:solidFill>
            <a:prstDash val="solid"/>
          </a:ln>
        </p:spPr>
      </p:sp>
      <p:sp>
        <p:nvSpPr>
          <p:cNvPr id="22" name="Text 20"/>
          <p:cNvSpPr txBox="1"/>
          <p:nvPr/>
        </p:nvSpPr>
        <p:spPr>
          <a:xfrm>
            <a:off x="6236208" y="4489704"/>
            <a:ext cx="384048" cy="384048"/>
          </a:xfrm>
          <a:prstGeom prst="rect">
            <a:avLst/>
          </a:prstGeom>
          <a:noFill/>
          <a:ln/>
        </p:spPr>
        <p:txBody>
          <a:bodyPr wrap="square" lIns="0" tIns="0" rIns="0" bIns="0" rtlCol="0" anchor="ctr"/>
          <a:lstStyle/>
          <a:p>
            <a:pPr algn="ctr" indent="0" marL="0">
              <a:buNone/>
            </a:pPr>
            <a:r>
              <a:rPr lang="en-US" sz="1092" dirty="0">
                <a:solidFill>
                  <a:srgbClr val="F0B429"/>
                </a:solidFill>
                <a:latin typeface="Calibri" pitchFamily="34" charset="0"/>
                <a:ea typeface="Calibri" pitchFamily="34" charset="-122"/>
                <a:cs typeface="Calibri" pitchFamily="34" charset="-120"/>
              </a:rPr>
              <a:t>🎯</a:t>
            </a:r>
            <a:endParaRPr lang="en-US" sz="1092" dirty="0"/>
          </a:p>
        </p:txBody>
      </p:sp>
      <p:sp>
        <p:nvSpPr>
          <p:cNvPr id="23" name="Text 21"/>
          <p:cNvSpPr txBox="1"/>
          <p:nvPr/>
        </p:nvSpPr>
        <p:spPr>
          <a:xfrm>
            <a:off x="6236208" y="4965192"/>
            <a:ext cx="2203704" cy="384048"/>
          </a:xfrm>
          <a:prstGeom prst="rect">
            <a:avLst/>
          </a:prstGeom>
          <a:noFill/>
          <a:ln/>
        </p:spPr>
        <p:txBody>
          <a:bodyPr wrap="square" lIns="0" tIns="0" rIns="0" bIns="0" rtlCol="0" anchor="t"/>
          <a:lstStyle/>
          <a:p>
            <a:pPr indent="0" marL="0">
              <a:buNone/>
            </a:pPr>
            <a:r>
              <a:rPr lang="en-US" sz="2200" b="1" dirty="0">
                <a:solidFill>
                  <a:srgbClr val="FFFFFF"/>
                </a:solidFill>
                <a:latin typeface="Cambria" pitchFamily="34" charset="0"/>
                <a:ea typeface="Cambria" pitchFamily="34" charset="-122"/>
                <a:cs typeface="Cambria" pitchFamily="34" charset="-120"/>
              </a:rPr>
              <a:t>0.432</a:t>
            </a:r>
            <a:endParaRPr lang="en-US" sz="2200" dirty="0"/>
          </a:p>
        </p:txBody>
      </p:sp>
      <p:sp>
        <p:nvSpPr>
          <p:cNvPr id="24" name="Text 22"/>
          <p:cNvSpPr txBox="1"/>
          <p:nvPr/>
        </p:nvSpPr>
        <p:spPr>
          <a:xfrm>
            <a:off x="6236208" y="5431536"/>
            <a:ext cx="2203704" cy="237744"/>
          </a:xfrm>
          <a:prstGeom prst="rect">
            <a:avLst/>
          </a:prstGeom>
          <a:noFill/>
          <a:ln/>
        </p:spPr>
        <p:txBody>
          <a:bodyPr wrap="square" lIns="0" tIns="0" rIns="0" bIns="0" rtlCol="0" anchor="t"/>
          <a:lstStyle/>
          <a:p>
            <a:pPr indent="0" marL="0">
              <a:buNone/>
            </a:pPr>
            <a:r>
              <a:rPr lang="en-US" sz="1000" b="1" spc="50" kern="0" dirty="0">
                <a:solidFill>
                  <a:srgbClr val="72859E"/>
                </a:solidFill>
                <a:latin typeface="Calibri" pitchFamily="34" charset="0"/>
                <a:ea typeface="Calibri" pitchFamily="34" charset="-122"/>
                <a:cs typeface="Calibri" pitchFamily="34" charset="-120"/>
              </a:rPr>
              <a:t>Silhouette Score</a:t>
            </a:r>
            <a:endParaRPr lang="en-US" sz="1000" dirty="0"/>
          </a:p>
        </p:txBody>
      </p:sp>
      <p:sp>
        <p:nvSpPr>
          <p:cNvPr id="25" name="Shape 23"/>
          <p:cNvSpPr/>
          <p:nvPr/>
        </p:nvSpPr>
        <p:spPr>
          <a:xfrm>
            <a:off x="8778240" y="4343400"/>
            <a:ext cx="2606040" cy="1417320"/>
          </a:xfrm>
          <a:prstGeom prst="roundRect">
            <a:avLst>
              <a:gd name="adj" fmla="val 7742"/>
            </a:avLst>
          </a:prstGeom>
          <a:solidFill>
            <a:srgbClr val="111F38"/>
          </a:solidFill>
          <a:ln w="9525">
            <a:solidFill>
              <a:srgbClr val="24314E"/>
            </a:solidFill>
            <a:prstDash val="solid"/>
          </a:ln>
        </p:spPr>
      </p:sp>
      <p:sp>
        <p:nvSpPr>
          <p:cNvPr id="26" name="Shape 24"/>
          <p:cNvSpPr/>
          <p:nvPr/>
        </p:nvSpPr>
        <p:spPr>
          <a:xfrm>
            <a:off x="8979408" y="4507992"/>
            <a:ext cx="384048" cy="384048"/>
          </a:xfrm>
          <a:prstGeom prst="ellipse">
            <a:avLst/>
          </a:prstGeom>
          <a:solidFill>
            <a:srgbClr val="F0B429">
              <a:alpha val="18000"/>
            </a:srgbClr>
          </a:solidFill>
          <a:ln w="12700">
            <a:solidFill>
              <a:srgbClr val="F0B429"/>
            </a:solidFill>
            <a:prstDash val="solid"/>
          </a:ln>
        </p:spPr>
      </p:sp>
      <p:sp>
        <p:nvSpPr>
          <p:cNvPr id="27" name="Text 25"/>
          <p:cNvSpPr txBox="1"/>
          <p:nvPr/>
        </p:nvSpPr>
        <p:spPr>
          <a:xfrm>
            <a:off x="8979408" y="4489704"/>
            <a:ext cx="384048" cy="384048"/>
          </a:xfrm>
          <a:prstGeom prst="rect">
            <a:avLst/>
          </a:prstGeom>
          <a:noFill/>
          <a:ln/>
        </p:spPr>
        <p:txBody>
          <a:bodyPr wrap="square" lIns="0" tIns="0" rIns="0" bIns="0" rtlCol="0" anchor="ctr"/>
          <a:lstStyle/>
          <a:p>
            <a:pPr algn="ctr" indent="0" marL="0">
              <a:buNone/>
            </a:pPr>
            <a:r>
              <a:rPr lang="en-US" sz="1092" dirty="0">
                <a:solidFill>
                  <a:srgbClr val="F0B429"/>
                </a:solidFill>
                <a:latin typeface="Calibri" pitchFamily="34" charset="0"/>
                <a:ea typeface="Calibri" pitchFamily="34" charset="-122"/>
                <a:cs typeface="Calibri" pitchFamily="34" charset="-120"/>
              </a:rPr>
              <a:t>💰</a:t>
            </a:r>
            <a:endParaRPr lang="en-US" sz="1092" dirty="0"/>
          </a:p>
        </p:txBody>
      </p:sp>
      <p:sp>
        <p:nvSpPr>
          <p:cNvPr id="28" name="Text 26"/>
          <p:cNvSpPr txBox="1"/>
          <p:nvPr/>
        </p:nvSpPr>
        <p:spPr>
          <a:xfrm>
            <a:off x="8979408" y="4965192"/>
            <a:ext cx="2203704" cy="384048"/>
          </a:xfrm>
          <a:prstGeom prst="rect">
            <a:avLst/>
          </a:prstGeom>
          <a:noFill/>
          <a:ln/>
        </p:spPr>
        <p:txBody>
          <a:bodyPr wrap="square" lIns="0" tIns="0" rIns="0" bIns="0" rtlCol="0" anchor="t"/>
          <a:lstStyle/>
          <a:p>
            <a:pPr indent="0" marL="0">
              <a:buNone/>
            </a:pPr>
            <a:r>
              <a:rPr lang="en-US" sz="2200" b="1" dirty="0">
                <a:solidFill>
                  <a:srgbClr val="FFFFFF"/>
                </a:solidFill>
                <a:latin typeface="Cambria" pitchFamily="34" charset="0"/>
                <a:ea typeface="Cambria" pitchFamily="34" charset="-122"/>
                <a:cs typeface="Cambria" pitchFamily="34" charset="-120"/>
              </a:rPr>
              <a:t>$528.5K</a:t>
            </a:r>
            <a:endParaRPr lang="en-US" sz="2200" dirty="0"/>
          </a:p>
        </p:txBody>
      </p:sp>
      <p:sp>
        <p:nvSpPr>
          <p:cNvPr id="29" name="Text 27"/>
          <p:cNvSpPr txBox="1"/>
          <p:nvPr/>
        </p:nvSpPr>
        <p:spPr>
          <a:xfrm>
            <a:off x="8979408" y="5431536"/>
            <a:ext cx="2203704" cy="237744"/>
          </a:xfrm>
          <a:prstGeom prst="rect">
            <a:avLst/>
          </a:prstGeom>
          <a:noFill/>
          <a:ln/>
        </p:spPr>
        <p:txBody>
          <a:bodyPr wrap="square" lIns="0" tIns="0" rIns="0" bIns="0" rtlCol="0" anchor="t"/>
          <a:lstStyle/>
          <a:p>
            <a:pPr indent="0" marL="0">
              <a:buNone/>
            </a:pPr>
            <a:r>
              <a:rPr lang="en-US" sz="1000" b="1" spc="50" kern="0" dirty="0">
                <a:solidFill>
                  <a:srgbClr val="72859E"/>
                </a:solidFill>
                <a:latin typeface="Calibri" pitchFamily="34" charset="0"/>
                <a:ea typeface="Calibri" pitchFamily="34" charset="-122"/>
                <a:cs typeface="Calibri" pitchFamily="34" charset="-120"/>
              </a:rPr>
              <a:t>Est. Total Monetary Value</a:t>
            </a:r>
            <a:endParaRPr lang="en-US" sz="1000" dirty="0"/>
          </a:p>
        </p:txBody>
      </p:sp>
      <p:sp>
        <p:nvSpPr>
          <p:cNvPr id="30" name="Text 28"/>
          <p:cNvSpPr txBox="1"/>
          <p:nvPr/>
        </p:nvSpPr>
        <p:spPr>
          <a:xfrm>
            <a:off x="548640" y="5989320"/>
            <a:ext cx="8229600" cy="320040"/>
          </a:xfrm>
          <a:prstGeom prst="rect">
            <a:avLst/>
          </a:prstGeom>
          <a:noFill/>
          <a:ln/>
        </p:spPr>
        <p:txBody>
          <a:bodyPr wrap="square" lIns="0" tIns="0" rIns="0" bIns="0" rtlCol="0" anchor="ctr"/>
          <a:lstStyle/>
          <a:p>
            <a:pPr indent="0" marL="0">
              <a:buNone/>
            </a:pPr>
            <a:r>
              <a:rPr lang="en-US" sz="1100" b="1" dirty="0">
                <a:solidFill>
                  <a:srgbClr val="A8B8D0"/>
                </a:solidFill>
                <a:latin typeface="Calibri" pitchFamily="34" charset="0"/>
                <a:ea typeface="Calibri" pitchFamily="34" charset="-122"/>
                <a:cs typeface="Calibri" pitchFamily="34" charset="-120"/>
              </a:rPr>
              <a:t>Analysis &amp; Design: Ali Ahmed Zaky (على أحمد ذكى)  ·  Business Intelligence Expert</a:t>
            </a:r>
            <a:endParaRPr lang="en-US" sz="1100" dirty="0"/>
          </a:p>
        </p:txBody>
      </p:sp>
      <p:sp>
        <p:nvSpPr>
          <p:cNvPr id="31" name="Text 29"/>
          <p:cNvSpPr txBox="1"/>
          <p:nvPr/>
        </p:nvSpPr>
        <p:spPr>
          <a:xfrm>
            <a:off x="548640" y="6291072"/>
            <a:ext cx="8229600" cy="274320"/>
          </a:xfrm>
          <a:prstGeom prst="rect">
            <a:avLst/>
          </a:prstGeom>
          <a:noFill/>
          <a:ln/>
        </p:spPr>
        <p:txBody>
          <a:bodyPr wrap="square" lIns="0" tIns="0" rIns="0" bIns="0" rtlCol="0" anchor="ctr"/>
          <a:lstStyle/>
          <a:p>
            <a:pPr indent="0" marL="0">
              <a:buNone/>
            </a:pPr>
            <a:r>
              <a:rPr lang="en-US" sz="1000" dirty="0">
                <a:solidFill>
                  <a:srgbClr val="72859E"/>
                </a:solidFill>
                <a:latin typeface="Calibri" pitchFamily="34" charset="0"/>
                <a:ea typeface="Calibri" pitchFamily="34" charset="-122"/>
                <a:cs typeface="Calibri" pitchFamily="34" charset="-120"/>
              </a:rPr>
              <a:t>Prepared for internal team review</a:t>
            </a: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B1220"/>
        </a:solidFill>
      </p:bgPr>
    </p:bg>
    <p:spTree>
      <p:nvGrpSpPr>
        <p:cNvPr id="1" name=""/>
        <p:cNvGrpSpPr/>
        <p:nvPr/>
      </p:nvGrpSpPr>
      <p:grpSpPr>
        <a:xfrm>
          <a:off x="0" y="0"/>
          <a:ext cx="0" cy="0"/>
          <a:chOff x="0" y="0"/>
          <a:chExt cx="0" cy="0"/>
        </a:xfrm>
      </p:grpSpPr>
      <p:sp>
        <p:nvSpPr>
          <p:cNvPr id="2" name="Text 0"/>
          <p:cNvSpPr txBox="1"/>
          <p:nvPr/>
        </p:nvSpPr>
        <p:spPr>
          <a:xfrm>
            <a:off x="548640" y="201168"/>
            <a:ext cx="7315200" cy="274320"/>
          </a:xfrm>
          <a:prstGeom prst="rect">
            <a:avLst/>
          </a:prstGeom>
          <a:noFill/>
          <a:ln/>
        </p:spPr>
        <p:txBody>
          <a:bodyPr wrap="square" lIns="0" tIns="0" rIns="0" bIns="0" rtlCol="0" anchor="ctr"/>
          <a:lstStyle/>
          <a:p>
            <a:pPr algn="l" indent="0" marL="0">
              <a:buNone/>
            </a:pPr>
            <a:r>
              <a:rPr lang="en-US" sz="1100" b="1" spc="200" kern="0" dirty="0">
                <a:solidFill>
                  <a:srgbClr val="F0B429"/>
                </a:solidFill>
                <a:latin typeface="Calibri" pitchFamily="34" charset="0"/>
                <a:ea typeface="Calibri" pitchFamily="34" charset="-122"/>
                <a:cs typeface="Calibri" pitchFamily="34" charset="-120"/>
              </a:rPr>
              <a:t>AGENDA</a:t>
            </a:r>
            <a:endParaRPr lang="en-US" sz="1100" dirty="0"/>
          </a:p>
        </p:txBody>
      </p:sp>
      <p:sp>
        <p:nvSpPr>
          <p:cNvPr id="3" name="Text 1"/>
          <p:cNvSpPr txBox="1"/>
          <p:nvPr/>
        </p:nvSpPr>
        <p:spPr>
          <a:xfrm>
            <a:off x="548640" y="411480"/>
            <a:ext cx="11064240" cy="685800"/>
          </a:xfrm>
          <a:prstGeom prst="rect">
            <a:avLst/>
          </a:prstGeom>
          <a:noFill/>
          <a:ln/>
        </p:spPr>
        <p:txBody>
          <a:bodyPr wrap="square" lIns="0" tIns="0" rIns="0" bIns="0" rtlCol="0" anchor="ctr"/>
          <a:lstStyle/>
          <a:p>
            <a:pPr algn="l" indent="0" marL="0">
              <a:buNone/>
            </a:pPr>
            <a:r>
              <a:rPr lang="en-US" sz="3000" b="1" dirty="0">
                <a:solidFill>
                  <a:srgbClr val="FFFFFF"/>
                </a:solidFill>
                <a:latin typeface="Cambria" pitchFamily="34" charset="0"/>
                <a:ea typeface="Cambria" pitchFamily="34" charset="-122"/>
                <a:cs typeface="Cambria" pitchFamily="34" charset="-120"/>
              </a:rPr>
              <a:t>What We'll Walk Through</a:t>
            </a:r>
            <a:endParaRPr lang="en-US" sz="3000" dirty="0"/>
          </a:p>
        </p:txBody>
      </p:sp>
      <p:sp>
        <p:nvSpPr>
          <p:cNvPr id="4" name="Shape 2"/>
          <p:cNvSpPr/>
          <p:nvPr/>
        </p:nvSpPr>
        <p:spPr>
          <a:xfrm>
            <a:off x="548640" y="1508760"/>
            <a:ext cx="11064240" cy="713232"/>
          </a:xfrm>
          <a:prstGeom prst="roundRect">
            <a:avLst>
              <a:gd name="adj" fmla="val 12821"/>
            </a:avLst>
          </a:prstGeom>
          <a:solidFill>
            <a:srgbClr val="111F38"/>
          </a:solidFill>
          <a:ln w="9525">
            <a:solidFill>
              <a:srgbClr val="24314E"/>
            </a:solidFill>
            <a:prstDash val="solid"/>
          </a:ln>
        </p:spPr>
      </p:sp>
      <p:sp>
        <p:nvSpPr>
          <p:cNvPr id="5" name="Text 3"/>
          <p:cNvSpPr txBox="1"/>
          <p:nvPr/>
        </p:nvSpPr>
        <p:spPr>
          <a:xfrm>
            <a:off x="777240" y="1508760"/>
            <a:ext cx="822960" cy="713232"/>
          </a:xfrm>
          <a:prstGeom prst="rect">
            <a:avLst/>
          </a:prstGeom>
          <a:noFill/>
          <a:ln/>
        </p:spPr>
        <p:txBody>
          <a:bodyPr wrap="square" lIns="0" tIns="0" rIns="0" bIns="0" rtlCol="0" anchor="ctr"/>
          <a:lstStyle/>
          <a:p>
            <a:pPr algn="l" indent="0" marL="0">
              <a:buNone/>
            </a:pPr>
            <a:r>
              <a:rPr lang="en-US" sz="2200" b="1" dirty="0">
                <a:solidFill>
                  <a:srgbClr val="3B82F6"/>
                </a:solidFill>
                <a:latin typeface="Cambria" pitchFamily="34" charset="0"/>
                <a:ea typeface="Cambria" pitchFamily="34" charset="-122"/>
                <a:cs typeface="Cambria" pitchFamily="34" charset="-120"/>
              </a:rPr>
              <a:t>01</a:t>
            </a:r>
            <a:endParaRPr lang="en-US" sz="2200" dirty="0"/>
          </a:p>
        </p:txBody>
      </p:sp>
      <p:sp>
        <p:nvSpPr>
          <p:cNvPr id="6" name="Text 4"/>
          <p:cNvSpPr txBox="1"/>
          <p:nvPr/>
        </p:nvSpPr>
        <p:spPr>
          <a:xfrm>
            <a:off x="1691640" y="1572768"/>
            <a:ext cx="5852160" cy="347472"/>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The Business Question</a:t>
            </a:r>
            <a:endParaRPr lang="en-US" sz="1400" dirty="0"/>
          </a:p>
        </p:txBody>
      </p:sp>
      <p:sp>
        <p:nvSpPr>
          <p:cNvPr id="7" name="Text 5"/>
          <p:cNvSpPr txBox="1"/>
          <p:nvPr/>
        </p:nvSpPr>
        <p:spPr>
          <a:xfrm>
            <a:off x="1691640" y="1892808"/>
            <a:ext cx="9235440" cy="301752"/>
          </a:xfrm>
          <a:prstGeom prst="rect">
            <a:avLst/>
          </a:prstGeom>
          <a:noFill/>
          <a:ln/>
        </p:spPr>
        <p:txBody>
          <a:bodyPr wrap="square" lIns="0" tIns="0" rIns="0" bIns="0" rtlCol="0" anchor="ctr"/>
          <a:lstStyle/>
          <a:p>
            <a:pPr indent="0" marL="0">
              <a:buNone/>
            </a:pPr>
            <a:r>
              <a:rPr lang="en-US" sz="1050" dirty="0">
                <a:solidFill>
                  <a:srgbClr val="A8B8D0"/>
                </a:solidFill>
                <a:latin typeface="Calibri" pitchFamily="34" charset="0"/>
                <a:ea typeface="Calibri" pitchFamily="34" charset="-122"/>
                <a:cs typeface="Calibri" pitchFamily="34" charset="-120"/>
              </a:rPr>
              <a:t>Why segment, and what decision this should drive</a:t>
            </a:r>
            <a:endParaRPr lang="en-US" sz="1050" dirty="0"/>
          </a:p>
        </p:txBody>
      </p:sp>
      <p:sp>
        <p:nvSpPr>
          <p:cNvPr id="8" name="Shape 6"/>
          <p:cNvSpPr/>
          <p:nvPr/>
        </p:nvSpPr>
        <p:spPr>
          <a:xfrm>
            <a:off x="548640" y="2331720"/>
            <a:ext cx="11064240" cy="713232"/>
          </a:xfrm>
          <a:prstGeom prst="roundRect">
            <a:avLst>
              <a:gd name="adj" fmla="val 12821"/>
            </a:avLst>
          </a:prstGeom>
          <a:solidFill>
            <a:srgbClr val="111F38"/>
          </a:solidFill>
          <a:ln w="9525">
            <a:solidFill>
              <a:srgbClr val="24314E"/>
            </a:solidFill>
            <a:prstDash val="solid"/>
          </a:ln>
        </p:spPr>
      </p:sp>
      <p:sp>
        <p:nvSpPr>
          <p:cNvPr id="9" name="Text 7"/>
          <p:cNvSpPr txBox="1"/>
          <p:nvPr/>
        </p:nvSpPr>
        <p:spPr>
          <a:xfrm>
            <a:off x="777240" y="2331720"/>
            <a:ext cx="822960" cy="713232"/>
          </a:xfrm>
          <a:prstGeom prst="rect">
            <a:avLst/>
          </a:prstGeom>
          <a:noFill/>
          <a:ln/>
        </p:spPr>
        <p:txBody>
          <a:bodyPr wrap="square" lIns="0" tIns="0" rIns="0" bIns="0" rtlCol="0" anchor="ctr"/>
          <a:lstStyle/>
          <a:p>
            <a:pPr algn="l" indent="0" marL="0">
              <a:buNone/>
            </a:pPr>
            <a:r>
              <a:rPr lang="en-US" sz="2200" b="1" dirty="0">
                <a:solidFill>
                  <a:srgbClr val="14B8A6"/>
                </a:solidFill>
                <a:latin typeface="Cambria" pitchFamily="34" charset="0"/>
                <a:ea typeface="Cambria" pitchFamily="34" charset="-122"/>
                <a:cs typeface="Cambria" pitchFamily="34" charset="-120"/>
              </a:rPr>
              <a:t>02</a:t>
            </a:r>
            <a:endParaRPr lang="en-US" sz="2200" dirty="0"/>
          </a:p>
        </p:txBody>
      </p:sp>
      <p:sp>
        <p:nvSpPr>
          <p:cNvPr id="10" name="Text 8"/>
          <p:cNvSpPr txBox="1"/>
          <p:nvPr/>
        </p:nvSpPr>
        <p:spPr>
          <a:xfrm>
            <a:off x="1691640" y="2395728"/>
            <a:ext cx="5852160" cy="347472"/>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How the Model Was Built</a:t>
            </a:r>
            <a:endParaRPr lang="en-US" sz="1400" dirty="0"/>
          </a:p>
        </p:txBody>
      </p:sp>
      <p:sp>
        <p:nvSpPr>
          <p:cNvPr id="11" name="Text 9"/>
          <p:cNvSpPr txBox="1"/>
          <p:nvPr/>
        </p:nvSpPr>
        <p:spPr>
          <a:xfrm>
            <a:off x="1691640" y="2715768"/>
            <a:ext cx="9235440" cy="301752"/>
          </a:xfrm>
          <a:prstGeom prst="rect">
            <a:avLst/>
          </a:prstGeom>
          <a:noFill/>
          <a:ln/>
        </p:spPr>
        <p:txBody>
          <a:bodyPr wrap="square" lIns="0" tIns="0" rIns="0" bIns="0" rtlCol="0" anchor="ctr"/>
          <a:lstStyle/>
          <a:p>
            <a:pPr indent="0" marL="0">
              <a:buNone/>
            </a:pPr>
            <a:r>
              <a:rPr lang="en-US" sz="1050" dirty="0">
                <a:solidFill>
                  <a:srgbClr val="A8B8D0"/>
                </a:solidFill>
                <a:latin typeface="Calibri" pitchFamily="34" charset="0"/>
                <a:ea typeface="Calibri" pitchFamily="34" charset="-122"/>
                <a:cs typeface="Calibri" pitchFamily="34" charset="-120"/>
              </a:rPr>
              <a:t>Data cleaning problems found, feature engineering, model selection</a:t>
            </a:r>
            <a:endParaRPr lang="en-US" sz="1050" dirty="0"/>
          </a:p>
        </p:txBody>
      </p:sp>
      <p:sp>
        <p:nvSpPr>
          <p:cNvPr id="12" name="Shape 10"/>
          <p:cNvSpPr/>
          <p:nvPr/>
        </p:nvSpPr>
        <p:spPr>
          <a:xfrm>
            <a:off x="548640" y="3154680"/>
            <a:ext cx="11064240" cy="713232"/>
          </a:xfrm>
          <a:prstGeom prst="roundRect">
            <a:avLst>
              <a:gd name="adj" fmla="val 12821"/>
            </a:avLst>
          </a:prstGeom>
          <a:solidFill>
            <a:srgbClr val="111F38"/>
          </a:solidFill>
          <a:ln w="9525">
            <a:solidFill>
              <a:srgbClr val="24314E"/>
            </a:solidFill>
            <a:prstDash val="solid"/>
          </a:ln>
        </p:spPr>
      </p:sp>
      <p:sp>
        <p:nvSpPr>
          <p:cNvPr id="13" name="Text 11"/>
          <p:cNvSpPr txBox="1"/>
          <p:nvPr/>
        </p:nvSpPr>
        <p:spPr>
          <a:xfrm>
            <a:off x="777240" y="3154680"/>
            <a:ext cx="822960" cy="713232"/>
          </a:xfrm>
          <a:prstGeom prst="rect">
            <a:avLst/>
          </a:prstGeom>
          <a:noFill/>
          <a:ln/>
        </p:spPr>
        <p:txBody>
          <a:bodyPr wrap="square" lIns="0" tIns="0" rIns="0" bIns="0" rtlCol="0" anchor="ctr"/>
          <a:lstStyle/>
          <a:p>
            <a:pPr algn="l" indent="0" marL="0">
              <a:buNone/>
            </a:pPr>
            <a:r>
              <a:rPr lang="en-US" sz="2200" b="1" dirty="0">
                <a:solidFill>
                  <a:srgbClr val="F0B429"/>
                </a:solidFill>
                <a:latin typeface="Cambria" pitchFamily="34" charset="0"/>
                <a:ea typeface="Cambria" pitchFamily="34" charset="-122"/>
                <a:cs typeface="Cambria" pitchFamily="34" charset="-120"/>
              </a:rPr>
              <a:t>03</a:t>
            </a:r>
            <a:endParaRPr lang="en-US" sz="2200" dirty="0"/>
          </a:p>
        </p:txBody>
      </p:sp>
      <p:sp>
        <p:nvSpPr>
          <p:cNvPr id="14" name="Text 12"/>
          <p:cNvSpPr txBox="1"/>
          <p:nvPr/>
        </p:nvSpPr>
        <p:spPr>
          <a:xfrm>
            <a:off x="1691640" y="3218688"/>
            <a:ext cx="5852160" cy="347472"/>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The Three Segments</a:t>
            </a:r>
            <a:endParaRPr lang="en-US" sz="1400" dirty="0"/>
          </a:p>
        </p:txBody>
      </p:sp>
      <p:sp>
        <p:nvSpPr>
          <p:cNvPr id="15" name="Text 13"/>
          <p:cNvSpPr txBox="1"/>
          <p:nvPr/>
        </p:nvSpPr>
        <p:spPr>
          <a:xfrm>
            <a:off x="1691640" y="3538728"/>
            <a:ext cx="9235440" cy="301752"/>
          </a:xfrm>
          <a:prstGeom prst="rect">
            <a:avLst/>
          </a:prstGeom>
          <a:noFill/>
          <a:ln/>
        </p:spPr>
        <p:txBody>
          <a:bodyPr wrap="square" lIns="0" tIns="0" rIns="0" bIns="0" rtlCol="0" anchor="ctr"/>
          <a:lstStyle/>
          <a:p>
            <a:pPr indent="0" marL="0">
              <a:buNone/>
            </a:pPr>
            <a:r>
              <a:rPr lang="en-US" sz="1050" dirty="0">
                <a:solidFill>
                  <a:srgbClr val="A8B8D0"/>
                </a:solidFill>
                <a:latin typeface="Calibri" pitchFamily="34" charset="0"/>
                <a:ea typeface="Calibri" pitchFamily="34" charset="-122"/>
                <a:cs typeface="Calibri" pitchFamily="34" charset="-120"/>
              </a:rPr>
              <a:t>Who they are, statistically and behaviorally</a:t>
            </a:r>
            <a:endParaRPr lang="en-US" sz="1050" dirty="0"/>
          </a:p>
        </p:txBody>
      </p:sp>
      <p:sp>
        <p:nvSpPr>
          <p:cNvPr id="16" name="Shape 14"/>
          <p:cNvSpPr/>
          <p:nvPr/>
        </p:nvSpPr>
        <p:spPr>
          <a:xfrm>
            <a:off x="548640" y="3977640"/>
            <a:ext cx="11064240" cy="713232"/>
          </a:xfrm>
          <a:prstGeom prst="roundRect">
            <a:avLst>
              <a:gd name="adj" fmla="val 12821"/>
            </a:avLst>
          </a:prstGeom>
          <a:solidFill>
            <a:srgbClr val="111F38"/>
          </a:solidFill>
          <a:ln w="9525">
            <a:solidFill>
              <a:srgbClr val="24314E"/>
            </a:solidFill>
            <a:prstDash val="solid"/>
          </a:ln>
        </p:spPr>
      </p:sp>
      <p:sp>
        <p:nvSpPr>
          <p:cNvPr id="17" name="Text 15"/>
          <p:cNvSpPr txBox="1"/>
          <p:nvPr/>
        </p:nvSpPr>
        <p:spPr>
          <a:xfrm>
            <a:off x="777240" y="3977640"/>
            <a:ext cx="822960" cy="713232"/>
          </a:xfrm>
          <a:prstGeom prst="rect">
            <a:avLst/>
          </a:prstGeom>
          <a:noFill/>
          <a:ln/>
        </p:spPr>
        <p:txBody>
          <a:bodyPr wrap="square" lIns="0" tIns="0" rIns="0" bIns="0" rtlCol="0" anchor="ctr"/>
          <a:lstStyle/>
          <a:p>
            <a:pPr algn="l" indent="0" marL="0">
              <a:buNone/>
            </a:pPr>
            <a:r>
              <a:rPr lang="en-US" sz="2200" b="1" dirty="0">
                <a:solidFill>
                  <a:srgbClr val="EF4444"/>
                </a:solidFill>
                <a:latin typeface="Cambria" pitchFamily="34" charset="0"/>
                <a:ea typeface="Cambria" pitchFamily="34" charset="-122"/>
                <a:cs typeface="Cambria" pitchFamily="34" charset="-120"/>
              </a:rPr>
              <a:t>04</a:t>
            </a:r>
            <a:endParaRPr lang="en-US" sz="2200" dirty="0"/>
          </a:p>
        </p:txBody>
      </p:sp>
      <p:sp>
        <p:nvSpPr>
          <p:cNvPr id="18" name="Text 16"/>
          <p:cNvSpPr txBox="1"/>
          <p:nvPr/>
        </p:nvSpPr>
        <p:spPr>
          <a:xfrm>
            <a:off x="1691640" y="4041648"/>
            <a:ext cx="5852160" cy="347472"/>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The Hidden Truth</a:t>
            </a:r>
            <a:endParaRPr lang="en-US" sz="1400" dirty="0"/>
          </a:p>
        </p:txBody>
      </p:sp>
      <p:sp>
        <p:nvSpPr>
          <p:cNvPr id="19" name="Text 17"/>
          <p:cNvSpPr txBox="1"/>
          <p:nvPr/>
        </p:nvSpPr>
        <p:spPr>
          <a:xfrm>
            <a:off x="1691640" y="4361688"/>
            <a:ext cx="9235440" cy="301752"/>
          </a:xfrm>
          <a:prstGeom prst="rect">
            <a:avLst/>
          </a:prstGeom>
          <a:noFill/>
          <a:ln/>
        </p:spPr>
        <p:txBody>
          <a:bodyPr wrap="square" lIns="0" tIns="0" rIns="0" bIns="0" rtlCol="0" anchor="ctr"/>
          <a:lstStyle/>
          <a:p>
            <a:pPr indent="0" marL="0">
              <a:buNone/>
            </a:pPr>
            <a:r>
              <a:rPr lang="en-US" sz="1050" dirty="0">
                <a:solidFill>
                  <a:srgbClr val="A8B8D0"/>
                </a:solidFill>
                <a:latin typeface="Calibri" pitchFamily="34" charset="0"/>
                <a:ea typeface="Calibri" pitchFamily="34" charset="-122"/>
                <a:cs typeface="Calibri" pitchFamily="34" charset="-120"/>
              </a:rPr>
              <a:t>Why customer count and revenue tell different stories</a:t>
            </a:r>
            <a:endParaRPr lang="en-US" sz="1050" dirty="0"/>
          </a:p>
        </p:txBody>
      </p:sp>
      <p:sp>
        <p:nvSpPr>
          <p:cNvPr id="20" name="Shape 18"/>
          <p:cNvSpPr/>
          <p:nvPr/>
        </p:nvSpPr>
        <p:spPr>
          <a:xfrm>
            <a:off x="548640" y="4800600"/>
            <a:ext cx="11064240" cy="713232"/>
          </a:xfrm>
          <a:prstGeom prst="roundRect">
            <a:avLst>
              <a:gd name="adj" fmla="val 12821"/>
            </a:avLst>
          </a:prstGeom>
          <a:solidFill>
            <a:srgbClr val="111F38"/>
          </a:solidFill>
          <a:ln w="9525">
            <a:solidFill>
              <a:srgbClr val="24314E"/>
            </a:solidFill>
            <a:prstDash val="solid"/>
          </a:ln>
        </p:spPr>
      </p:sp>
      <p:sp>
        <p:nvSpPr>
          <p:cNvPr id="21" name="Text 19"/>
          <p:cNvSpPr txBox="1"/>
          <p:nvPr/>
        </p:nvSpPr>
        <p:spPr>
          <a:xfrm>
            <a:off x="777240" y="4800600"/>
            <a:ext cx="822960" cy="713232"/>
          </a:xfrm>
          <a:prstGeom prst="rect">
            <a:avLst/>
          </a:prstGeom>
          <a:noFill/>
          <a:ln/>
        </p:spPr>
        <p:txBody>
          <a:bodyPr wrap="square" lIns="0" tIns="0" rIns="0" bIns="0" rtlCol="0" anchor="ctr"/>
          <a:lstStyle/>
          <a:p>
            <a:pPr algn="l" indent="0" marL="0">
              <a:buNone/>
            </a:pPr>
            <a:r>
              <a:rPr lang="en-US" sz="2200" b="1" dirty="0">
                <a:solidFill>
                  <a:srgbClr val="FFD166"/>
                </a:solidFill>
                <a:latin typeface="Cambria" pitchFamily="34" charset="0"/>
                <a:ea typeface="Cambria" pitchFamily="34" charset="-122"/>
                <a:cs typeface="Cambria" pitchFamily="34" charset="-120"/>
              </a:rPr>
              <a:t>05</a:t>
            </a:r>
            <a:endParaRPr lang="en-US" sz="2200" dirty="0"/>
          </a:p>
        </p:txBody>
      </p:sp>
      <p:sp>
        <p:nvSpPr>
          <p:cNvPr id="22" name="Text 20"/>
          <p:cNvSpPr txBox="1"/>
          <p:nvPr/>
        </p:nvSpPr>
        <p:spPr>
          <a:xfrm>
            <a:off x="1691640" y="4864608"/>
            <a:ext cx="5852160" cy="347472"/>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Problems, Solutions &amp; Business Plan</a:t>
            </a:r>
            <a:endParaRPr lang="en-US" sz="1400" dirty="0"/>
          </a:p>
        </p:txBody>
      </p:sp>
      <p:sp>
        <p:nvSpPr>
          <p:cNvPr id="23" name="Text 21"/>
          <p:cNvSpPr txBox="1"/>
          <p:nvPr/>
        </p:nvSpPr>
        <p:spPr>
          <a:xfrm>
            <a:off x="1691640" y="5184648"/>
            <a:ext cx="9235440" cy="301752"/>
          </a:xfrm>
          <a:prstGeom prst="rect">
            <a:avLst/>
          </a:prstGeom>
          <a:noFill/>
          <a:ln/>
        </p:spPr>
        <p:txBody>
          <a:bodyPr wrap="square" lIns="0" tIns="0" rIns="0" bIns="0" rtlCol="0" anchor="ctr"/>
          <a:lstStyle/>
          <a:p>
            <a:pPr indent="0" marL="0">
              <a:buNone/>
            </a:pPr>
            <a:r>
              <a:rPr lang="en-US" sz="1050" dirty="0">
                <a:solidFill>
                  <a:srgbClr val="A8B8D0"/>
                </a:solidFill>
                <a:latin typeface="Calibri" pitchFamily="34" charset="0"/>
                <a:ea typeface="Calibri" pitchFamily="34" charset="-122"/>
                <a:cs typeface="Calibri" pitchFamily="34" charset="-120"/>
              </a:rPr>
              <a:t>Root causes, fixes, owners, and a quarterly target timeline</a:t>
            </a:r>
            <a:endParaRPr lang="en-US" sz="1050" dirty="0"/>
          </a:p>
        </p:txBody>
      </p:sp>
      <p:sp>
        <p:nvSpPr>
          <p:cNvPr id="24" name="Shape 22"/>
          <p:cNvSpPr/>
          <p:nvPr/>
        </p:nvSpPr>
        <p:spPr>
          <a:xfrm>
            <a:off x="548640" y="5623560"/>
            <a:ext cx="11064240" cy="713232"/>
          </a:xfrm>
          <a:prstGeom prst="roundRect">
            <a:avLst>
              <a:gd name="adj" fmla="val 12821"/>
            </a:avLst>
          </a:prstGeom>
          <a:solidFill>
            <a:srgbClr val="111F38"/>
          </a:solidFill>
          <a:ln w="9525">
            <a:solidFill>
              <a:srgbClr val="24314E"/>
            </a:solidFill>
            <a:prstDash val="solid"/>
          </a:ln>
        </p:spPr>
      </p:sp>
      <p:sp>
        <p:nvSpPr>
          <p:cNvPr id="25" name="Text 23"/>
          <p:cNvSpPr txBox="1"/>
          <p:nvPr/>
        </p:nvSpPr>
        <p:spPr>
          <a:xfrm>
            <a:off x="777240" y="5623560"/>
            <a:ext cx="822960" cy="713232"/>
          </a:xfrm>
          <a:prstGeom prst="rect">
            <a:avLst/>
          </a:prstGeom>
          <a:noFill/>
          <a:ln/>
        </p:spPr>
        <p:txBody>
          <a:bodyPr wrap="square" lIns="0" tIns="0" rIns="0" bIns="0" rtlCol="0" anchor="ctr"/>
          <a:lstStyle/>
          <a:p>
            <a:pPr algn="l" indent="0" marL="0">
              <a:buNone/>
            </a:pPr>
            <a:r>
              <a:rPr lang="en-US" sz="2200" b="1" dirty="0">
                <a:solidFill>
                  <a:srgbClr val="22C55E"/>
                </a:solidFill>
                <a:latin typeface="Cambria" pitchFamily="34" charset="0"/>
                <a:ea typeface="Cambria" pitchFamily="34" charset="-122"/>
                <a:cs typeface="Cambria" pitchFamily="34" charset="-120"/>
              </a:rPr>
              <a:t>06</a:t>
            </a:r>
            <a:endParaRPr lang="en-US" sz="2200" dirty="0"/>
          </a:p>
        </p:txBody>
      </p:sp>
      <p:sp>
        <p:nvSpPr>
          <p:cNvPr id="26" name="Text 24"/>
          <p:cNvSpPr txBox="1"/>
          <p:nvPr/>
        </p:nvSpPr>
        <p:spPr>
          <a:xfrm>
            <a:off x="1691640" y="5687568"/>
            <a:ext cx="5852160" cy="347472"/>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Roadmap, Forecast &amp; Impact</a:t>
            </a:r>
            <a:endParaRPr lang="en-US" sz="1400" dirty="0"/>
          </a:p>
        </p:txBody>
      </p:sp>
      <p:sp>
        <p:nvSpPr>
          <p:cNvPr id="27" name="Text 25"/>
          <p:cNvSpPr txBox="1"/>
          <p:nvPr/>
        </p:nvSpPr>
        <p:spPr>
          <a:xfrm>
            <a:off x="1691640" y="6007608"/>
            <a:ext cx="9235440" cy="301752"/>
          </a:xfrm>
          <a:prstGeom prst="rect">
            <a:avLst/>
          </a:prstGeom>
          <a:noFill/>
          <a:ln/>
        </p:spPr>
        <p:txBody>
          <a:bodyPr wrap="square" lIns="0" tIns="0" rIns="0" bIns="0" rtlCol="0" anchor="ctr"/>
          <a:lstStyle/>
          <a:p>
            <a:pPr indent="0" marL="0">
              <a:buNone/>
            </a:pPr>
            <a:r>
              <a:rPr lang="en-US" sz="1050" dirty="0">
                <a:solidFill>
                  <a:srgbClr val="A8B8D0"/>
                </a:solidFill>
                <a:latin typeface="Calibri" pitchFamily="34" charset="0"/>
                <a:ea typeface="Calibri" pitchFamily="34" charset="-122"/>
                <a:cs typeface="Calibri" pitchFamily="34" charset="-120"/>
              </a:rPr>
              <a:t>Prioritized actions, growth/decline scenarios, and projected upside</a:t>
            </a:r>
            <a:endParaRPr lang="en-US" sz="1050" dirty="0"/>
          </a:p>
        </p:txBody>
      </p:sp>
      <p:sp>
        <p:nvSpPr>
          <p:cNvPr id="28" name="Text 26"/>
          <p:cNvSpPr/>
          <p:nvPr/>
        </p:nvSpPr>
        <p:spPr>
          <a:xfrm>
            <a:off x="457200" y="6528816"/>
            <a:ext cx="7315200" cy="274320"/>
          </a:xfrm>
          <a:prstGeom prst="rect">
            <a:avLst/>
          </a:prstGeom>
          <a:noFill/>
          <a:ln/>
        </p:spPr>
        <p:txBody>
          <a:bodyPr wrap="square" lIns="0" tIns="0" rIns="0" bIns="0" rtlCol="0" anchor="ctr"/>
          <a:lstStyle/>
          <a:p>
            <a:pPr algn="l" indent="0" marL="0">
              <a:buNone/>
            </a:pPr>
            <a:r>
              <a:rPr lang="en-US" sz="900" dirty="0">
                <a:solidFill>
                  <a:srgbClr val="72859E"/>
                </a:solidFill>
                <a:latin typeface="Calibri" pitchFamily="34" charset="0"/>
                <a:ea typeface="Calibri" pitchFamily="34" charset="-122"/>
                <a:cs typeface="Calibri" pitchFamily="34" charset="-120"/>
              </a:rPr>
              <a:t>Online Retail Business · Customer Segmentation</a:t>
            </a:r>
            <a:endParaRPr lang="en-US" sz="900" dirty="0"/>
          </a:p>
        </p:txBody>
      </p:sp>
      <p:sp>
        <p:nvSpPr>
          <p:cNvPr id="29" name="Text 27"/>
          <p:cNvSpPr/>
          <p:nvPr/>
        </p:nvSpPr>
        <p:spPr>
          <a:xfrm>
            <a:off x="11000232" y="6528816"/>
            <a:ext cx="731520" cy="274320"/>
          </a:xfrm>
          <a:prstGeom prst="rect">
            <a:avLst/>
          </a:prstGeom>
          <a:noFill/>
          <a:ln/>
        </p:spPr>
        <p:txBody>
          <a:bodyPr wrap="square" lIns="0" tIns="0" rIns="0" bIns="0" rtlCol="0" anchor="ctr"/>
          <a:lstStyle/>
          <a:p>
            <a:pPr algn="r" indent="0" marL="0">
              <a:buNone/>
            </a:pPr>
            <a:r>
              <a:rPr lang="en-US" sz="900" dirty="0">
                <a:solidFill>
                  <a:srgbClr val="72859E"/>
                </a:solidFill>
                <a:latin typeface="Calibri" pitchFamily="34" charset="0"/>
                <a:ea typeface="Calibri" pitchFamily="34" charset="-122"/>
                <a:cs typeface="Calibri" pitchFamily="34" charset="-120"/>
              </a:rPr>
              <a:t>2 / 18</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B1220"/>
        </a:solidFill>
      </p:bgPr>
    </p:bg>
    <p:spTree>
      <p:nvGrpSpPr>
        <p:cNvPr id="1" name=""/>
        <p:cNvGrpSpPr/>
        <p:nvPr/>
      </p:nvGrpSpPr>
      <p:grpSpPr>
        <a:xfrm>
          <a:off x="0" y="0"/>
          <a:ext cx="0" cy="0"/>
          <a:chOff x="0" y="0"/>
          <a:chExt cx="0" cy="0"/>
        </a:xfrm>
      </p:grpSpPr>
      <p:sp>
        <p:nvSpPr>
          <p:cNvPr id="2" name="Text 0"/>
          <p:cNvSpPr txBox="1"/>
          <p:nvPr/>
        </p:nvSpPr>
        <p:spPr>
          <a:xfrm>
            <a:off x="548640" y="201168"/>
            <a:ext cx="7315200" cy="274320"/>
          </a:xfrm>
          <a:prstGeom prst="rect">
            <a:avLst/>
          </a:prstGeom>
          <a:noFill/>
          <a:ln/>
        </p:spPr>
        <p:txBody>
          <a:bodyPr wrap="square" lIns="0" tIns="0" rIns="0" bIns="0" rtlCol="0" anchor="ctr"/>
          <a:lstStyle/>
          <a:p>
            <a:pPr algn="l" indent="0" marL="0">
              <a:buNone/>
            </a:pPr>
            <a:r>
              <a:rPr lang="en-US" sz="1100" b="1" spc="200" kern="0" dirty="0">
                <a:solidFill>
                  <a:srgbClr val="F0B429"/>
                </a:solidFill>
                <a:latin typeface="Calibri" pitchFamily="34" charset="0"/>
                <a:ea typeface="Calibri" pitchFamily="34" charset="-122"/>
                <a:cs typeface="Calibri" pitchFamily="34" charset="-120"/>
              </a:rPr>
              <a:t>THE BUSINESS QUESTION</a:t>
            </a:r>
            <a:endParaRPr lang="en-US" sz="1100" dirty="0"/>
          </a:p>
        </p:txBody>
      </p:sp>
      <p:sp>
        <p:nvSpPr>
          <p:cNvPr id="3" name="Text 1"/>
          <p:cNvSpPr txBox="1"/>
          <p:nvPr/>
        </p:nvSpPr>
        <p:spPr>
          <a:xfrm>
            <a:off x="548640" y="411480"/>
            <a:ext cx="11064240" cy="685800"/>
          </a:xfrm>
          <a:prstGeom prst="rect">
            <a:avLst/>
          </a:prstGeom>
          <a:noFill/>
          <a:ln/>
        </p:spPr>
        <p:txBody>
          <a:bodyPr wrap="square" lIns="0" tIns="0" rIns="0" bIns="0" rtlCol="0" anchor="ctr"/>
          <a:lstStyle/>
          <a:p>
            <a:pPr algn="l" indent="0" marL="0">
              <a:buNone/>
            </a:pPr>
            <a:r>
              <a:rPr lang="en-US" sz="3000" b="1" dirty="0">
                <a:solidFill>
                  <a:srgbClr val="FFFFFF"/>
                </a:solidFill>
                <a:latin typeface="Cambria" pitchFamily="34" charset="0"/>
                <a:ea typeface="Cambria" pitchFamily="34" charset="-122"/>
                <a:cs typeface="Cambria" pitchFamily="34" charset="-120"/>
              </a:rPr>
              <a:t>Not All Customers Deserve the Same Strategy</a:t>
            </a:r>
            <a:endParaRPr lang="en-US" sz="3000" dirty="0"/>
          </a:p>
        </p:txBody>
      </p:sp>
      <p:sp>
        <p:nvSpPr>
          <p:cNvPr id="4" name="Text 2"/>
          <p:cNvSpPr txBox="1"/>
          <p:nvPr/>
        </p:nvSpPr>
        <p:spPr>
          <a:xfrm>
            <a:off x="548640" y="1417320"/>
            <a:ext cx="10789920" cy="822960"/>
          </a:xfrm>
          <a:prstGeom prst="rect">
            <a:avLst/>
          </a:prstGeom>
          <a:noFill/>
          <a:ln/>
        </p:spPr>
        <p:txBody>
          <a:bodyPr wrap="square" lIns="0" tIns="0" rIns="0" bIns="0" rtlCol="0" anchor="ctr"/>
          <a:lstStyle/>
          <a:p>
            <a:pPr indent="0" marL="0">
              <a:buNone/>
            </a:pPr>
            <a:r>
              <a:rPr lang="en-US" sz="1400" dirty="0">
                <a:solidFill>
                  <a:srgbClr val="A8B8D0"/>
                </a:solidFill>
                <a:latin typeface="Calibri" pitchFamily="34" charset="0"/>
                <a:ea typeface="Calibri" pitchFamily="34" charset="-122"/>
                <a:cs typeface="Calibri" pitchFamily="34" charset="-120"/>
              </a:rPr>
              <a:t>Treating every customer with one blanket marketing and retention strategy wastes budget on customers who will never convert, and under-serves the customers who already drive most of the revenue. The goal of this project was to answer three questions with data, not intuition:</a:t>
            </a:r>
            <a:endParaRPr lang="en-US" sz="1400" dirty="0"/>
          </a:p>
        </p:txBody>
      </p:sp>
      <p:sp>
        <p:nvSpPr>
          <p:cNvPr id="5" name="Shape 3"/>
          <p:cNvSpPr/>
          <p:nvPr/>
        </p:nvSpPr>
        <p:spPr>
          <a:xfrm>
            <a:off x="548640" y="2468880"/>
            <a:ext cx="3566160" cy="3200400"/>
          </a:xfrm>
          <a:prstGeom prst="roundRect">
            <a:avLst>
              <a:gd name="adj" fmla="val 4000"/>
            </a:avLst>
          </a:prstGeom>
          <a:solidFill>
            <a:srgbClr val="111F38"/>
          </a:solidFill>
          <a:ln w="9525">
            <a:solidFill>
              <a:srgbClr val="24314E"/>
            </a:solidFill>
            <a:prstDash val="solid"/>
          </a:ln>
        </p:spPr>
      </p:sp>
      <p:sp>
        <p:nvSpPr>
          <p:cNvPr id="6" name="Shape 4"/>
          <p:cNvSpPr/>
          <p:nvPr/>
        </p:nvSpPr>
        <p:spPr>
          <a:xfrm>
            <a:off x="822960" y="2743200"/>
            <a:ext cx="548640" cy="548640"/>
          </a:xfrm>
          <a:prstGeom prst="ellipse">
            <a:avLst/>
          </a:prstGeom>
          <a:solidFill>
            <a:srgbClr val="3B82F6">
              <a:alpha val="18000"/>
            </a:srgbClr>
          </a:solidFill>
          <a:ln w="12700">
            <a:solidFill>
              <a:srgbClr val="3B82F6"/>
            </a:solidFill>
            <a:prstDash val="solid"/>
          </a:ln>
        </p:spPr>
      </p:sp>
      <p:sp>
        <p:nvSpPr>
          <p:cNvPr id="7" name="Text 5"/>
          <p:cNvSpPr txBox="1"/>
          <p:nvPr/>
        </p:nvSpPr>
        <p:spPr>
          <a:xfrm>
            <a:off x="822960" y="2724912"/>
            <a:ext cx="548640" cy="548640"/>
          </a:xfrm>
          <a:prstGeom prst="rect">
            <a:avLst/>
          </a:prstGeom>
          <a:noFill/>
          <a:ln/>
        </p:spPr>
        <p:txBody>
          <a:bodyPr wrap="square" lIns="0" tIns="0" rIns="0" bIns="0" rtlCol="0" anchor="ctr"/>
          <a:lstStyle/>
          <a:p>
            <a:pPr algn="ctr" indent="0" marL="0">
              <a:buNone/>
            </a:pPr>
            <a:r>
              <a:rPr lang="en-US" sz="1560" dirty="0">
                <a:solidFill>
                  <a:srgbClr val="3B82F6"/>
                </a:solidFill>
                <a:latin typeface="Calibri" pitchFamily="34" charset="0"/>
                <a:ea typeface="Calibri" pitchFamily="34" charset="-122"/>
                <a:cs typeface="Calibri" pitchFamily="34" charset="-120"/>
              </a:rPr>
              <a:t>1</a:t>
            </a:r>
            <a:endParaRPr lang="en-US" sz="1560" dirty="0"/>
          </a:p>
        </p:txBody>
      </p:sp>
      <p:sp>
        <p:nvSpPr>
          <p:cNvPr id="8" name="Text 6"/>
          <p:cNvSpPr txBox="1"/>
          <p:nvPr/>
        </p:nvSpPr>
        <p:spPr>
          <a:xfrm>
            <a:off x="822960" y="3246120"/>
            <a:ext cx="3017520" cy="1005840"/>
          </a:xfrm>
          <a:prstGeom prst="rect">
            <a:avLst/>
          </a:prstGeom>
          <a:noFill/>
          <a:ln/>
        </p:spPr>
        <p:txBody>
          <a:bodyPr wrap="square" lIns="0" tIns="0" rIns="0" bIns="0" rtlCol="0" anchor="ctr"/>
          <a:lstStyle/>
          <a:p>
            <a:pPr indent="0" marL="0">
              <a:buNone/>
            </a:pPr>
            <a:r>
              <a:rPr lang="en-US" sz="1600" b="1" dirty="0">
                <a:solidFill>
                  <a:srgbClr val="FFFFFF"/>
                </a:solidFill>
                <a:latin typeface="Cambria" pitchFamily="34" charset="0"/>
                <a:ea typeface="Cambria" pitchFamily="34" charset="-122"/>
                <a:cs typeface="Cambria" pitchFamily="34" charset="-120"/>
              </a:rPr>
              <a:t>Who are our customers, behaviorally?</a:t>
            </a:r>
            <a:endParaRPr lang="en-US" sz="1600" dirty="0"/>
          </a:p>
        </p:txBody>
      </p:sp>
      <p:sp>
        <p:nvSpPr>
          <p:cNvPr id="9" name="Text 7"/>
          <p:cNvSpPr txBox="1"/>
          <p:nvPr/>
        </p:nvSpPr>
        <p:spPr>
          <a:xfrm>
            <a:off x="822960" y="4251960"/>
            <a:ext cx="3017520" cy="1234440"/>
          </a:xfrm>
          <a:prstGeom prst="rect">
            <a:avLst/>
          </a:prstGeom>
          <a:noFill/>
          <a:ln/>
        </p:spPr>
        <p:txBody>
          <a:bodyPr wrap="square" lIns="0" tIns="0" rIns="0" bIns="0" rtlCol="0" anchor="ctr"/>
          <a:lstStyle/>
          <a:p>
            <a:pPr indent="0" marL="0">
              <a:buNone/>
            </a:pPr>
            <a:r>
              <a:rPr lang="en-US" sz="1200" dirty="0">
                <a:solidFill>
                  <a:srgbClr val="A8B8D0"/>
                </a:solidFill>
                <a:latin typeface="Calibri" pitchFamily="34" charset="0"/>
                <a:ea typeface="Calibri" pitchFamily="34" charset="-122"/>
                <a:cs typeface="Calibri" pitchFamily="34" charset="-120"/>
              </a:rPr>
              <a:t>Group customers by how they actually buy — not assumptions — using recency, frequency, spend, and engagement signals.</a:t>
            </a:r>
            <a:endParaRPr lang="en-US" sz="1200" dirty="0"/>
          </a:p>
        </p:txBody>
      </p:sp>
      <p:sp>
        <p:nvSpPr>
          <p:cNvPr id="10" name="Shape 8"/>
          <p:cNvSpPr/>
          <p:nvPr/>
        </p:nvSpPr>
        <p:spPr>
          <a:xfrm>
            <a:off x="4343400" y="2468880"/>
            <a:ext cx="3566160" cy="3200400"/>
          </a:xfrm>
          <a:prstGeom prst="roundRect">
            <a:avLst>
              <a:gd name="adj" fmla="val 4000"/>
            </a:avLst>
          </a:prstGeom>
          <a:solidFill>
            <a:srgbClr val="111F38"/>
          </a:solidFill>
          <a:ln w="9525">
            <a:solidFill>
              <a:srgbClr val="24314E"/>
            </a:solidFill>
            <a:prstDash val="solid"/>
          </a:ln>
        </p:spPr>
      </p:sp>
      <p:sp>
        <p:nvSpPr>
          <p:cNvPr id="11" name="Shape 9"/>
          <p:cNvSpPr/>
          <p:nvPr/>
        </p:nvSpPr>
        <p:spPr>
          <a:xfrm>
            <a:off x="4617720" y="2743200"/>
            <a:ext cx="548640" cy="548640"/>
          </a:xfrm>
          <a:prstGeom prst="ellipse">
            <a:avLst/>
          </a:prstGeom>
          <a:solidFill>
            <a:srgbClr val="F0B429">
              <a:alpha val="18000"/>
            </a:srgbClr>
          </a:solidFill>
          <a:ln w="12700">
            <a:solidFill>
              <a:srgbClr val="F0B429"/>
            </a:solidFill>
            <a:prstDash val="solid"/>
          </a:ln>
        </p:spPr>
      </p:sp>
      <p:sp>
        <p:nvSpPr>
          <p:cNvPr id="12" name="Text 10"/>
          <p:cNvSpPr txBox="1"/>
          <p:nvPr/>
        </p:nvSpPr>
        <p:spPr>
          <a:xfrm>
            <a:off x="4617720" y="2724912"/>
            <a:ext cx="548640" cy="548640"/>
          </a:xfrm>
          <a:prstGeom prst="rect">
            <a:avLst/>
          </a:prstGeom>
          <a:noFill/>
          <a:ln/>
        </p:spPr>
        <p:txBody>
          <a:bodyPr wrap="square" lIns="0" tIns="0" rIns="0" bIns="0" rtlCol="0" anchor="ctr"/>
          <a:lstStyle/>
          <a:p>
            <a:pPr algn="ctr" indent="0" marL="0">
              <a:buNone/>
            </a:pPr>
            <a:r>
              <a:rPr lang="en-US" sz="1560" dirty="0">
                <a:solidFill>
                  <a:srgbClr val="F0B429"/>
                </a:solidFill>
                <a:latin typeface="Calibri" pitchFamily="34" charset="0"/>
                <a:ea typeface="Calibri" pitchFamily="34" charset="-122"/>
                <a:cs typeface="Calibri" pitchFamily="34" charset="-120"/>
              </a:rPr>
              <a:t>2</a:t>
            </a:r>
            <a:endParaRPr lang="en-US" sz="1560" dirty="0"/>
          </a:p>
        </p:txBody>
      </p:sp>
      <p:sp>
        <p:nvSpPr>
          <p:cNvPr id="13" name="Text 11"/>
          <p:cNvSpPr txBox="1"/>
          <p:nvPr/>
        </p:nvSpPr>
        <p:spPr>
          <a:xfrm>
            <a:off x="4617720" y="3246120"/>
            <a:ext cx="3017520" cy="1005840"/>
          </a:xfrm>
          <a:prstGeom prst="rect">
            <a:avLst/>
          </a:prstGeom>
          <a:noFill/>
          <a:ln/>
        </p:spPr>
        <p:txBody>
          <a:bodyPr wrap="square" lIns="0" tIns="0" rIns="0" bIns="0" rtlCol="0" anchor="ctr"/>
          <a:lstStyle/>
          <a:p>
            <a:pPr indent="0" marL="0">
              <a:buNone/>
            </a:pPr>
            <a:r>
              <a:rPr lang="en-US" sz="1600" b="1" dirty="0">
                <a:solidFill>
                  <a:srgbClr val="FFFFFF"/>
                </a:solidFill>
                <a:latin typeface="Cambria" pitchFamily="34" charset="0"/>
                <a:ea typeface="Cambria" pitchFamily="34" charset="-122"/>
                <a:cs typeface="Cambria" pitchFamily="34" charset="-120"/>
              </a:rPr>
              <a:t>Where does our revenue really come from?</a:t>
            </a:r>
            <a:endParaRPr lang="en-US" sz="1600" dirty="0"/>
          </a:p>
        </p:txBody>
      </p:sp>
      <p:sp>
        <p:nvSpPr>
          <p:cNvPr id="14" name="Text 12"/>
          <p:cNvSpPr txBox="1"/>
          <p:nvPr/>
        </p:nvSpPr>
        <p:spPr>
          <a:xfrm>
            <a:off x="4617720" y="4251960"/>
            <a:ext cx="3017520" cy="1234440"/>
          </a:xfrm>
          <a:prstGeom prst="rect">
            <a:avLst/>
          </a:prstGeom>
          <a:noFill/>
          <a:ln/>
        </p:spPr>
        <p:txBody>
          <a:bodyPr wrap="square" lIns="0" tIns="0" rIns="0" bIns="0" rtlCol="0" anchor="ctr"/>
          <a:lstStyle/>
          <a:p>
            <a:pPr indent="0" marL="0">
              <a:buNone/>
            </a:pPr>
            <a:r>
              <a:rPr lang="en-US" sz="1200" dirty="0">
                <a:solidFill>
                  <a:srgbClr val="A8B8D0"/>
                </a:solidFill>
                <a:latin typeface="Calibri" pitchFamily="34" charset="0"/>
                <a:ea typeface="Calibri" pitchFamily="34" charset="-122"/>
                <a:cs typeface="Calibri" pitchFamily="34" charset="-120"/>
              </a:rPr>
              <a:t>Weight each group by size AND spend — a large group isn't automatically the most valuable one.</a:t>
            </a:r>
            <a:endParaRPr lang="en-US" sz="1200" dirty="0"/>
          </a:p>
        </p:txBody>
      </p:sp>
      <p:sp>
        <p:nvSpPr>
          <p:cNvPr id="15" name="Shape 13"/>
          <p:cNvSpPr/>
          <p:nvPr/>
        </p:nvSpPr>
        <p:spPr>
          <a:xfrm>
            <a:off x="8138160" y="2468880"/>
            <a:ext cx="3566160" cy="3200400"/>
          </a:xfrm>
          <a:prstGeom prst="roundRect">
            <a:avLst>
              <a:gd name="adj" fmla="val 4000"/>
            </a:avLst>
          </a:prstGeom>
          <a:solidFill>
            <a:srgbClr val="111F38"/>
          </a:solidFill>
          <a:ln w="9525">
            <a:solidFill>
              <a:srgbClr val="24314E"/>
            </a:solidFill>
            <a:prstDash val="solid"/>
          </a:ln>
        </p:spPr>
      </p:sp>
      <p:sp>
        <p:nvSpPr>
          <p:cNvPr id="16" name="Shape 14"/>
          <p:cNvSpPr/>
          <p:nvPr/>
        </p:nvSpPr>
        <p:spPr>
          <a:xfrm>
            <a:off x="8412480" y="2743200"/>
            <a:ext cx="548640" cy="548640"/>
          </a:xfrm>
          <a:prstGeom prst="ellipse">
            <a:avLst/>
          </a:prstGeom>
          <a:solidFill>
            <a:srgbClr val="14B8A6">
              <a:alpha val="18000"/>
            </a:srgbClr>
          </a:solidFill>
          <a:ln w="12700">
            <a:solidFill>
              <a:srgbClr val="14B8A6"/>
            </a:solidFill>
            <a:prstDash val="solid"/>
          </a:ln>
        </p:spPr>
      </p:sp>
      <p:sp>
        <p:nvSpPr>
          <p:cNvPr id="17" name="Text 15"/>
          <p:cNvSpPr txBox="1"/>
          <p:nvPr/>
        </p:nvSpPr>
        <p:spPr>
          <a:xfrm>
            <a:off x="8412480" y="2724912"/>
            <a:ext cx="548640" cy="548640"/>
          </a:xfrm>
          <a:prstGeom prst="rect">
            <a:avLst/>
          </a:prstGeom>
          <a:noFill/>
          <a:ln/>
        </p:spPr>
        <p:txBody>
          <a:bodyPr wrap="square" lIns="0" tIns="0" rIns="0" bIns="0" rtlCol="0" anchor="ctr"/>
          <a:lstStyle/>
          <a:p>
            <a:pPr algn="ctr" indent="0" marL="0">
              <a:buNone/>
            </a:pPr>
            <a:r>
              <a:rPr lang="en-US" sz="1560" dirty="0">
                <a:solidFill>
                  <a:srgbClr val="14B8A6"/>
                </a:solidFill>
                <a:latin typeface="Calibri" pitchFamily="34" charset="0"/>
                <a:ea typeface="Calibri" pitchFamily="34" charset="-122"/>
                <a:cs typeface="Calibri" pitchFamily="34" charset="-120"/>
              </a:rPr>
              <a:t>3</a:t>
            </a:r>
            <a:endParaRPr lang="en-US" sz="1560" dirty="0"/>
          </a:p>
        </p:txBody>
      </p:sp>
      <p:sp>
        <p:nvSpPr>
          <p:cNvPr id="18" name="Text 16"/>
          <p:cNvSpPr txBox="1"/>
          <p:nvPr/>
        </p:nvSpPr>
        <p:spPr>
          <a:xfrm>
            <a:off x="8412480" y="3246120"/>
            <a:ext cx="3017520" cy="1005840"/>
          </a:xfrm>
          <a:prstGeom prst="rect">
            <a:avLst/>
          </a:prstGeom>
          <a:noFill/>
          <a:ln/>
        </p:spPr>
        <p:txBody>
          <a:bodyPr wrap="square" lIns="0" tIns="0" rIns="0" bIns="0" rtlCol="0" anchor="ctr"/>
          <a:lstStyle/>
          <a:p>
            <a:pPr indent="0" marL="0">
              <a:buNone/>
            </a:pPr>
            <a:r>
              <a:rPr lang="en-US" sz="1600" b="1" dirty="0">
                <a:solidFill>
                  <a:srgbClr val="FFFFFF"/>
                </a:solidFill>
                <a:latin typeface="Cambria" pitchFamily="34" charset="0"/>
                <a:ea typeface="Cambria" pitchFamily="34" charset="-122"/>
                <a:cs typeface="Cambria" pitchFamily="34" charset="-120"/>
              </a:rPr>
              <a:t>What should we do differently for each group?</a:t>
            </a:r>
            <a:endParaRPr lang="en-US" sz="1600" dirty="0"/>
          </a:p>
        </p:txBody>
      </p:sp>
      <p:sp>
        <p:nvSpPr>
          <p:cNvPr id="19" name="Text 17"/>
          <p:cNvSpPr txBox="1"/>
          <p:nvPr/>
        </p:nvSpPr>
        <p:spPr>
          <a:xfrm>
            <a:off x="8412480" y="4251960"/>
            <a:ext cx="3017520" cy="1234440"/>
          </a:xfrm>
          <a:prstGeom prst="rect">
            <a:avLst/>
          </a:prstGeom>
          <a:noFill/>
          <a:ln/>
        </p:spPr>
        <p:txBody>
          <a:bodyPr wrap="square" lIns="0" tIns="0" rIns="0" bIns="0" rtlCol="0" anchor="ctr"/>
          <a:lstStyle/>
          <a:p>
            <a:pPr indent="0" marL="0">
              <a:buNone/>
            </a:pPr>
            <a:r>
              <a:rPr lang="en-US" sz="1200" dirty="0">
                <a:solidFill>
                  <a:srgbClr val="A8B8D0"/>
                </a:solidFill>
                <a:latin typeface="Calibri" pitchFamily="34" charset="0"/>
                <a:ea typeface="Calibri" pitchFamily="34" charset="-122"/>
                <a:cs typeface="Calibri" pitchFamily="34" charset="-120"/>
              </a:rPr>
              <a:t>Turn the segmentation into specific, owned actions — not just a report that sits in a drive.</a:t>
            </a:r>
            <a:endParaRPr lang="en-US" sz="1200" dirty="0"/>
          </a:p>
        </p:txBody>
      </p:sp>
      <p:sp>
        <p:nvSpPr>
          <p:cNvPr id="20" name="Text 18"/>
          <p:cNvSpPr/>
          <p:nvPr/>
        </p:nvSpPr>
        <p:spPr>
          <a:xfrm>
            <a:off x="457200" y="6528816"/>
            <a:ext cx="7315200" cy="274320"/>
          </a:xfrm>
          <a:prstGeom prst="rect">
            <a:avLst/>
          </a:prstGeom>
          <a:noFill/>
          <a:ln/>
        </p:spPr>
        <p:txBody>
          <a:bodyPr wrap="square" lIns="0" tIns="0" rIns="0" bIns="0" rtlCol="0" anchor="ctr"/>
          <a:lstStyle/>
          <a:p>
            <a:pPr algn="l" indent="0" marL="0">
              <a:buNone/>
            </a:pPr>
            <a:r>
              <a:rPr lang="en-US" sz="900" dirty="0">
                <a:solidFill>
                  <a:srgbClr val="72859E"/>
                </a:solidFill>
                <a:latin typeface="Calibri" pitchFamily="34" charset="0"/>
                <a:ea typeface="Calibri" pitchFamily="34" charset="-122"/>
                <a:cs typeface="Calibri" pitchFamily="34" charset="-120"/>
              </a:rPr>
              <a:t>Online Retail Business · Customer Segmentation</a:t>
            </a:r>
            <a:endParaRPr lang="en-US" sz="900" dirty="0"/>
          </a:p>
        </p:txBody>
      </p:sp>
      <p:sp>
        <p:nvSpPr>
          <p:cNvPr id="21" name="Text 19"/>
          <p:cNvSpPr/>
          <p:nvPr/>
        </p:nvSpPr>
        <p:spPr>
          <a:xfrm>
            <a:off x="11000232" y="6528816"/>
            <a:ext cx="731520" cy="274320"/>
          </a:xfrm>
          <a:prstGeom prst="rect">
            <a:avLst/>
          </a:prstGeom>
          <a:noFill/>
          <a:ln/>
        </p:spPr>
        <p:txBody>
          <a:bodyPr wrap="square" lIns="0" tIns="0" rIns="0" bIns="0" rtlCol="0" anchor="ctr"/>
          <a:lstStyle/>
          <a:p>
            <a:pPr algn="r" indent="0" marL="0">
              <a:buNone/>
            </a:pPr>
            <a:r>
              <a:rPr lang="en-US" sz="900" dirty="0">
                <a:solidFill>
                  <a:srgbClr val="72859E"/>
                </a:solidFill>
                <a:latin typeface="Calibri" pitchFamily="34" charset="0"/>
                <a:ea typeface="Calibri" pitchFamily="34" charset="-122"/>
                <a:cs typeface="Calibri" pitchFamily="34" charset="-120"/>
              </a:rPr>
              <a:t>3 / 18</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B1220"/>
        </a:solidFill>
      </p:bgPr>
    </p:bg>
    <p:spTree>
      <p:nvGrpSpPr>
        <p:cNvPr id="1" name=""/>
        <p:cNvGrpSpPr/>
        <p:nvPr/>
      </p:nvGrpSpPr>
      <p:grpSpPr>
        <a:xfrm>
          <a:off x="0" y="0"/>
          <a:ext cx="0" cy="0"/>
          <a:chOff x="0" y="0"/>
          <a:chExt cx="0" cy="0"/>
        </a:xfrm>
      </p:grpSpPr>
      <p:sp>
        <p:nvSpPr>
          <p:cNvPr id="2" name="Text 0"/>
          <p:cNvSpPr txBox="1"/>
          <p:nvPr/>
        </p:nvSpPr>
        <p:spPr>
          <a:xfrm>
            <a:off x="548640" y="201168"/>
            <a:ext cx="7315200" cy="274320"/>
          </a:xfrm>
          <a:prstGeom prst="rect">
            <a:avLst/>
          </a:prstGeom>
          <a:noFill/>
          <a:ln/>
        </p:spPr>
        <p:txBody>
          <a:bodyPr wrap="square" lIns="0" tIns="0" rIns="0" bIns="0" rtlCol="0" anchor="ctr"/>
          <a:lstStyle/>
          <a:p>
            <a:pPr algn="l" indent="0" marL="0">
              <a:buNone/>
            </a:pPr>
            <a:r>
              <a:rPr lang="en-US" sz="1100" b="1" spc="200" kern="0" dirty="0">
                <a:solidFill>
                  <a:srgbClr val="14B8A6"/>
                </a:solidFill>
                <a:latin typeface="Calibri" pitchFamily="34" charset="0"/>
                <a:ea typeface="Calibri" pitchFamily="34" charset="-122"/>
                <a:cs typeface="Calibri" pitchFamily="34" charset="-120"/>
              </a:rPr>
              <a:t>METHODOLOGY · STEP 1</a:t>
            </a:r>
            <a:endParaRPr lang="en-US" sz="1100" dirty="0"/>
          </a:p>
        </p:txBody>
      </p:sp>
      <p:sp>
        <p:nvSpPr>
          <p:cNvPr id="3" name="Text 1"/>
          <p:cNvSpPr txBox="1"/>
          <p:nvPr/>
        </p:nvSpPr>
        <p:spPr>
          <a:xfrm>
            <a:off x="548640" y="411480"/>
            <a:ext cx="11064240" cy="685800"/>
          </a:xfrm>
          <a:prstGeom prst="rect">
            <a:avLst/>
          </a:prstGeom>
          <a:noFill/>
          <a:ln/>
        </p:spPr>
        <p:txBody>
          <a:bodyPr wrap="square" lIns="0" tIns="0" rIns="0" bIns="0" rtlCol="0" anchor="ctr"/>
          <a:lstStyle/>
          <a:p>
            <a:pPr algn="l" indent="0" marL="0">
              <a:buNone/>
            </a:pPr>
            <a:r>
              <a:rPr lang="en-US" sz="3000" b="1" dirty="0">
                <a:solidFill>
                  <a:srgbClr val="FFFFFF"/>
                </a:solidFill>
                <a:latin typeface="Cambria" pitchFamily="34" charset="0"/>
                <a:ea typeface="Cambria" pitchFamily="34" charset="-122"/>
                <a:cs typeface="Cambria" pitchFamily="34" charset="-120"/>
              </a:rPr>
              <a:t>From Raw Transaction Logs to Customer Profiles</a:t>
            </a:r>
            <a:endParaRPr lang="en-US" sz="3000" dirty="0"/>
          </a:p>
        </p:txBody>
      </p:sp>
      <p:sp>
        <p:nvSpPr>
          <p:cNvPr id="4" name="Text 2"/>
          <p:cNvSpPr txBox="1"/>
          <p:nvPr/>
        </p:nvSpPr>
        <p:spPr>
          <a:xfrm>
            <a:off x="548640" y="1325880"/>
            <a:ext cx="10789920" cy="548640"/>
          </a:xfrm>
          <a:prstGeom prst="rect">
            <a:avLst/>
          </a:prstGeom>
          <a:noFill/>
          <a:ln/>
        </p:spPr>
        <p:txBody>
          <a:bodyPr wrap="square" lIns="0" tIns="0" rIns="0" bIns="0" rtlCol="0" anchor="ctr"/>
          <a:lstStyle/>
          <a:p>
            <a:pPr indent="0" marL="0">
              <a:buNone/>
            </a:pPr>
            <a:r>
              <a:rPr lang="en-US" sz="1300" dirty="0">
                <a:solidFill>
                  <a:srgbClr val="A8B8D0"/>
                </a:solidFill>
                <a:latin typeface="Calibri" pitchFamily="34" charset="0"/>
                <a:ea typeface="Calibri" pitchFamily="34" charset="-122"/>
                <a:cs typeface="Calibri" pitchFamily="34" charset="-120"/>
              </a:rPr>
              <a:t>The source data is a UK online-retail export — one row per line item, not per customer. Before any modeling, it had to be cleaned and re-shaped into one behavioral profile per customer.</a:t>
            </a:r>
            <a:endParaRPr lang="en-US" sz="1300" dirty="0"/>
          </a:p>
        </p:txBody>
      </p:sp>
      <p:sp>
        <p:nvSpPr>
          <p:cNvPr id="5" name="Shape 3"/>
          <p:cNvSpPr/>
          <p:nvPr/>
        </p:nvSpPr>
        <p:spPr>
          <a:xfrm>
            <a:off x="548640" y="2286000"/>
            <a:ext cx="2084832" cy="2011680"/>
          </a:xfrm>
          <a:prstGeom prst="roundRect">
            <a:avLst>
              <a:gd name="adj" fmla="val 5455"/>
            </a:avLst>
          </a:prstGeom>
          <a:solidFill>
            <a:srgbClr val="111F38"/>
          </a:solidFill>
          <a:ln w="9525">
            <a:solidFill>
              <a:srgbClr val="24314E"/>
            </a:solidFill>
            <a:prstDash val="solid"/>
          </a:ln>
        </p:spPr>
      </p:sp>
      <p:sp>
        <p:nvSpPr>
          <p:cNvPr id="6" name="Text 4"/>
          <p:cNvSpPr txBox="1"/>
          <p:nvPr/>
        </p:nvSpPr>
        <p:spPr>
          <a:xfrm>
            <a:off x="685800" y="2450592"/>
            <a:ext cx="1810512" cy="502920"/>
          </a:xfrm>
          <a:prstGeom prst="rect">
            <a:avLst/>
          </a:prstGeom>
          <a:noFill/>
          <a:ln/>
        </p:spPr>
        <p:txBody>
          <a:bodyPr wrap="square" lIns="0" tIns="0" rIns="0" bIns="0" rtlCol="0" anchor="ctr"/>
          <a:lstStyle/>
          <a:p>
            <a:pPr indent="0" marL="0">
              <a:buNone/>
            </a:pPr>
            <a:r>
              <a:rPr lang="en-US" sz="2200" b="1" dirty="0">
                <a:solidFill>
                  <a:srgbClr val="FFFFFF"/>
                </a:solidFill>
                <a:latin typeface="Cambria" pitchFamily="34" charset="0"/>
                <a:ea typeface="Cambria" pitchFamily="34" charset="-122"/>
                <a:cs typeface="Cambria" pitchFamily="34" charset="-120"/>
              </a:rPr>
              <a:t>38,209</a:t>
            </a:r>
            <a:endParaRPr lang="en-US" sz="2200" dirty="0"/>
          </a:p>
        </p:txBody>
      </p:sp>
      <p:sp>
        <p:nvSpPr>
          <p:cNvPr id="7" name="Text 5"/>
          <p:cNvSpPr txBox="1"/>
          <p:nvPr/>
        </p:nvSpPr>
        <p:spPr>
          <a:xfrm>
            <a:off x="685800" y="2944368"/>
            <a:ext cx="1810512" cy="457200"/>
          </a:xfrm>
          <a:prstGeom prst="rect">
            <a:avLst/>
          </a:prstGeom>
          <a:noFill/>
          <a:ln/>
        </p:spPr>
        <p:txBody>
          <a:bodyPr wrap="square" lIns="0" tIns="0" rIns="0" bIns="0" rtlCol="0" anchor="ctr"/>
          <a:lstStyle/>
          <a:p>
            <a:pPr indent="0" marL="0">
              <a:buNone/>
            </a:pPr>
            <a:r>
              <a:rPr lang="en-US" sz="1100" b="1" dirty="0">
                <a:solidFill>
                  <a:srgbClr val="72859E"/>
                </a:solidFill>
                <a:latin typeface="Calibri" pitchFamily="34" charset="0"/>
                <a:ea typeface="Calibri" pitchFamily="34" charset="-122"/>
                <a:cs typeface="Calibri" pitchFamily="34" charset="-120"/>
              </a:rPr>
              <a:t>Raw transaction rows</a:t>
            </a:r>
            <a:endParaRPr lang="en-US" sz="1100" dirty="0"/>
          </a:p>
        </p:txBody>
      </p:sp>
      <p:sp>
        <p:nvSpPr>
          <p:cNvPr id="8" name="Text 6"/>
          <p:cNvSpPr txBox="1"/>
          <p:nvPr/>
        </p:nvSpPr>
        <p:spPr>
          <a:xfrm>
            <a:off x="685800" y="3364992"/>
            <a:ext cx="1810512" cy="868680"/>
          </a:xfrm>
          <a:prstGeom prst="rect">
            <a:avLst/>
          </a:prstGeom>
          <a:noFill/>
          <a:ln/>
        </p:spPr>
        <p:txBody>
          <a:bodyPr wrap="square" lIns="0" tIns="0" rIns="0" bIns="0" rtlCol="0" anchor="ctr"/>
          <a:lstStyle/>
          <a:p>
            <a:pPr indent="0" marL="0">
              <a:buNone/>
            </a:pPr>
            <a:r>
              <a:rPr lang="en-US" sz="900" dirty="0">
                <a:solidFill>
                  <a:srgbClr val="A8B8D0"/>
                </a:solidFill>
                <a:latin typeface="Calibri" pitchFamily="34" charset="0"/>
                <a:ea typeface="Calibri" pitchFamily="34" charset="-122"/>
                <a:cs typeface="Calibri" pitchFamily="34" charset="-120"/>
              </a:rPr>
              <a:t>8 columns: Invoice, StockCode, Description, Quantity, Date, UnitPrice, CustomerID, Country</a:t>
            </a:r>
            <a:endParaRPr lang="en-US" sz="900" dirty="0"/>
          </a:p>
        </p:txBody>
      </p:sp>
      <p:sp>
        <p:nvSpPr>
          <p:cNvPr id="9" name="Text 7"/>
          <p:cNvSpPr txBox="1"/>
          <p:nvPr/>
        </p:nvSpPr>
        <p:spPr>
          <a:xfrm>
            <a:off x="2633472" y="2926080"/>
            <a:ext cx="155448" cy="548640"/>
          </a:xfrm>
          <a:prstGeom prst="rect">
            <a:avLst/>
          </a:prstGeom>
          <a:noFill/>
          <a:ln/>
        </p:spPr>
        <p:txBody>
          <a:bodyPr wrap="square" lIns="0" tIns="0" rIns="0" bIns="0" rtlCol="0" anchor="ctr"/>
          <a:lstStyle/>
          <a:p>
            <a:pPr algn="ctr" indent="0" marL="0">
              <a:buNone/>
            </a:pPr>
            <a:r>
              <a:rPr lang="en-US" sz="1600" dirty="0">
                <a:solidFill>
                  <a:srgbClr val="72859E"/>
                </a:solidFill>
              </a:rPr>
              <a:t>→</a:t>
            </a:r>
            <a:endParaRPr lang="en-US" sz="1600" dirty="0"/>
          </a:p>
        </p:txBody>
      </p:sp>
      <p:sp>
        <p:nvSpPr>
          <p:cNvPr id="10" name="Shape 8"/>
          <p:cNvSpPr/>
          <p:nvPr/>
        </p:nvSpPr>
        <p:spPr>
          <a:xfrm>
            <a:off x="2788920" y="2286000"/>
            <a:ext cx="2084832" cy="2011680"/>
          </a:xfrm>
          <a:prstGeom prst="roundRect">
            <a:avLst>
              <a:gd name="adj" fmla="val 5455"/>
            </a:avLst>
          </a:prstGeom>
          <a:solidFill>
            <a:srgbClr val="111F38"/>
          </a:solidFill>
          <a:ln w="9525">
            <a:solidFill>
              <a:srgbClr val="24314E"/>
            </a:solidFill>
            <a:prstDash val="solid"/>
          </a:ln>
        </p:spPr>
      </p:sp>
      <p:sp>
        <p:nvSpPr>
          <p:cNvPr id="11" name="Text 9"/>
          <p:cNvSpPr txBox="1"/>
          <p:nvPr/>
        </p:nvSpPr>
        <p:spPr>
          <a:xfrm>
            <a:off x="2926080" y="2450592"/>
            <a:ext cx="1810512" cy="502920"/>
          </a:xfrm>
          <a:prstGeom prst="rect">
            <a:avLst/>
          </a:prstGeom>
          <a:noFill/>
          <a:ln/>
        </p:spPr>
        <p:txBody>
          <a:bodyPr wrap="square" lIns="0" tIns="0" rIns="0" bIns="0" rtlCol="0" anchor="ctr"/>
          <a:lstStyle/>
          <a:p>
            <a:pPr indent="0" marL="0">
              <a:buNone/>
            </a:pPr>
            <a:r>
              <a:rPr lang="en-US" sz="2200" b="1" dirty="0">
                <a:solidFill>
                  <a:srgbClr val="FFFFFF"/>
                </a:solidFill>
                <a:latin typeface="Cambria" pitchFamily="34" charset="0"/>
                <a:ea typeface="Cambria" pitchFamily="34" charset="-122"/>
                <a:cs typeface="Cambria" pitchFamily="34" charset="-120"/>
              </a:rPr>
              <a:t>25,033</a:t>
            </a:r>
            <a:endParaRPr lang="en-US" sz="2200" dirty="0"/>
          </a:p>
        </p:txBody>
      </p:sp>
      <p:sp>
        <p:nvSpPr>
          <p:cNvPr id="12" name="Text 10"/>
          <p:cNvSpPr txBox="1"/>
          <p:nvPr/>
        </p:nvSpPr>
        <p:spPr>
          <a:xfrm>
            <a:off x="2926080" y="2944368"/>
            <a:ext cx="1810512" cy="457200"/>
          </a:xfrm>
          <a:prstGeom prst="rect">
            <a:avLst/>
          </a:prstGeom>
          <a:noFill/>
          <a:ln/>
        </p:spPr>
        <p:txBody>
          <a:bodyPr wrap="square" lIns="0" tIns="0" rIns="0" bIns="0" rtlCol="0" anchor="ctr"/>
          <a:lstStyle/>
          <a:p>
            <a:pPr indent="0" marL="0">
              <a:buNone/>
            </a:pPr>
            <a:r>
              <a:rPr lang="en-US" sz="1100" b="1" dirty="0">
                <a:solidFill>
                  <a:srgbClr val="EF4444"/>
                </a:solidFill>
                <a:latin typeface="Calibri" pitchFamily="34" charset="0"/>
                <a:ea typeface="Calibri" pitchFamily="34" charset="-122"/>
                <a:cs typeface="Calibri" pitchFamily="34" charset="-120"/>
              </a:rPr>
              <a:t>Cleaned rows</a:t>
            </a:r>
            <a:endParaRPr lang="en-US" sz="1100" dirty="0"/>
          </a:p>
        </p:txBody>
      </p:sp>
      <p:sp>
        <p:nvSpPr>
          <p:cNvPr id="13" name="Text 11"/>
          <p:cNvSpPr txBox="1"/>
          <p:nvPr/>
        </p:nvSpPr>
        <p:spPr>
          <a:xfrm>
            <a:off x="2926080" y="3364992"/>
            <a:ext cx="1810512" cy="868680"/>
          </a:xfrm>
          <a:prstGeom prst="rect">
            <a:avLst/>
          </a:prstGeom>
          <a:noFill/>
          <a:ln/>
        </p:spPr>
        <p:txBody>
          <a:bodyPr wrap="square" lIns="0" tIns="0" rIns="0" bIns="0" rtlCol="0" anchor="ctr"/>
          <a:lstStyle/>
          <a:p>
            <a:pPr indent="0" marL="0">
              <a:buNone/>
            </a:pPr>
            <a:r>
              <a:rPr lang="en-US" sz="900" dirty="0">
                <a:solidFill>
                  <a:srgbClr val="A8B8D0"/>
                </a:solidFill>
                <a:latin typeface="Calibri" pitchFamily="34" charset="0"/>
                <a:ea typeface="Calibri" pitchFamily="34" charset="-122"/>
                <a:cs typeface="Calibri" pitchFamily="34" charset="-120"/>
              </a:rPr>
              <a:t>−13,176 rows: missing CustomerID, invalid price, or zero quantity</a:t>
            </a:r>
            <a:endParaRPr lang="en-US" sz="900" dirty="0"/>
          </a:p>
        </p:txBody>
      </p:sp>
      <p:sp>
        <p:nvSpPr>
          <p:cNvPr id="14" name="Text 12"/>
          <p:cNvSpPr txBox="1"/>
          <p:nvPr/>
        </p:nvSpPr>
        <p:spPr>
          <a:xfrm>
            <a:off x="4873752" y="2926080"/>
            <a:ext cx="155448" cy="548640"/>
          </a:xfrm>
          <a:prstGeom prst="rect">
            <a:avLst/>
          </a:prstGeom>
          <a:noFill/>
          <a:ln/>
        </p:spPr>
        <p:txBody>
          <a:bodyPr wrap="square" lIns="0" tIns="0" rIns="0" bIns="0" rtlCol="0" anchor="ctr"/>
          <a:lstStyle/>
          <a:p>
            <a:pPr algn="ctr" indent="0" marL="0">
              <a:buNone/>
            </a:pPr>
            <a:r>
              <a:rPr lang="en-US" sz="1600" dirty="0">
                <a:solidFill>
                  <a:srgbClr val="72859E"/>
                </a:solidFill>
              </a:rPr>
              <a:t>→</a:t>
            </a:r>
            <a:endParaRPr lang="en-US" sz="1600" dirty="0"/>
          </a:p>
        </p:txBody>
      </p:sp>
      <p:sp>
        <p:nvSpPr>
          <p:cNvPr id="15" name="Shape 13"/>
          <p:cNvSpPr/>
          <p:nvPr/>
        </p:nvSpPr>
        <p:spPr>
          <a:xfrm>
            <a:off x="5029200" y="2286000"/>
            <a:ext cx="2084832" cy="2011680"/>
          </a:xfrm>
          <a:prstGeom prst="roundRect">
            <a:avLst>
              <a:gd name="adj" fmla="val 5455"/>
            </a:avLst>
          </a:prstGeom>
          <a:solidFill>
            <a:srgbClr val="111F38"/>
          </a:solidFill>
          <a:ln w="9525">
            <a:solidFill>
              <a:srgbClr val="24314E"/>
            </a:solidFill>
            <a:prstDash val="solid"/>
          </a:ln>
        </p:spPr>
      </p:sp>
      <p:sp>
        <p:nvSpPr>
          <p:cNvPr id="16" name="Text 14"/>
          <p:cNvSpPr txBox="1"/>
          <p:nvPr/>
        </p:nvSpPr>
        <p:spPr>
          <a:xfrm>
            <a:off x="5166360" y="2450592"/>
            <a:ext cx="1810512" cy="502920"/>
          </a:xfrm>
          <a:prstGeom prst="rect">
            <a:avLst/>
          </a:prstGeom>
          <a:noFill/>
          <a:ln/>
        </p:spPr>
        <p:txBody>
          <a:bodyPr wrap="square" lIns="0" tIns="0" rIns="0" bIns="0" rtlCol="0" anchor="ctr"/>
          <a:lstStyle/>
          <a:p>
            <a:pPr indent="0" marL="0">
              <a:buNone/>
            </a:pPr>
            <a:r>
              <a:rPr lang="en-US" sz="2200" b="1" dirty="0">
                <a:solidFill>
                  <a:srgbClr val="FFFFFF"/>
                </a:solidFill>
                <a:latin typeface="Cambria" pitchFamily="34" charset="0"/>
                <a:ea typeface="Cambria" pitchFamily="34" charset="-122"/>
                <a:cs typeface="Cambria" pitchFamily="34" charset="-120"/>
              </a:rPr>
              <a:t>909</a:t>
            </a:r>
            <a:endParaRPr lang="en-US" sz="2200" dirty="0"/>
          </a:p>
        </p:txBody>
      </p:sp>
      <p:sp>
        <p:nvSpPr>
          <p:cNvPr id="17" name="Text 15"/>
          <p:cNvSpPr txBox="1"/>
          <p:nvPr/>
        </p:nvSpPr>
        <p:spPr>
          <a:xfrm>
            <a:off x="5166360" y="2944368"/>
            <a:ext cx="1810512" cy="457200"/>
          </a:xfrm>
          <a:prstGeom prst="rect">
            <a:avLst/>
          </a:prstGeom>
          <a:noFill/>
          <a:ln/>
        </p:spPr>
        <p:txBody>
          <a:bodyPr wrap="square" lIns="0" tIns="0" rIns="0" bIns="0" rtlCol="0" anchor="ctr"/>
          <a:lstStyle/>
          <a:p>
            <a:pPr indent="0" marL="0">
              <a:buNone/>
            </a:pPr>
            <a:r>
              <a:rPr lang="en-US" sz="1100" b="1" dirty="0">
                <a:solidFill>
                  <a:srgbClr val="3B82F6"/>
                </a:solidFill>
                <a:latin typeface="Calibri" pitchFamily="34" charset="0"/>
                <a:ea typeface="Calibri" pitchFamily="34" charset="-122"/>
                <a:cs typeface="Calibri" pitchFamily="34" charset="-120"/>
              </a:rPr>
              <a:t>Unique customers</a:t>
            </a:r>
            <a:endParaRPr lang="en-US" sz="1100" dirty="0"/>
          </a:p>
        </p:txBody>
      </p:sp>
      <p:sp>
        <p:nvSpPr>
          <p:cNvPr id="18" name="Text 16"/>
          <p:cNvSpPr txBox="1"/>
          <p:nvPr/>
        </p:nvSpPr>
        <p:spPr>
          <a:xfrm>
            <a:off x="5166360" y="3364992"/>
            <a:ext cx="1810512" cy="868680"/>
          </a:xfrm>
          <a:prstGeom prst="rect">
            <a:avLst/>
          </a:prstGeom>
          <a:noFill/>
          <a:ln/>
        </p:spPr>
        <p:txBody>
          <a:bodyPr wrap="square" lIns="0" tIns="0" rIns="0" bIns="0" rtlCol="0" anchor="ctr"/>
          <a:lstStyle/>
          <a:p>
            <a:pPr indent="0" marL="0">
              <a:buNone/>
            </a:pPr>
            <a:r>
              <a:rPr lang="en-US" sz="900" dirty="0">
                <a:solidFill>
                  <a:srgbClr val="A8B8D0"/>
                </a:solidFill>
                <a:latin typeface="Calibri" pitchFamily="34" charset="0"/>
                <a:ea typeface="Calibri" pitchFamily="34" charset="-122"/>
                <a:cs typeface="Calibri" pitchFamily="34" charset="-120"/>
              </a:rPr>
              <a:t>Grouped and aggregated by CustomerID</a:t>
            </a:r>
            <a:endParaRPr lang="en-US" sz="900" dirty="0"/>
          </a:p>
        </p:txBody>
      </p:sp>
      <p:sp>
        <p:nvSpPr>
          <p:cNvPr id="19" name="Text 17"/>
          <p:cNvSpPr txBox="1"/>
          <p:nvPr/>
        </p:nvSpPr>
        <p:spPr>
          <a:xfrm>
            <a:off x="7114032" y="2926080"/>
            <a:ext cx="155448" cy="548640"/>
          </a:xfrm>
          <a:prstGeom prst="rect">
            <a:avLst/>
          </a:prstGeom>
          <a:noFill/>
          <a:ln/>
        </p:spPr>
        <p:txBody>
          <a:bodyPr wrap="square" lIns="0" tIns="0" rIns="0" bIns="0" rtlCol="0" anchor="ctr"/>
          <a:lstStyle/>
          <a:p>
            <a:pPr algn="ctr" indent="0" marL="0">
              <a:buNone/>
            </a:pPr>
            <a:r>
              <a:rPr lang="en-US" sz="1600" dirty="0">
                <a:solidFill>
                  <a:srgbClr val="72859E"/>
                </a:solidFill>
              </a:rPr>
              <a:t>→</a:t>
            </a:r>
            <a:endParaRPr lang="en-US" sz="1600" dirty="0"/>
          </a:p>
        </p:txBody>
      </p:sp>
      <p:sp>
        <p:nvSpPr>
          <p:cNvPr id="20" name="Shape 18"/>
          <p:cNvSpPr/>
          <p:nvPr/>
        </p:nvSpPr>
        <p:spPr>
          <a:xfrm>
            <a:off x="7269480" y="2286000"/>
            <a:ext cx="2084832" cy="2011680"/>
          </a:xfrm>
          <a:prstGeom prst="roundRect">
            <a:avLst>
              <a:gd name="adj" fmla="val 5455"/>
            </a:avLst>
          </a:prstGeom>
          <a:solidFill>
            <a:srgbClr val="111F38"/>
          </a:solidFill>
          <a:ln w="9525">
            <a:solidFill>
              <a:srgbClr val="24314E"/>
            </a:solidFill>
            <a:prstDash val="solid"/>
          </a:ln>
        </p:spPr>
      </p:sp>
      <p:sp>
        <p:nvSpPr>
          <p:cNvPr id="21" name="Text 19"/>
          <p:cNvSpPr txBox="1"/>
          <p:nvPr/>
        </p:nvSpPr>
        <p:spPr>
          <a:xfrm>
            <a:off x="7406640" y="2450592"/>
            <a:ext cx="1810512" cy="502920"/>
          </a:xfrm>
          <a:prstGeom prst="rect">
            <a:avLst/>
          </a:prstGeom>
          <a:noFill/>
          <a:ln/>
        </p:spPr>
        <p:txBody>
          <a:bodyPr wrap="square" lIns="0" tIns="0" rIns="0" bIns="0" rtlCol="0" anchor="ctr"/>
          <a:lstStyle/>
          <a:p>
            <a:pPr indent="0" marL="0">
              <a:buNone/>
            </a:pPr>
            <a:r>
              <a:rPr lang="en-US" sz="2200" b="1" dirty="0">
                <a:solidFill>
                  <a:srgbClr val="FFFFFF"/>
                </a:solidFill>
                <a:latin typeface="Cambria" pitchFamily="34" charset="0"/>
                <a:ea typeface="Cambria" pitchFamily="34" charset="-122"/>
                <a:cs typeface="Cambria" pitchFamily="34" charset="-120"/>
              </a:rPr>
              <a:t>13</a:t>
            </a:r>
            <a:endParaRPr lang="en-US" sz="2200" dirty="0"/>
          </a:p>
        </p:txBody>
      </p:sp>
      <p:sp>
        <p:nvSpPr>
          <p:cNvPr id="22" name="Text 20"/>
          <p:cNvSpPr txBox="1"/>
          <p:nvPr/>
        </p:nvSpPr>
        <p:spPr>
          <a:xfrm>
            <a:off x="7406640" y="2944368"/>
            <a:ext cx="1810512" cy="457200"/>
          </a:xfrm>
          <a:prstGeom prst="rect">
            <a:avLst/>
          </a:prstGeom>
          <a:noFill/>
          <a:ln/>
        </p:spPr>
        <p:txBody>
          <a:bodyPr wrap="square" lIns="0" tIns="0" rIns="0" bIns="0" rtlCol="0" anchor="ctr"/>
          <a:lstStyle/>
          <a:p>
            <a:pPr indent="0" marL="0">
              <a:buNone/>
            </a:pPr>
            <a:r>
              <a:rPr lang="en-US" sz="1100" b="1" dirty="0">
                <a:solidFill>
                  <a:srgbClr val="F0B429"/>
                </a:solidFill>
                <a:latin typeface="Calibri" pitchFamily="34" charset="0"/>
                <a:ea typeface="Calibri" pitchFamily="34" charset="-122"/>
                <a:cs typeface="Calibri" pitchFamily="34" charset="-120"/>
              </a:rPr>
              <a:t>Behavioral features</a:t>
            </a:r>
            <a:endParaRPr lang="en-US" sz="1100" dirty="0"/>
          </a:p>
        </p:txBody>
      </p:sp>
      <p:sp>
        <p:nvSpPr>
          <p:cNvPr id="23" name="Text 21"/>
          <p:cNvSpPr txBox="1"/>
          <p:nvPr/>
        </p:nvSpPr>
        <p:spPr>
          <a:xfrm>
            <a:off x="7406640" y="3364992"/>
            <a:ext cx="1810512" cy="868680"/>
          </a:xfrm>
          <a:prstGeom prst="rect">
            <a:avLst/>
          </a:prstGeom>
          <a:noFill/>
          <a:ln/>
        </p:spPr>
        <p:txBody>
          <a:bodyPr wrap="square" lIns="0" tIns="0" rIns="0" bIns="0" rtlCol="0" anchor="ctr"/>
          <a:lstStyle/>
          <a:p>
            <a:pPr indent="0" marL="0">
              <a:buNone/>
            </a:pPr>
            <a:r>
              <a:rPr lang="en-US" sz="900" dirty="0">
                <a:solidFill>
                  <a:srgbClr val="A8B8D0"/>
                </a:solidFill>
                <a:latin typeface="Calibri" pitchFamily="34" charset="0"/>
                <a:ea typeface="Calibri" pitchFamily="34" charset="-122"/>
                <a:cs typeface="Calibri" pitchFamily="34" charset="-120"/>
              </a:rPr>
              <a:t>RFM + engagement + risk signals engineered per customer</a:t>
            </a:r>
            <a:endParaRPr lang="en-US" sz="900" dirty="0"/>
          </a:p>
        </p:txBody>
      </p:sp>
      <p:sp>
        <p:nvSpPr>
          <p:cNvPr id="24" name="Text 22"/>
          <p:cNvSpPr txBox="1"/>
          <p:nvPr/>
        </p:nvSpPr>
        <p:spPr>
          <a:xfrm>
            <a:off x="9354312" y="2926080"/>
            <a:ext cx="155448" cy="548640"/>
          </a:xfrm>
          <a:prstGeom prst="rect">
            <a:avLst/>
          </a:prstGeom>
          <a:noFill/>
          <a:ln/>
        </p:spPr>
        <p:txBody>
          <a:bodyPr wrap="square" lIns="0" tIns="0" rIns="0" bIns="0" rtlCol="0" anchor="ctr"/>
          <a:lstStyle/>
          <a:p>
            <a:pPr algn="ctr" indent="0" marL="0">
              <a:buNone/>
            </a:pPr>
            <a:r>
              <a:rPr lang="en-US" sz="1600" dirty="0">
                <a:solidFill>
                  <a:srgbClr val="72859E"/>
                </a:solidFill>
              </a:rPr>
              <a:t>→</a:t>
            </a:r>
            <a:endParaRPr lang="en-US" sz="1600" dirty="0"/>
          </a:p>
        </p:txBody>
      </p:sp>
      <p:sp>
        <p:nvSpPr>
          <p:cNvPr id="25" name="Shape 23"/>
          <p:cNvSpPr/>
          <p:nvPr/>
        </p:nvSpPr>
        <p:spPr>
          <a:xfrm>
            <a:off x="9509760" y="2286000"/>
            <a:ext cx="2084832" cy="2011680"/>
          </a:xfrm>
          <a:prstGeom prst="roundRect">
            <a:avLst>
              <a:gd name="adj" fmla="val 5455"/>
            </a:avLst>
          </a:prstGeom>
          <a:solidFill>
            <a:srgbClr val="111F38"/>
          </a:solidFill>
          <a:ln w="9525">
            <a:solidFill>
              <a:srgbClr val="24314E"/>
            </a:solidFill>
            <a:prstDash val="solid"/>
          </a:ln>
        </p:spPr>
      </p:sp>
      <p:sp>
        <p:nvSpPr>
          <p:cNvPr id="26" name="Text 24"/>
          <p:cNvSpPr txBox="1"/>
          <p:nvPr/>
        </p:nvSpPr>
        <p:spPr>
          <a:xfrm>
            <a:off x="9646920" y="2450592"/>
            <a:ext cx="1810512" cy="502920"/>
          </a:xfrm>
          <a:prstGeom prst="rect">
            <a:avLst/>
          </a:prstGeom>
          <a:noFill/>
          <a:ln/>
        </p:spPr>
        <p:txBody>
          <a:bodyPr wrap="square" lIns="0" tIns="0" rIns="0" bIns="0" rtlCol="0" anchor="ctr"/>
          <a:lstStyle/>
          <a:p>
            <a:pPr indent="0" marL="0">
              <a:buNone/>
            </a:pPr>
            <a:r>
              <a:rPr lang="en-US" sz="2200" b="1" dirty="0">
                <a:solidFill>
                  <a:srgbClr val="FFFFFF"/>
                </a:solidFill>
                <a:latin typeface="Cambria" pitchFamily="34" charset="0"/>
                <a:ea typeface="Cambria" pitchFamily="34" charset="-122"/>
                <a:cs typeface="Cambria" pitchFamily="34" charset="-120"/>
              </a:rPr>
              <a:t>3</a:t>
            </a:r>
            <a:endParaRPr lang="en-US" sz="2200" dirty="0"/>
          </a:p>
        </p:txBody>
      </p:sp>
      <p:sp>
        <p:nvSpPr>
          <p:cNvPr id="27" name="Text 25"/>
          <p:cNvSpPr txBox="1"/>
          <p:nvPr/>
        </p:nvSpPr>
        <p:spPr>
          <a:xfrm>
            <a:off x="9646920" y="2944368"/>
            <a:ext cx="1810512" cy="457200"/>
          </a:xfrm>
          <a:prstGeom prst="rect">
            <a:avLst/>
          </a:prstGeom>
          <a:noFill/>
          <a:ln/>
        </p:spPr>
        <p:txBody>
          <a:bodyPr wrap="square" lIns="0" tIns="0" rIns="0" bIns="0" rtlCol="0" anchor="ctr"/>
          <a:lstStyle/>
          <a:p>
            <a:pPr indent="0" marL="0">
              <a:buNone/>
            </a:pPr>
            <a:r>
              <a:rPr lang="en-US" sz="1100" b="1" dirty="0">
                <a:solidFill>
                  <a:srgbClr val="22C55E"/>
                </a:solidFill>
                <a:latin typeface="Calibri" pitchFamily="34" charset="0"/>
                <a:ea typeface="Calibri" pitchFamily="34" charset="-122"/>
                <a:cs typeface="Calibri" pitchFamily="34" charset="-120"/>
              </a:rPr>
              <a:t>Final segments</a:t>
            </a:r>
            <a:endParaRPr lang="en-US" sz="1100" dirty="0"/>
          </a:p>
        </p:txBody>
      </p:sp>
      <p:sp>
        <p:nvSpPr>
          <p:cNvPr id="28" name="Text 26"/>
          <p:cNvSpPr txBox="1"/>
          <p:nvPr/>
        </p:nvSpPr>
        <p:spPr>
          <a:xfrm>
            <a:off x="9646920" y="3364992"/>
            <a:ext cx="1810512" cy="868680"/>
          </a:xfrm>
          <a:prstGeom prst="rect">
            <a:avLst/>
          </a:prstGeom>
          <a:noFill/>
          <a:ln/>
        </p:spPr>
        <p:txBody>
          <a:bodyPr wrap="square" lIns="0" tIns="0" rIns="0" bIns="0" rtlCol="0" anchor="ctr"/>
          <a:lstStyle/>
          <a:p>
            <a:pPr indent="0" marL="0">
              <a:buNone/>
            </a:pPr>
            <a:r>
              <a:rPr lang="en-US" sz="900" dirty="0">
                <a:solidFill>
                  <a:srgbClr val="A8B8D0"/>
                </a:solidFill>
                <a:latin typeface="Calibri" pitchFamily="34" charset="0"/>
                <a:ea typeface="Calibri" pitchFamily="34" charset="-122"/>
                <a:cs typeface="Calibri" pitchFamily="34" charset="-120"/>
              </a:rPr>
              <a:t>KMeans, validated by silhouette score</a:t>
            </a:r>
            <a:endParaRPr lang="en-US" sz="900" dirty="0"/>
          </a:p>
        </p:txBody>
      </p:sp>
      <p:sp>
        <p:nvSpPr>
          <p:cNvPr id="29" name="Shape 27"/>
          <p:cNvSpPr/>
          <p:nvPr/>
        </p:nvSpPr>
        <p:spPr>
          <a:xfrm>
            <a:off x="548640" y="4663440"/>
            <a:ext cx="11064240" cy="1371600"/>
          </a:xfrm>
          <a:prstGeom prst="roundRect">
            <a:avLst>
              <a:gd name="adj" fmla="val 8000"/>
            </a:avLst>
          </a:prstGeom>
          <a:solidFill>
            <a:srgbClr val="0F1B30"/>
          </a:solidFill>
          <a:ln w="12700">
            <a:solidFill>
              <a:srgbClr val="EF4444"/>
            </a:solidFill>
            <a:prstDash val="solid"/>
          </a:ln>
        </p:spPr>
      </p:sp>
      <p:sp>
        <p:nvSpPr>
          <p:cNvPr id="30" name="Shape 28"/>
          <p:cNvSpPr/>
          <p:nvPr/>
        </p:nvSpPr>
        <p:spPr>
          <a:xfrm>
            <a:off x="777240" y="4892040"/>
            <a:ext cx="502920" cy="502920"/>
          </a:xfrm>
          <a:prstGeom prst="ellipse">
            <a:avLst/>
          </a:prstGeom>
          <a:solidFill>
            <a:srgbClr val="EF4444">
              <a:alpha val="18000"/>
            </a:srgbClr>
          </a:solidFill>
          <a:ln w="12700">
            <a:solidFill>
              <a:srgbClr val="EF4444"/>
            </a:solidFill>
            <a:prstDash val="solid"/>
          </a:ln>
        </p:spPr>
      </p:sp>
      <p:sp>
        <p:nvSpPr>
          <p:cNvPr id="31" name="Text 29"/>
          <p:cNvSpPr txBox="1"/>
          <p:nvPr/>
        </p:nvSpPr>
        <p:spPr>
          <a:xfrm>
            <a:off x="777240" y="4873752"/>
            <a:ext cx="502920" cy="502920"/>
          </a:xfrm>
          <a:prstGeom prst="rect">
            <a:avLst/>
          </a:prstGeom>
          <a:noFill/>
          <a:ln/>
        </p:spPr>
        <p:txBody>
          <a:bodyPr wrap="square" lIns="0" tIns="0" rIns="0" bIns="0" rtlCol="0" anchor="ctr"/>
          <a:lstStyle/>
          <a:p>
            <a:pPr algn="ctr" indent="0" marL="0">
              <a:buNone/>
            </a:pPr>
            <a:r>
              <a:rPr lang="en-US" sz="1430" dirty="0">
                <a:solidFill>
                  <a:srgbClr val="EF4444"/>
                </a:solidFill>
                <a:latin typeface="Calibri" pitchFamily="34" charset="0"/>
                <a:ea typeface="Calibri" pitchFamily="34" charset="-122"/>
                <a:cs typeface="Calibri" pitchFamily="34" charset="-120"/>
              </a:rPr>
              <a:t>🧪</a:t>
            </a:r>
            <a:endParaRPr lang="en-US" sz="1430" dirty="0"/>
          </a:p>
        </p:txBody>
      </p:sp>
      <p:sp>
        <p:nvSpPr>
          <p:cNvPr id="32" name="Text 30"/>
          <p:cNvSpPr txBox="1"/>
          <p:nvPr/>
        </p:nvSpPr>
        <p:spPr>
          <a:xfrm>
            <a:off x="1463040" y="4828032"/>
            <a:ext cx="9966960" cy="1051560"/>
          </a:xfrm>
          <a:prstGeom prst="rect">
            <a:avLst/>
          </a:prstGeom>
          <a:noFill/>
          <a:ln/>
        </p:spPr>
        <p:txBody>
          <a:bodyPr wrap="square" lIns="0" tIns="0" rIns="0" bIns="0" rtlCol="0" anchor="ctr"/>
          <a:lstStyle/>
          <a:p>
            <a:pPr indent="0" marL="0">
              <a:lnSpc>
                <a:spcPct val="125000"/>
              </a:lnSpc>
              <a:buNone/>
            </a:pPr>
            <a:r>
              <a:rPr lang="en-US" sz="1150" b="1" dirty="0">
                <a:solidFill>
                  <a:srgbClr val="FFFFFF"/>
                </a:solidFill>
                <a:latin typeface="Calibri" pitchFamily="34" charset="0"/>
                <a:ea typeface="Calibri" pitchFamily="34" charset="-122"/>
                <a:cs typeface="Calibri" pitchFamily="34" charset="-120"/>
              </a:rPr>
              <a:t>Why nearly a third of rows were dropped:  </a:t>
            </a:r>
            <a:pPr indent="0" marL="0">
              <a:lnSpc>
                <a:spcPct val="125000"/>
              </a:lnSpc>
              <a:buNone/>
            </a:pPr>
            <a:r>
              <a:rPr lang="en-US" sz="1150" dirty="0">
                <a:solidFill>
                  <a:srgbClr val="A8B8D0"/>
                </a:solidFill>
                <a:latin typeface="Calibri" pitchFamily="34" charset="0"/>
                <a:ea typeface="Calibri" pitchFamily="34" charset="-122"/>
                <a:cs typeface="Calibri" pitchFamily="34" charset="-120"/>
              </a:rPr>
              <a:t>segmentation is done at the customer level, so line items without a CustomerID (guest checkouts / unlinked orders) can't be attributed to a profile and were excluded, along with invalid price/quantity rows. Worth flagging: roughly 1 in 3 raw transactions could not be tied to a known customer.</a:t>
            </a:r>
            <a:endParaRPr lang="en-US" sz="1150" dirty="0"/>
          </a:p>
        </p:txBody>
      </p:sp>
      <p:sp>
        <p:nvSpPr>
          <p:cNvPr id="33" name="Text 31"/>
          <p:cNvSpPr/>
          <p:nvPr/>
        </p:nvSpPr>
        <p:spPr>
          <a:xfrm>
            <a:off x="457200" y="6528816"/>
            <a:ext cx="7315200" cy="274320"/>
          </a:xfrm>
          <a:prstGeom prst="rect">
            <a:avLst/>
          </a:prstGeom>
          <a:noFill/>
          <a:ln/>
        </p:spPr>
        <p:txBody>
          <a:bodyPr wrap="square" lIns="0" tIns="0" rIns="0" bIns="0" rtlCol="0" anchor="ctr"/>
          <a:lstStyle/>
          <a:p>
            <a:pPr algn="l" indent="0" marL="0">
              <a:buNone/>
            </a:pPr>
            <a:r>
              <a:rPr lang="en-US" sz="900" dirty="0">
                <a:solidFill>
                  <a:srgbClr val="72859E"/>
                </a:solidFill>
                <a:latin typeface="Calibri" pitchFamily="34" charset="0"/>
                <a:ea typeface="Calibri" pitchFamily="34" charset="-122"/>
                <a:cs typeface="Calibri" pitchFamily="34" charset="-120"/>
              </a:rPr>
              <a:t>Online Retail Business · Customer Segmentation</a:t>
            </a:r>
            <a:endParaRPr lang="en-US" sz="900" dirty="0"/>
          </a:p>
        </p:txBody>
      </p:sp>
      <p:sp>
        <p:nvSpPr>
          <p:cNvPr id="34" name="Text 32"/>
          <p:cNvSpPr/>
          <p:nvPr/>
        </p:nvSpPr>
        <p:spPr>
          <a:xfrm>
            <a:off x="11000232" y="6528816"/>
            <a:ext cx="731520" cy="274320"/>
          </a:xfrm>
          <a:prstGeom prst="rect">
            <a:avLst/>
          </a:prstGeom>
          <a:noFill/>
          <a:ln/>
        </p:spPr>
        <p:txBody>
          <a:bodyPr wrap="square" lIns="0" tIns="0" rIns="0" bIns="0" rtlCol="0" anchor="ctr"/>
          <a:lstStyle/>
          <a:p>
            <a:pPr algn="r" indent="0" marL="0">
              <a:buNone/>
            </a:pPr>
            <a:r>
              <a:rPr lang="en-US" sz="900" dirty="0">
                <a:solidFill>
                  <a:srgbClr val="72859E"/>
                </a:solidFill>
                <a:latin typeface="Calibri" pitchFamily="34" charset="0"/>
                <a:ea typeface="Calibri" pitchFamily="34" charset="-122"/>
                <a:cs typeface="Calibri" pitchFamily="34" charset="-120"/>
              </a:rPr>
              <a:t>4 / 18</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B1220"/>
        </a:solidFill>
      </p:bgPr>
    </p:bg>
    <p:spTree>
      <p:nvGrpSpPr>
        <p:cNvPr id="1" name=""/>
        <p:cNvGrpSpPr/>
        <p:nvPr/>
      </p:nvGrpSpPr>
      <p:grpSpPr>
        <a:xfrm>
          <a:off x="0" y="0"/>
          <a:ext cx="0" cy="0"/>
          <a:chOff x="0" y="0"/>
          <a:chExt cx="0" cy="0"/>
        </a:xfrm>
      </p:grpSpPr>
      <p:sp>
        <p:nvSpPr>
          <p:cNvPr id="2" name="Text 0"/>
          <p:cNvSpPr txBox="1"/>
          <p:nvPr/>
        </p:nvSpPr>
        <p:spPr>
          <a:xfrm>
            <a:off x="548640" y="201168"/>
            <a:ext cx="7315200" cy="274320"/>
          </a:xfrm>
          <a:prstGeom prst="rect">
            <a:avLst/>
          </a:prstGeom>
          <a:noFill/>
          <a:ln/>
        </p:spPr>
        <p:txBody>
          <a:bodyPr wrap="square" lIns="0" tIns="0" rIns="0" bIns="0" rtlCol="0" anchor="ctr"/>
          <a:lstStyle/>
          <a:p>
            <a:pPr algn="l" indent="0" marL="0">
              <a:buNone/>
            </a:pPr>
            <a:r>
              <a:rPr lang="en-US" sz="1100" b="1" spc="200" kern="0" dirty="0">
                <a:solidFill>
                  <a:srgbClr val="14B8A6"/>
                </a:solidFill>
                <a:latin typeface="Calibri" pitchFamily="34" charset="0"/>
                <a:ea typeface="Calibri" pitchFamily="34" charset="-122"/>
                <a:cs typeface="Calibri" pitchFamily="34" charset="-120"/>
              </a:rPr>
              <a:t>METHODOLOGY · STEP 2</a:t>
            </a:r>
            <a:endParaRPr lang="en-US" sz="1100" dirty="0"/>
          </a:p>
        </p:txBody>
      </p:sp>
      <p:sp>
        <p:nvSpPr>
          <p:cNvPr id="3" name="Text 1"/>
          <p:cNvSpPr txBox="1"/>
          <p:nvPr/>
        </p:nvSpPr>
        <p:spPr>
          <a:xfrm>
            <a:off x="548640" y="411480"/>
            <a:ext cx="11064240" cy="685800"/>
          </a:xfrm>
          <a:prstGeom prst="rect">
            <a:avLst/>
          </a:prstGeom>
          <a:noFill/>
          <a:ln/>
        </p:spPr>
        <p:txBody>
          <a:bodyPr wrap="square" lIns="0" tIns="0" rIns="0" bIns="0" rtlCol="0" anchor="ctr"/>
          <a:lstStyle/>
          <a:p>
            <a:pPr algn="l" indent="0" marL="0">
              <a:buNone/>
            </a:pPr>
            <a:r>
              <a:rPr lang="en-US" sz="3000" b="1" dirty="0">
                <a:solidFill>
                  <a:srgbClr val="FFFFFF"/>
                </a:solidFill>
                <a:latin typeface="Cambria" pitchFamily="34" charset="0"/>
                <a:ea typeface="Cambria" pitchFamily="34" charset="-122"/>
                <a:cs typeface="Cambria" pitchFamily="34" charset="-120"/>
              </a:rPr>
              <a:t>Data Quality — What We Found While Cleaning</a:t>
            </a:r>
            <a:endParaRPr lang="en-US" sz="3000" dirty="0"/>
          </a:p>
        </p:txBody>
      </p:sp>
      <p:sp>
        <p:nvSpPr>
          <p:cNvPr id="4" name="Text 2"/>
          <p:cNvSpPr txBox="1"/>
          <p:nvPr/>
        </p:nvSpPr>
        <p:spPr>
          <a:xfrm>
            <a:off x="548640" y="1325880"/>
            <a:ext cx="10789920" cy="548640"/>
          </a:xfrm>
          <a:prstGeom prst="rect">
            <a:avLst/>
          </a:prstGeom>
          <a:noFill/>
          <a:ln/>
        </p:spPr>
        <p:txBody>
          <a:bodyPr wrap="square" lIns="0" tIns="0" rIns="0" bIns="0" rtlCol="0" anchor="ctr"/>
          <a:lstStyle/>
          <a:p>
            <a:pPr indent="0" marL="0">
              <a:buNone/>
            </a:pPr>
            <a:r>
              <a:rPr lang="en-US" sz="1250" dirty="0">
                <a:solidFill>
                  <a:srgbClr val="A8B8D0"/>
                </a:solidFill>
                <a:latin typeface="Calibri" pitchFamily="34" charset="0"/>
                <a:ea typeface="Calibri" pitchFamily="34" charset="-122"/>
                <a:cs typeface="Calibri" pitchFamily="34" charset="-120"/>
              </a:rPr>
              <a:t>Before trusting any downstream number, every raw column was checked. Four concrete problems surfaced — each handled differently depending on whether it blocks customer-level analysis.</a:t>
            </a:r>
            <a:endParaRPr lang="en-US" sz="1250" dirty="0"/>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548640" y="2011680"/>
          <a:ext cx="11064240" cy="2606040"/>
        </p:xfrm>
        <a:graphic>
          <a:graphicData uri="http://schemas.openxmlformats.org/drawingml/2006/table">
            <a:tbl>
              <a:tblPr/>
              <a:tblGrid>
                <a:gridCol w="2834640"/>
                <a:gridCol w="1737360"/>
                <a:gridCol w="1645920"/>
                <a:gridCol w="4846320"/>
              </a:tblGrid>
              <a:tr h="434340">
                <a:tc>
                  <a:txBody>
                    <a:bodyPr/>
                    <a:lstStyle/>
                    <a:p>
                      <a:pPr indent="0" marL="0">
                        <a:buNone/>
                      </a:pPr>
                      <a:r>
                        <a:rPr lang="en-US" sz="1050" b="1" dirty="0">
                          <a:solidFill>
                            <a:srgbClr val="72859E"/>
                          </a:solidFill>
                          <a:latin typeface="Calibri" pitchFamily="34" charset="0"/>
                          <a:ea typeface="Calibri" pitchFamily="34" charset="-122"/>
                          <a:cs typeface="Calibri" pitchFamily="34" charset="-120"/>
                        </a:rPr>
                        <a:t>Problem</a:t>
                      </a:r>
                      <a:endParaRPr lang="en-US" sz="1050" dirty="0">
                        <a:latin typeface="Calibri" charset="0"/>
                        <a:ea typeface="Calibri" charset="0"/>
                        <a:cs typeface="Calibri" charset="0"/>
                      </a:endParaRPr>
                    </a:p>
                  </a:txBody>
                  <a:tcPr marL="91440" marR="91440" marT="45720" marB="45720" anchor="ctr">
                    <a:lnL w="9525" cap="flat" cmpd="sng" algn="ctr">
                      <a:solidFill>
                        <a:srgbClr val="24314E"/>
                      </a:solidFill>
                      <a:prstDash val="solid"/>
                      <a:round/>
                      <a:headEnd type="none" w="med" len="med"/>
                      <a:tailEnd type="none" w="med" len="med"/>
                    </a:lnL>
                    <a:lnR w="9525" cap="flat" cmpd="sng" algn="ctr">
                      <a:solidFill>
                        <a:srgbClr val="24314E"/>
                      </a:solidFill>
                      <a:prstDash val="solid"/>
                      <a:round/>
                      <a:headEnd type="none" w="med" len="med"/>
                      <a:tailEnd type="none" w="med" len="med"/>
                    </a:lnR>
                    <a:lnT w="9525" cap="flat" cmpd="sng" algn="ctr">
                      <a:solidFill>
                        <a:srgbClr val="24314E"/>
                      </a:solidFill>
                      <a:prstDash val="solid"/>
                      <a:round/>
                      <a:headEnd type="none" w="med" len="med"/>
                      <a:tailEnd type="none" w="med" len="med"/>
                    </a:lnT>
                    <a:lnB w="9525" cap="flat" cmpd="sng" algn="ctr">
                      <a:solidFill>
                        <a:srgbClr val="24314E"/>
                      </a:solidFill>
                      <a:prstDash val="solid"/>
                      <a:round/>
                      <a:headEnd type="none" w="med" len="med"/>
                      <a:tailEnd type="none" w="med" len="med"/>
                    </a:lnB>
                    <a:solidFill>
                      <a:srgbClr val="111F38"/>
                    </a:solidFill>
                  </a:tcPr>
                </a:tc>
                <a:tc>
                  <a:txBody>
                    <a:bodyPr/>
                    <a:lstStyle/>
                    <a:p>
                      <a:pPr indent="0" marL="0">
                        <a:buNone/>
                      </a:pPr>
                      <a:r>
                        <a:rPr lang="en-US" sz="1050" b="1" dirty="0">
                          <a:solidFill>
                            <a:srgbClr val="72859E"/>
                          </a:solidFill>
                          <a:latin typeface="Calibri" pitchFamily="34" charset="0"/>
                          <a:ea typeface="Calibri" pitchFamily="34" charset="-122"/>
                          <a:cs typeface="Calibri" pitchFamily="34" charset="-120"/>
                        </a:rPr>
                        <a:t>Rows Affected</a:t>
                      </a:r>
                      <a:endParaRPr lang="en-US" sz="1050" dirty="0">
                        <a:latin typeface="Calibri" charset="0"/>
                        <a:ea typeface="Calibri" charset="0"/>
                        <a:cs typeface="Calibri" charset="0"/>
                      </a:endParaRPr>
                    </a:p>
                  </a:txBody>
                  <a:tcPr marL="91440" marR="91440" marT="45720" marB="45720" anchor="ctr">
                    <a:lnL w="9525" cap="flat" cmpd="sng" algn="ctr">
                      <a:solidFill>
                        <a:srgbClr val="24314E"/>
                      </a:solidFill>
                      <a:prstDash val="solid"/>
                      <a:round/>
                      <a:headEnd type="none" w="med" len="med"/>
                      <a:tailEnd type="none" w="med" len="med"/>
                    </a:lnL>
                    <a:lnR w="9525" cap="flat" cmpd="sng" algn="ctr">
                      <a:solidFill>
                        <a:srgbClr val="24314E"/>
                      </a:solidFill>
                      <a:prstDash val="solid"/>
                      <a:round/>
                      <a:headEnd type="none" w="med" len="med"/>
                      <a:tailEnd type="none" w="med" len="med"/>
                    </a:lnR>
                    <a:lnT w="9525" cap="flat" cmpd="sng" algn="ctr">
                      <a:solidFill>
                        <a:srgbClr val="24314E"/>
                      </a:solidFill>
                      <a:prstDash val="solid"/>
                      <a:round/>
                      <a:headEnd type="none" w="med" len="med"/>
                      <a:tailEnd type="none" w="med" len="med"/>
                    </a:lnT>
                    <a:lnB w="9525" cap="flat" cmpd="sng" algn="ctr">
                      <a:solidFill>
                        <a:srgbClr val="24314E"/>
                      </a:solidFill>
                      <a:prstDash val="solid"/>
                      <a:round/>
                      <a:headEnd type="none" w="med" len="med"/>
                      <a:tailEnd type="none" w="med" len="med"/>
                    </a:lnB>
                    <a:solidFill>
                      <a:srgbClr val="111F38"/>
                    </a:solidFill>
                  </a:tcPr>
                </a:tc>
                <a:tc>
                  <a:txBody>
                    <a:bodyPr/>
                    <a:lstStyle/>
                    <a:p>
                      <a:pPr indent="0" marL="0">
                        <a:buNone/>
                      </a:pPr>
                      <a:r>
                        <a:rPr lang="en-US" sz="1050" b="1" dirty="0">
                          <a:solidFill>
                            <a:srgbClr val="72859E"/>
                          </a:solidFill>
                          <a:latin typeface="Calibri" pitchFamily="34" charset="0"/>
                          <a:ea typeface="Calibri" pitchFamily="34" charset="-122"/>
                          <a:cs typeface="Calibri" pitchFamily="34" charset="-120"/>
                        </a:rPr>
                        <a:t>% of Raw Data</a:t>
                      </a:r>
                      <a:endParaRPr lang="en-US" sz="1050" dirty="0">
                        <a:latin typeface="Calibri" charset="0"/>
                        <a:ea typeface="Calibri" charset="0"/>
                        <a:cs typeface="Calibri" charset="0"/>
                      </a:endParaRPr>
                    </a:p>
                  </a:txBody>
                  <a:tcPr marL="91440" marR="91440" marT="45720" marB="45720" anchor="ctr">
                    <a:lnL w="9525" cap="flat" cmpd="sng" algn="ctr">
                      <a:solidFill>
                        <a:srgbClr val="24314E"/>
                      </a:solidFill>
                      <a:prstDash val="solid"/>
                      <a:round/>
                      <a:headEnd type="none" w="med" len="med"/>
                      <a:tailEnd type="none" w="med" len="med"/>
                    </a:lnL>
                    <a:lnR w="9525" cap="flat" cmpd="sng" algn="ctr">
                      <a:solidFill>
                        <a:srgbClr val="24314E"/>
                      </a:solidFill>
                      <a:prstDash val="solid"/>
                      <a:round/>
                      <a:headEnd type="none" w="med" len="med"/>
                      <a:tailEnd type="none" w="med" len="med"/>
                    </a:lnR>
                    <a:lnT w="9525" cap="flat" cmpd="sng" algn="ctr">
                      <a:solidFill>
                        <a:srgbClr val="24314E"/>
                      </a:solidFill>
                      <a:prstDash val="solid"/>
                      <a:round/>
                      <a:headEnd type="none" w="med" len="med"/>
                      <a:tailEnd type="none" w="med" len="med"/>
                    </a:lnT>
                    <a:lnB w="9525" cap="flat" cmpd="sng" algn="ctr">
                      <a:solidFill>
                        <a:srgbClr val="24314E"/>
                      </a:solidFill>
                      <a:prstDash val="solid"/>
                      <a:round/>
                      <a:headEnd type="none" w="med" len="med"/>
                      <a:tailEnd type="none" w="med" len="med"/>
                    </a:lnB>
                    <a:solidFill>
                      <a:srgbClr val="111F38"/>
                    </a:solidFill>
                  </a:tcPr>
                </a:tc>
                <a:tc>
                  <a:txBody>
                    <a:bodyPr/>
                    <a:lstStyle/>
                    <a:p>
                      <a:pPr indent="0" marL="0">
                        <a:buNone/>
                      </a:pPr>
                      <a:r>
                        <a:rPr lang="en-US" sz="1050" b="1" dirty="0">
                          <a:solidFill>
                            <a:srgbClr val="72859E"/>
                          </a:solidFill>
                          <a:latin typeface="Calibri" pitchFamily="34" charset="0"/>
                          <a:ea typeface="Calibri" pitchFamily="34" charset="-122"/>
                          <a:cs typeface="Calibri" pitchFamily="34" charset="-120"/>
                        </a:rPr>
                        <a:t>Action Taken</a:t>
                      </a:r>
                      <a:endParaRPr lang="en-US" sz="1050" dirty="0">
                        <a:latin typeface="Calibri" charset="0"/>
                        <a:ea typeface="Calibri" charset="0"/>
                        <a:cs typeface="Calibri" charset="0"/>
                      </a:endParaRPr>
                    </a:p>
                  </a:txBody>
                  <a:tcPr marL="91440" marR="91440" marT="45720" marB="45720" anchor="ctr">
                    <a:lnL w="9525" cap="flat" cmpd="sng" algn="ctr">
                      <a:solidFill>
                        <a:srgbClr val="24314E"/>
                      </a:solidFill>
                      <a:prstDash val="solid"/>
                      <a:round/>
                      <a:headEnd type="none" w="med" len="med"/>
                      <a:tailEnd type="none" w="med" len="med"/>
                    </a:lnL>
                    <a:lnR w="9525" cap="flat" cmpd="sng" algn="ctr">
                      <a:solidFill>
                        <a:srgbClr val="24314E"/>
                      </a:solidFill>
                      <a:prstDash val="solid"/>
                      <a:round/>
                      <a:headEnd type="none" w="med" len="med"/>
                      <a:tailEnd type="none" w="med" len="med"/>
                    </a:lnR>
                    <a:lnT w="9525" cap="flat" cmpd="sng" algn="ctr">
                      <a:solidFill>
                        <a:srgbClr val="24314E"/>
                      </a:solidFill>
                      <a:prstDash val="solid"/>
                      <a:round/>
                      <a:headEnd type="none" w="med" len="med"/>
                      <a:tailEnd type="none" w="med" len="med"/>
                    </a:lnT>
                    <a:lnB w="9525" cap="flat" cmpd="sng" algn="ctr">
                      <a:solidFill>
                        <a:srgbClr val="24314E"/>
                      </a:solidFill>
                      <a:prstDash val="solid"/>
                      <a:round/>
                      <a:headEnd type="none" w="med" len="med"/>
                      <a:tailEnd type="none" w="med" len="med"/>
                    </a:lnB>
                    <a:solidFill>
                      <a:srgbClr val="111F38"/>
                    </a:solidFill>
                  </a:tcPr>
                </a:tc>
              </a:tr>
              <a:tr h="434340">
                <a:tc>
                  <a:txBody>
                    <a:bodyPr/>
                    <a:lstStyle/>
                    <a:p>
                      <a:pPr indent="0" marL="0">
                        <a:buNone/>
                      </a:pPr>
                      <a:r>
                        <a:rPr lang="en-US" sz="1050" b="1" dirty="0">
                          <a:solidFill>
                            <a:srgbClr val="EF4444"/>
                          </a:solidFill>
                          <a:latin typeface="Calibri" pitchFamily="34" charset="0"/>
                          <a:ea typeface="Calibri" pitchFamily="34" charset="-122"/>
                          <a:cs typeface="Calibri" pitchFamily="34" charset="-120"/>
                        </a:rPr>
                        <a:t>Missing CustomerID</a:t>
                      </a:r>
                      <a:endParaRPr lang="en-US" sz="1050" dirty="0">
                        <a:latin typeface="Calibri" charset="0"/>
                        <a:ea typeface="Calibri" charset="0"/>
                        <a:cs typeface="Calibri" charset="0"/>
                      </a:endParaRPr>
                    </a:p>
                  </a:txBody>
                  <a:tcPr marL="91440" marR="91440" marT="45720" marB="45720" anchor="ctr">
                    <a:lnL w="9525" cap="flat" cmpd="sng" algn="ctr">
                      <a:solidFill>
                        <a:srgbClr val="24314E"/>
                      </a:solidFill>
                      <a:prstDash val="solid"/>
                      <a:round/>
                      <a:headEnd type="none" w="med" len="med"/>
                      <a:tailEnd type="none" w="med" len="med"/>
                    </a:lnL>
                    <a:lnR w="9525" cap="flat" cmpd="sng" algn="ctr">
                      <a:solidFill>
                        <a:srgbClr val="24314E"/>
                      </a:solidFill>
                      <a:prstDash val="solid"/>
                      <a:round/>
                      <a:headEnd type="none" w="med" len="med"/>
                      <a:tailEnd type="none" w="med" len="med"/>
                    </a:lnR>
                    <a:lnT w="9525" cap="flat" cmpd="sng" algn="ctr">
                      <a:solidFill>
                        <a:srgbClr val="24314E"/>
                      </a:solidFill>
                      <a:prstDash val="solid"/>
                      <a:round/>
                      <a:headEnd type="none" w="med" len="med"/>
                      <a:tailEnd type="none" w="med" len="med"/>
                    </a:lnT>
                    <a:lnB w="9525" cap="flat" cmpd="sng" algn="ctr">
                      <a:solidFill>
                        <a:srgbClr val="24314E"/>
                      </a:solidFill>
                      <a:prstDash val="solid"/>
                      <a:round/>
                      <a:headEnd type="none" w="med" len="med"/>
                      <a:tailEnd type="none" w="med" len="med"/>
                    </a:lnB>
                    <a:solidFill>
                      <a:srgbClr val="111F38"/>
                    </a:solidFill>
                  </a:tcPr>
                </a:tc>
                <a:tc>
                  <a:txBody>
                    <a:bodyPr/>
                    <a:lstStyle/>
                    <a:p>
                      <a:pPr indent="0" marL="0">
                        <a:buNone/>
                      </a:pPr>
                      <a:r>
                        <a:rPr lang="en-US" sz="1050" dirty="0">
                          <a:solidFill>
                            <a:srgbClr val="E8EDF5"/>
                          </a:solidFill>
                          <a:latin typeface="Calibri" pitchFamily="34" charset="0"/>
                          <a:ea typeface="Calibri" pitchFamily="34" charset="-122"/>
                          <a:cs typeface="Calibri" pitchFamily="34" charset="-120"/>
                        </a:rPr>
                        <a:t>13,174 rows</a:t>
                      </a:r>
                      <a:endParaRPr lang="en-US" sz="1050" dirty="0">
                        <a:latin typeface="Calibri" charset="0"/>
                        <a:ea typeface="Calibri" charset="0"/>
                        <a:cs typeface="Calibri" charset="0"/>
                      </a:endParaRPr>
                    </a:p>
                  </a:txBody>
                  <a:tcPr marL="91440" marR="91440" marT="45720" marB="45720" anchor="ctr">
                    <a:lnL w="9525" cap="flat" cmpd="sng" algn="ctr">
                      <a:solidFill>
                        <a:srgbClr val="24314E"/>
                      </a:solidFill>
                      <a:prstDash val="solid"/>
                      <a:round/>
                      <a:headEnd type="none" w="med" len="med"/>
                      <a:tailEnd type="none" w="med" len="med"/>
                    </a:lnL>
                    <a:lnR w="9525" cap="flat" cmpd="sng" algn="ctr">
                      <a:solidFill>
                        <a:srgbClr val="24314E"/>
                      </a:solidFill>
                      <a:prstDash val="solid"/>
                      <a:round/>
                      <a:headEnd type="none" w="med" len="med"/>
                      <a:tailEnd type="none" w="med" len="med"/>
                    </a:lnR>
                    <a:lnT w="9525" cap="flat" cmpd="sng" algn="ctr">
                      <a:solidFill>
                        <a:srgbClr val="24314E"/>
                      </a:solidFill>
                      <a:prstDash val="solid"/>
                      <a:round/>
                      <a:headEnd type="none" w="med" len="med"/>
                      <a:tailEnd type="none" w="med" len="med"/>
                    </a:lnT>
                    <a:lnB w="9525" cap="flat" cmpd="sng" algn="ctr">
                      <a:solidFill>
                        <a:srgbClr val="24314E"/>
                      </a:solidFill>
                      <a:prstDash val="solid"/>
                      <a:round/>
                      <a:headEnd type="none" w="med" len="med"/>
                      <a:tailEnd type="none" w="med" len="med"/>
                    </a:lnB>
                    <a:solidFill>
                      <a:srgbClr val="111F38"/>
                    </a:solidFill>
                  </a:tcPr>
                </a:tc>
                <a:tc>
                  <a:txBody>
                    <a:bodyPr/>
                    <a:lstStyle/>
                    <a:p>
                      <a:pPr indent="0" marL="0">
                        <a:buNone/>
                      </a:pPr>
                      <a:r>
                        <a:rPr lang="en-US" sz="1050" b="1" dirty="0">
                          <a:solidFill>
                            <a:srgbClr val="EF4444"/>
                          </a:solidFill>
                          <a:latin typeface="Calibri" pitchFamily="34" charset="0"/>
                          <a:ea typeface="Calibri" pitchFamily="34" charset="-122"/>
                          <a:cs typeface="Calibri" pitchFamily="34" charset="-120"/>
                        </a:rPr>
                        <a:t>34.5%</a:t>
                      </a:r>
                      <a:endParaRPr lang="en-US" sz="1050" dirty="0">
                        <a:latin typeface="Calibri" charset="0"/>
                        <a:ea typeface="Calibri" charset="0"/>
                        <a:cs typeface="Calibri" charset="0"/>
                      </a:endParaRPr>
                    </a:p>
                  </a:txBody>
                  <a:tcPr marL="91440" marR="91440" marT="45720" marB="45720" anchor="ctr">
                    <a:lnL w="9525" cap="flat" cmpd="sng" algn="ctr">
                      <a:solidFill>
                        <a:srgbClr val="24314E"/>
                      </a:solidFill>
                      <a:prstDash val="solid"/>
                      <a:round/>
                      <a:headEnd type="none" w="med" len="med"/>
                      <a:tailEnd type="none" w="med" len="med"/>
                    </a:lnL>
                    <a:lnR w="9525" cap="flat" cmpd="sng" algn="ctr">
                      <a:solidFill>
                        <a:srgbClr val="24314E"/>
                      </a:solidFill>
                      <a:prstDash val="solid"/>
                      <a:round/>
                      <a:headEnd type="none" w="med" len="med"/>
                      <a:tailEnd type="none" w="med" len="med"/>
                    </a:lnR>
                    <a:lnT w="9525" cap="flat" cmpd="sng" algn="ctr">
                      <a:solidFill>
                        <a:srgbClr val="24314E"/>
                      </a:solidFill>
                      <a:prstDash val="solid"/>
                      <a:round/>
                      <a:headEnd type="none" w="med" len="med"/>
                      <a:tailEnd type="none" w="med" len="med"/>
                    </a:lnT>
                    <a:lnB w="9525" cap="flat" cmpd="sng" algn="ctr">
                      <a:solidFill>
                        <a:srgbClr val="24314E"/>
                      </a:solidFill>
                      <a:prstDash val="solid"/>
                      <a:round/>
                      <a:headEnd type="none" w="med" len="med"/>
                      <a:tailEnd type="none" w="med" len="med"/>
                    </a:lnB>
                    <a:solidFill>
                      <a:srgbClr val="111F38"/>
                    </a:solidFill>
                  </a:tcPr>
                </a:tc>
                <a:tc>
                  <a:txBody>
                    <a:bodyPr/>
                    <a:lstStyle/>
                    <a:p>
                      <a:pPr indent="0" marL="0">
                        <a:buNone/>
                      </a:pPr>
                      <a:r>
                        <a:rPr lang="en-US" sz="1050" dirty="0">
                          <a:solidFill>
                            <a:srgbClr val="E8EDF5"/>
                          </a:solidFill>
                          <a:latin typeface="Calibri" pitchFamily="34" charset="0"/>
                          <a:ea typeface="Calibri" pitchFamily="34" charset="-122"/>
                          <a:cs typeface="Calibri" pitchFamily="34" charset="-120"/>
                        </a:rPr>
                        <a:t>Dropped — guest/unlinked orders can't be attributed to a customer profile</a:t>
                      </a:r>
                      <a:endParaRPr lang="en-US" sz="1050" dirty="0">
                        <a:latin typeface="Calibri" charset="0"/>
                        <a:ea typeface="Calibri" charset="0"/>
                        <a:cs typeface="Calibri" charset="0"/>
                      </a:endParaRPr>
                    </a:p>
                  </a:txBody>
                  <a:tcPr marL="91440" marR="91440" marT="45720" marB="45720" anchor="ctr">
                    <a:lnL w="9525" cap="flat" cmpd="sng" algn="ctr">
                      <a:solidFill>
                        <a:srgbClr val="24314E"/>
                      </a:solidFill>
                      <a:prstDash val="solid"/>
                      <a:round/>
                      <a:headEnd type="none" w="med" len="med"/>
                      <a:tailEnd type="none" w="med" len="med"/>
                    </a:lnL>
                    <a:lnR w="9525" cap="flat" cmpd="sng" algn="ctr">
                      <a:solidFill>
                        <a:srgbClr val="24314E"/>
                      </a:solidFill>
                      <a:prstDash val="solid"/>
                      <a:round/>
                      <a:headEnd type="none" w="med" len="med"/>
                      <a:tailEnd type="none" w="med" len="med"/>
                    </a:lnR>
                    <a:lnT w="9525" cap="flat" cmpd="sng" algn="ctr">
                      <a:solidFill>
                        <a:srgbClr val="24314E"/>
                      </a:solidFill>
                      <a:prstDash val="solid"/>
                      <a:round/>
                      <a:headEnd type="none" w="med" len="med"/>
                      <a:tailEnd type="none" w="med" len="med"/>
                    </a:lnT>
                    <a:lnB w="9525" cap="flat" cmpd="sng" algn="ctr">
                      <a:solidFill>
                        <a:srgbClr val="24314E"/>
                      </a:solidFill>
                      <a:prstDash val="solid"/>
                      <a:round/>
                      <a:headEnd type="none" w="med" len="med"/>
                      <a:tailEnd type="none" w="med" len="med"/>
                    </a:lnB>
                    <a:solidFill>
                      <a:srgbClr val="111F38"/>
                    </a:solidFill>
                  </a:tcPr>
                </a:tc>
              </a:tr>
              <a:tr h="434340">
                <a:tc>
                  <a:txBody>
                    <a:bodyPr/>
                    <a:lstStyle/>
                    <a:p>
                      <a:pPr indent="0" marL="0">
                        <a:buNone/>
                      </a:pPr>
                      <a:r>
                        <a:rPr lang="en-US" sz="1050" dirty="0">
                          <a:solidFill>
                            <a:srgbClr val="F0B429"/>
                          </a:solidFill>
                          <a:latin typeface="Calibri" pitchFamily="34" charset="0"/>
                          <a:ea typeface="Calibri" pitchFamily="34" charset="-122"/>
                          <a:cs typeface="Calibri" pitchFamily="34" charset="-120"/>
                        </a:rPr>
                        <a:t>Missing Description</a:t>
                      </a:r>
                      <a:endParaRPr lang="en-US" sz="1050" dirty="0">
                        <a:latin typeface="Calibri" charset="0"/>
                        <a:ea typeface="Calibri" charset="0"/>
                        <a:cs typeface="Calibri" charset="0"/>
                      </a:endParaRPr>
                    </a:p>
                  </a:txBody>
                  <a:tcPr marL="91440" marR="91440" marT="45720" marB="45720" anchor="ctr">
                    <a:lnL w="9525" cap="flat" cmpd="sng" algn="ctr">
                      <a:solidFill>
                        <a:srgbClr val="24314E"/>
                      </a:solidFill>
                      <a:prstDash val="solid"/>
                      <a:round/>
                      <a:headEnd type="none" w="med" len="med"/>
                      <a:tailEnd type="none" w="med" len="med"/>
                    </a:lnL>
                    <a:lnR w="9525" cap="flat" cmpd="sng" algn="ctr">
                      <a:solidFill>
                        <a:srgbClr val="24314E"/>
                      </a:solidFill>
                      <a:prstDash val="solid"/>
                      <a:round/>
                      <a:headEnd type="none" w="med" len="med"/>
                      <a:tailEnd type="none" w="med" len="med"/>
                    </a:lnR>
                    <a:lnT w="9525" cap="flat" cmpd="sng" algn="ctr">
                      <a:solidFill>
                        <a:srgbClr val="24314E"/>
                      </a:solidFill>
                      <a:prstDash val="solid"/>
                      <a:round/>
                      <a:headEnd type="none" w="med" len="med"/>
                      <a:tailEnd type="none" w="med" len="med"/>
                    </a:lnT>
                    <a:lnB w="9525" cap="flat" cmpd="sng" algn="ctr">
                      <a:solidFill>
                        <a:srgbClr val="24314E"/>
                      </a:solidFill>
                      <a:prstDash val="solid"/>
                      <a:round/>
                      <a:headEnd type="none" w="med" len="med"/>
                      <a:tailEnd type="none" w="med" len="med"/>
                    </a:lnB>
                    <a:solidFill>
                      <a:srgbClr val="111F38"/>
                    </a:solidFill>
                  </a:tcPr>
                </a:tc>
                <a:tc>
                  <a:txBody>
                    <a:bodyPr/>
                    <a:lstStyle/>
                    <a:p>
                      <a:pPr indent="0" marL="0">
                        <a:buNone/>
                      </a:pPr>
                      <a:r>
                        <a:rPr lang="en-US" sz="1050" dirty="0">
                          <a:solidFill>
                            <a:srgbClr val="E8EDF5"/>
                          </a:solidFill>
                          <a:latin typeface="Calibri" pitchFamily="34" charset="0"/>
                          <a:ea typeface="Calibri" pitchFamily="34" charset="-122"/>
                          <a:cs typeface="Calibri" pitchFamily="34" charset="-120"/>
                        </a:rPr>
                        <a:t>117 rows</a:t>
                      </a:r>
                      <a:endParaRPr lang="en-US" sz="1050" dirty="0">
                        <a:latin typeface="Calibri" charset="0"/>
                        <a:ea typeface="Calibri" charset="0"/>
                        <a:cs typeface="Calibri" charset="0"/>
                      </a:endParaRPr>
                    </a:p>
                  </a:txBody>
                  <a:tcPr marL="91440" marR="91440" marT="45720" marB="45720" anchor="ctr">
                    <a:lnL w="9525" cap="flat" cmpd="sng" algn="ctr">
                      <a:solidFill>
                        <a:srgbClr val="24314E"/>
                      </a:solidFill>
                      <a:prstDash val="solid"/>
                      <a:round/>
                      <a:headEnd type="none" w="med" len="med"/>
                      <a:tailEnd type="none" w="med" len="med"/>
                    </a:lnL>
                    <a:lnR w="9525" cap="flat" cmpd="sng" algn="ctr">
                      <a:solidFill>
                        <a:srgbClr val="24314E"/>
                      </a:solidFill>
                      <a:prstDash val="solid"/>
                      <a:round/>
                      <a:headEnd type="none" w="med" len="med"/>
                      <a:tailEnd type="none" w="med" len="med"/>
                    </a:lnR>
                    <a:lnT w="9525" cap="flat" cmpd="sng" algn="ctr">
                      <a:solidFill>
                        <a:srgbClr val="24314E"/>
                      </a:solidFill>
                      <a:prstDash val="solid"/>
                      <a:round/>
                      <a:headEnd type="none" w="med" len="med"/>
                      <a:tailEnd type="none" w="med" len="med"/>
                    </a:lnT>
                    <a:lnB w="9525" cap="flat" cmpd="sng" algn="ctr">
                      <a:solidFill>
                        <a:srgbClr val="24314E"/>
                      </a:solidFill>
                      <a:prstDash val="solid"/>
                      <a:round/>
                      <a:headEnd type="none" w="med" len="med"/>
                      <a:tailEnd type="none" w="med" len="med"/>
                    </a:lnB>
                    <a:solidFill>
                      <a:srgbClr val="111F38"/>
                    </a:solidFill>
                  </a:tcPr>
                </a:tc>
                <a:tc>
                  <a:txBody>
                    <a:bodyPr/>
                    <a:lstStyle/>
                    <a:p>
                      <a:pPr indent="0" marL="0">
                        <a:buNone/>
                      </a:pPr>
                      <a:r>
                        <a:rPr lang="en-US" sz="1050" dirty="0">
                          <a:solidFill>
                            <a:srgbClr val="E8EDF5"/>
                          </a:solidFill>
                          <a:latin typeface="Calibri" pitchFamily="34" charset="0"/>
                          <a:ea typeface="Calibri" pitchFamily="34" charset="-122"/>
                          <a:cs typeface="Calibri" pitchFamily="34" charset="-120"/>
                        </a:rPr>
                        <a:t>0.3%</a:t>
                      </a:r>
                      <a:endParaRPr lang="en-US" sz="1050" dirty="0">
                        <a:latin typeface="Calibri" charset="0"/>
                        <a:ea typeface="Calibri" charset="0"/>
                        <a:cs typeface="Calibri" charset="0"/>
                      </a:endParaRPr>
                    </a:p>
                  </a:txBody>
                  <a:tcPr marL="91440" marR="91440" marT="45720" marB="45720" anchor="ctr">
                    <a:lnL w="9525" cap="flat" cmpd="sng" algn="ctr">
                      <a:solidFill>
                        <a:srgbClr val="24314E"/>
                      </a:solidFill>
                      <a:prstDash val="solid"/>
                      <a:round/>
                      <a:headEnd type="none" w="med" len="med"/>
                      <a:tailEnd type="none" w="med" len="med"/>
                    </a:lnL>
                    <a:lnR w="9525" cap="flat" cmpd="sng" algn="ctr">
                      <a:solidFill>
                        <a:srgbClr val="24314E"/>
                      </a:solidFill>
                      <a:prstDash val="solid"/>
                      <a:round/>
                      <a:headEnd type="none" w="med" len="med"/>
                      <a:tailEnd type="none" w="med" len="med"/>
                    </a:lnR>
                    <a:lnT w="9525" cap="flat" cmpd="sng" algn="ctr">
                      <a:solidFill>
                        <a:srgbClr val="24314E"/>
                      </a:solidFill>
                      <a:prstDash val="solid"/>
                      <a:round/>
                      <a:headEnd type="none" w="med" len="med"/>
                      <a:tailEnd type="none" w="med" len="med"/>
                    </a:lnT>
                    <a:lnB w="9525" cap="flat" cmpd="sng" algn="ctr">
                      <a:solidFill>
                        <a:srgbClr val="24314E"/>
                      </a:solidFill>
                      <a:prstDash val="solid"/>
                      <a:round/>
                      <a:headEnd type="none" w="med" len="med"/>
                      <a:tailEnd type="none" w="med" len="med"/>
                    </a:lnB>
                    <a:solidFill>
                      <a:srgbClr val="111F38"/>
                    </a:solidFill>
                  </a:tcPr>
                </a:tc>
                <a:tc>
                  <a:txBody>
                    <a:bodyPr/>
                    <a:lstStyle/>
                    <a:p>
                      <a:pPr indent="0" marL="0">
                        <a:buNone/>
                      </a:pPr>
                      <a:r>
                        <a:rPr lang="en-US" sz="1050" dirty="0">
                          <a:solidFill>
                            <a:srgbClr val="E8EDF5"/>
                          </a:solidFill>
                          <a:latin typeface="Calibri" pitchFamily="34" charset="0"/>
                          <a:ea typeface="Calibri" pitchFamily="34" charset="-122"/>
                          <a:cs typeface="Calibri" pitchFamily="34" charset="-120"/>
                        </a:rPr>
                        <a:t>Kept — product-label gap only, doesn't block customer-level modeling</a:t>
                      </a:r>
                      <a:endParaRPr lang="en-US" sz="1050" dirty="0">
                        <a:latin typeface="Calibri" charset="0"/>
                        <a:ea typeface="Calibri" charset="0"/>
                        <a:cs typeface="Calibri" charset="0"/>
                      </a:endParaRPr>
                    </a:p>
                  </a:txBody>
                  <a:tcPr marL="91440" marR="91440" marT="45720" marB="45720" anchor="ctr">
                    <a:lnL w="9525" cap="flat" cmpd="sng" algn="ctr">
                      <a:solidFill>
                        <a:srgbClr val="24314E"/>
                      </a:solidFill>
                      <a:prstDash val="solid"/>
                      <a:round/>
                      <a:headEnd type="none" w="med" len="med"/>
                      <a:tailEnd type="none" w="med" len="med"/>
                    </a:lnL>
                    <a:lnR w="9525" cap="flat" cmpd="sng" algn="ctr">
                      <a:solidFill>
                        <a:srgbClr val="24314E"/>
                      </a:solidFill>
                      <a:prstDash val="solid"/>
                      <a:round/>
                      <a:headEnd type="none" w="med" len="med"/>
                      <a:tailEnd type="none" w="med" len="med"/>
                    </a:lnR>
                    <a:lnT w="9525" cap="flat" cmpd="sng" algn="ctr">
                      <a:solidFill>
                        <a:srgbClr val="24314E"/>
                      </a:solidFill>
                      <a:prstDash val="solid"/>
                      <a:round/>
                      <a:headEnd type="none" w="med" len="med"/>
                      <a:tailEnd type="none" w="med" len="med"/>
                    </a:lnT>
                    <a:lnB w="9525" cap="flat" cmpd="sng" algn="ctr">
                      <a:solidFill>
                        <a:srgbClr val="24314E"/>
                      </a:solidFill>
                      <a:prstDash val="solid"/>
                      <a:round/>
                      <a:headEnd type="none" w="med" len="med"/>
                      <a:tailEnd type="none" w="med" len="med"/>
                    </a:lnB>
                    <a:solidFill>
                      <a:srgbClr val="111F38"/>
                    </a:solidFill>
                  </a:tcPr>
                </a:tc>
              </a:tr>
              <a:tr h="434340">
                <a:tc>
                  <a:txBody>
                    <a:bodyPr/>
                    <a:lstStyle/>
                    <a:p>
                      <a:pPr indent="0" marL="0">
                        <a:buNone/>
                      </a:pPr>
                      <a:r>
                        <a:rPr lang="en-US" sz="1050" b="1" dirty="0">
                          <a:solidFill>
                            <a:srgbClr val="EF4444"/>
                          </a:solidFill>
                          <a:latin typeface="Calibri" pitchFamily="34" charset="0"/>
                          <a:ea typeface="Calibri" pitchFamily="34" charset="-122"/>
                          <a:cs typeface="Calibri" pitchFamily="34" charset="-120"/>
                        </a:rPr>
                        <a:t>Missing / invalid UnitPrice</a:t>
                      </a:r>
                      <a:endParaRPr lang="en-US" sz="1050" dirty="0">
                        <a:latin typeface="Calibri" charset="0"/>
                        <a:ea typeface="Calibri" charset="0"/>
                        <a:cs typeface="Calibri" charset="0"/>
                      </a:endParaRPr>
                    </a:p>
                  </a:txBody>
                  <a:tcPr marL="91440" marR="91440" marT="45720" marB="45720" anchor="ctr">
                    <a:lnL w="9525" cap="flat" cmpd="sng" algn="ctr">
                      <a:solidFill>
                        <a:srgbClr val="24314E"/>
                      </a:solidFill>
                      <a:prstDash val="solid"/>
                      <a:round/>
                      <a:headEnd type="none" w="med" len="med"/>
                      <a:tailEnd type="none" w="med" len="med"/>
                    </a:lnL>
                    <a:lnR w="9525" cap="flat" cmpd="sng" algn="ctr">
                      <a:solidFill>
                        <a:srgbClr val="24314E"/>
                      </a:solidFill>
                      <a:prstDash val="solid"/>
                      <a:round/>
                      <a:headEnd type="none" w="med" len="med"/>
                      <a:tailEnd type="none" w="med" len="med"/>
                    </a:lnR>
                    <a:lnT w="9525" cap="flat" cmpd="sng" algn="ctr">
                      <a:solidFill>
                        <a:srgbClr val="24314E"/>
                      </a:solidFill>
                      <a:prstDash val="solid"/>
                      <a:round/>
                      <a:headEnd type="none" w="med" len="med"/>
                      <a:tailEnd type="none" w="med" len="med"/>
                    </a:lnT>
                    <a:lnB w="9525" cap="flat" cmpd="sng" algn="ctr">
                      <a:solidFill>
                        <a:srgbClr val="24314E"/>
                      </a:solidFill>
                      <a:prstDash val="solid"/>
                      <a:round/>
                      <a:headEnd type="none" w="med" len="med"/>
                      <a:tailEnd type="none" w="med" len="med"/>
                    </a:lnB>
                    <a:solidFill>
                      <a:srgbClr val="111F38"/>
                    </a:solidFill>
                  </a:tcPr>
                </a:tc>
                <a:tc>
                  <a:txBody>
                    <a:bodyPr/>
                    <a:lstStyle/>
                    <a:p>
                      <a:pPr indent="0" marL="0">
                        <a:buNone/>
                      </a:pPr>
                      <a:r>
                        <a:rPr lang="en-US" sz="1050" dirty="0">
                          <a:solidFill>
                            <a:srgbClr val="E8EDF5"/>
                          </a:solidFill>
                          <a:latin typeface="Calibri" pitchFamily="34" charset="0"/>
                          <a:ea typeface="Calibri" pitchFamily="34" charset="-122"/>
                          <a:cs typeface="Calibri" pitchFamily="34" charset="-120"/>
                        </a:rPr>
                        <a:t>~1–2 rows</a:t>
                      </a:r>
                      <a:endParaRPr lang="en-US" sz="1050" dirty="0">
                        <a:latin typeface="Calibri" charset="0"/>
                        <a:ea typeface="Calibri" charset="0"/>
                        <a:cs typeface="Calibri" charset="0"/>
                      </a:endParaRPr>
                    </a:p>
                  </a:txBody>
                  <a:tcPr marL="91440" marR="91440" marT="45720" marB="45720" anchor="ctr">
                    <a:lnL w="9525" cap="flat" cmpd="sng" algn="ctr">
                      <a:solidFill>
                        <a:srgbClr val="24314E"/>
                      </a:solidFill>
                      <a:prstDash val="solid"/>
                      <a:round/>
                      <a:headEnd type="none" w="med" len="med"/>
                      <a:tailEnd type="none" w="med" len="med"/>
                    </a:lnL>
                    <a:lnR w="9525" cap="flat" cmpd="sng" algn="ctr">
                      <a:solidFill>
                        <a:srgbClr val="24314E"/>
                      </a:solidFill>
                      <a:prstDash val="solid"/>
                      <a:round/>
                      <a:headEnd type="none" w="med" len="med"/>
                      <a:tailEnd type="none" w="med" len="med"/>
                    </a:lnR>
                    <a:lnT w="9525" cap="flat" cmpd="sng" algn="ctr">
                      <a:solidFill>
                        <a:srgbClr val="24314E"/>
                      </a:solidFill>
                      <a:prstDash val="solid"/>
                      <a:round/>
                      <a:headEnd type="none" w="med" len="med"/>
                      <a:tailEnd type="none" w="med" len="med"/>
                    </a:lnT>
                    <a:lnB w="9525" cap="flat" cmpd="sng" algn="ctr">
                      <a:solidFill>
                        <a:srgbClr val="24314E"/>
                      </a:solidFill>
                      <a:prstDash val="solid"/>
                      <a:round/>
                      <a:headEnd type="none" w="med" len="med"/>
                      <a:tailEnd type="none" w="med" len="med"/>
                    </a:lnB>
                    <a:solidFill>
                      <a:srgbClr val="111F38"/>
                    </a:solidFill>
                  </a:tcPr>
                </a:tc>
                <a:tc>
                  <a:txBody>
                    <a:bodyPr/>
                    <a:lstStyle/>
                    <a:p>
                      <a:pPr indent="0" marL="0">
                        <a:buNone/>
                      </a:pPr>
                      <a:r>
                        <a:rPr lang="en-US" sz="1050" dirty="0">
                          <a:solidFill>
                            <a:srgbClr val="E8EDF5"/>
                          </a:solidFill>
                          <a:latin typeface="Calibri" pitchFamily="34" charset="0"/>
                          <a:ea typeface="Calibri" pitchFamily="34" charset="-122"/>
                          <a:cs typeface="Calibri" pitchFamily="34" charset="-120"/>
                        </a:rPr>
                        <a:t>&lt;0.1%</a:t>
                      </a:r>
                      <a:endParaRPr lang="en-US" sz="1050" dirty="0">
                        <a:latin typeface="Calibri" charset="0"/>
                        <a:ea typeface="Calibri" charset="0"/>
                        <a:cs typeface="Calibri" charset="0"/>
                      </a:endParaRPr>
                    </a:p>
                  </a:txBody>
                  <a:tcPr marL="91440" marR="91440" marT="45720" marB="45720" anchor="ctr">
                    <a:lnL w="9525" cap="flat" cmpd="sng" algn="ctr">
                      <a:solidFill>
                        <a:srgbClr val="24314E"/>
                      </a:solidFill>
                      <a:prstDash val="solid"/>
                      <a:round/>
                      <a:headEnd type="none" w="med" len="med"/>
                      <a:tailEnd type="none" w="med" len="med"/>
                    </a:lnL>
                    <a:lnR w="9525" cap="flat" cmpd="sng" algn="ctr">
                      <a:solidFill>
                        <a:srgbClr val="24314E"/>
                      </a:solidFill>
                      <a:prstDash val="solid"/>
                      <a:round/>
                      <a:headEnd type="none" w="med" len="med"/>
                      <a:tailEnd type="none" w="med" len="med"/>
                    </a:lnR>
                    <a:lnT w="9525" cap="flat" cmpd="sng" algn="ctr">
                      <a:solidFill>
                        <a:srgbClr val="24314E"/>
                      </a:solidFill>
                      <a:prstDash val="solid"/>
                      <a:round/>
                      <a:headEnd type="none" w="med" len="med"/>
                      <a:tailEnd type="none" w="med" len="med"/>
                    </a:lnT>
                    <a:lnB w="9525" cap="flat" cmpd="sng" algn="ctr">
                      <a:solidFill>
                        <a:srgbClr val="24314E"/>
                      </a:solidFill>
                      <a:prstDash val="solid"/>
                      <a:round/>
                      <a:headEnd type="none" w="med" len="med"/>
                      <a:tailEnd type="none" w="med" len="med"/>
                    </a:lnB>
                    <a:solidFill>
                      <a:srgbClr val="111F38"/>
                    </a:solidFill>
                  </a:tcPr>
                </a:tc>
                <a:tc>
                  <a:txBody>
                    <a:bodyPr/>
                    <a:lstStyle/>
                    <a:p>
                      <a:pPr indent="0" marL="0">
                        <a:buNone/>
                      </a:pPr>
                      <a:r>
                        <a:rPr lang="en-US" sz="1050" dirty="0">
                          <a:solidFill>
                            <a:srgbClr val="E8EDF5"/>
                          </a:solidFill>
                          <a:latin typeface="Calibri" pitchFamily="34" charset="0"/>
                          <a:ea typeface="Calibri" pitchFamily="34" charset="-122"/>
                          <a:cs typeface="Calibri" pitchFamily="34" charset="-120"/>
                        </a:rPr>
                        <a:t>Dropped — can't compute TotalPrice without a valid price</a:t>
                      </a:r>
                      <a:endParaRPr lang="en-US" sz="1050" dirty="0">
                        <a:latin typeface="Calibri" charset="0"/>
                        <a:ea typeface="Calibri" charset="0"/>
                        <a:cs typeface="Calibri" charset="0"/>
                      </a:endParaRPr>
                    </a:p>
                  </a:txBody>
                  <a:tcPr marL="91440" marR="91440" marT="45720" marB="45720" anchor="ctr">
                    <a:lnL w="9525" cap="flat" cmpd="sng" algn="ctr">
                      <a:solidFill>
                        <a:srgbClr val="24314E"/>
                      </a:solidFill>
                      <a:prstDash val="solid"/>
                      <a:round/>
                      <a:headEnd type="none" w="med" len="med"/>
                      <a:tailEnd type="none" w="med" len="med"/>
                    </a:lnL>
                    <a:lnR w="9525" cap="flat" cmpd="sng" algn="ctr">
                      <a:solidFill>
                        <a:srgbClr val="24314E"/>
                      </a:solidFill>
                      <a:prstDash val="solid"/>
                      <a:round/>
                      <a:headEnd type="none" w="med" len="med"/>
                      <a:tailEnd type="none" w="med" len="med"/>
                    </a:lnR>
                    <a:lnT w="9525" cap="flat" cmpd="sng" algn="ctr">
                      <a:solidFill>
                        <a:srgbClr val="24314E"/>
                      </a:solidFill>
                      <a:prstDash val="solid"/>
                      <a:round/>
                      <a:headEnd type="none" w="med" len="med"/>
                      <a:tailEnd type="none" w="med" len="med"/>
                    </a:lnT>
                    <a:lnB w="9525" cap="flat" cmpd="sng" algn="ctr">
                      <a:solidFill>
                        <a:srgbClr val="24314E"/>
                      </a:solidFill>
                      <a:prstDash val="solid"/>
                      <a:round/>
                      <a:headEnd type="none" w="med" len="med"/>
                      <a:tailEnd type="none" w="med" len="med"/>
                    </a:lnB>
                    <a:solidFill>
                      <a:srgbClr val="111F38"/>
                    </a:solidFill>
                  </a:tcPr>
                </a:tc>
              </a:tr>
              <a:tr h="434340">
                <a:tc>
                  <a:txBody>
                    <a:bodyPr/>
                    <a:lstStyle/>
                    <a:p>
                      <a:pPr indent="0" marL="0">
                        <a:buNone/>
                      </a:pPr>
                      <a:r>
                        <a:rPr lang="en-US" sz="1050" b="1" dirty="0">
                          <a:solidFill>
                            <a:srgbClr val="EF4444"/>
                          </a:solidFill>
                          <a:latin typeface="Calibri" pitchFamily="34" charset="0"/>
                          <a:ea typeface="Calibri" pitchFamily="34" charset="-122"/>
                          <a:cs typeface="Calibri" pitchFamily="34" charset="-120"/>
                        </a:rPr>
                        <a:t>Zero Quantity (returns/adjustments)</a:t>
                      </a:r>
                      <a:endParaRPr lang="en-US" sz="1050" dirty="0">
                        <a:latin typeface="Calibri" charset="0"/>
                        <a:ea typeface="Calibri" charset="0"/>
                        <a:cs typeface="Calibri" charset="0"/>
                      </a:endParaRPr>
                    </a:p>
                  </a:txBody>
                  <a:tcPr marL="91440" marR="91440" marT="45720" marB="45720" anchor="ctr">
                    <a:lnL w="9525" cap="flat" cmpd="sng" algn="ctr">
                      <a:solidFill>
                        <a:srgbClr val="24314E"/>
                      </a:solidFill>
                      <a:prstDash val="solid"/>
                      <a:round/>
                      <a:headEnd type="none" w="med" len="med"/>
                      <a:tailEnd type="none" w="med" len="med"/>
                    </a:lnL>
                    <a:lnR w="9525" cap="flat" cmpd="sng" algn="ctr">
                      <a:solidFill>
                        <a:srgbClr val="24314E"/>
                      </a:solidFill>
                      <a:prstDash val="solid"/>
                      <a:round/>
                      <a:headEnd type="none" w="med" len="med"/>
                      <a:tailEnd type="none" w="med" len="med"/>
                    </a:lnR>
                    <a:lnT w="9525" cap="flat" cmpd="sng" algn="ctr">
                      <a:solidFill>
                        <a:srgbClr val="24314E"/>
                      </a:solidFill>
                      <a:prstDash val="solid"/>
                      <a:round/>
                      <a:headEnd type="none" w="med" len="med"/>
                      <a:tailEnd type="none" w="med" len="med"/>
                    </a:lnT>
                    <a:lnB w="9525" cap="flat" cmpd="sng" algn="ctr">
                      <a:solidFill>
                        <a:srgbClr val="24314E"/>
                      </a:solidFill>
                      <a:prstDash val="solid"/>
                      <a:round/>
                      <a:headEnd type="none" w="med" len="med"/>
                      <a:tailEnd type="none" w="med" len="med"/>
                    </a:lnB>
                    <a:solidFill>
                      <a:srgbClr val="111F38"/>
                    </a:solidFill>
                  </a:tcPr>
                </a:tc>
                <a:tc>
                  <a:txBody>
                    <a:bodyPr/>
                    <a:lstStyle/>
                    <a:p>
                      <a:pPr indent="0" marL="0">
                        <a:buNone/>
                      </a:pPr>
                      <a:r>
                        <a:rPr lang="en-US" sz="1050" dirty="0">
                          <a:solidFill>
                            <a:srgbClr val="E8EDF5"/>
                          </a:solidFill>
                          <a:latin typeface="Calibri" pitchFamily="34" charset="0"/>
                          <a:ea typeface="Calibri" pitchFamily="34" charset="-122"/>
                          <a:cs typeface="Calibri" pitchFamily="34" charset="-120"/>
                        </a:rPr>
                        <a:t>included above</a:t>
                      </a:r>
                      <a:endParaRPr lang="en-US" sz="1050" dirty="0">
                        <a:latin typeface="Calibri" charset="0"/>
                        <a:ea typeface="Calibri" charset="0"/>
                        <a:cs typeface="Calibri" charset="0"/>
                      </a:endParaRPr>
                    </a:p>
                  </a:txBody>
                  <a:tcPr marL="91440" marR="91440" marT="45720" marB="45720" anchor="ctr">
                    <a:lnL w="9525" cap="flat" cmpd="sng" algn="ctr">
                      <a:solidFill>
                        <a:srgbClr val="24314E"/>
                      </a:solidFill>
                      <a:prstDash val="solid"/>
                      <a:round/>
                      <a:headEnd type="none" w="med" len="med"/>
                      <a:tailEnd type="none" w="med" len="med"/>
                    </a:lnL>
                    <a:lnR w="9525" cap="flat" cmpd="sng" algn="ctr">
                      <a:solidFill>
                        <a:srgbClr val="24314E"/>
                      </a:solidFill>
                      <a:prstDash val="solid"/>
                      <a:round/>
                      <a:headEnd type="none" w="med" len="med"/>
                      <a:tailEnd type="none" w="med" len="med"/>
                    </a:lnR>
                    <a:lnT w="9525" cap="flat" cmpd="sng" algn="ctr">
                      <a:solidFill>
                        <a:srgbClr val="24314E"/>
                      </a:solidFill>
                      <a:prstDash val="solid"/>
                      <a:round/>
                      <a:headEnd type="none" w="med" len="med"/>
                      <a:tailEnd type="none" w="med" len="med"/>
                    </a:lnT>
                    <a:lnB w="9525" cap="flat" cmpd="sng" algn="ctr">
                      <a:solidFill>
                        <a:srgbClr val="24314E"/>
                      </a:solidFill>
                      <a:prstDash val="solid"/>
                      <a:round/>
                      <a:headEnd type="none" w="med" len="med"/>
                      <a:tailEnd type="none" w="med" len="med"/>
                    </a:lnB>
                    <a:solidFill>
                      <a:srgbClr val="111F38"/>
                    </a:solidFill>
                  </a:tcPr>
                </a:tc>
                <a:tc>
                  <a:txBody>
                    <a:bodyPr/>
                    <a:lstStyle/>
                    <a:p>
                      <a:pPr indent="0" marL="0">
                        <a:buNone/>
                      </a:pPr>
                      <a:r>
                        <a:rPr lang="en-US" sz="1050" dirty="0">
                          <a:solidFill>
                            <a:srgbClr val="E8EDF5"/>
                          </a:solidFill>
                          <a:latin typeface="Calibri" pitchFamily="34" charset="0"/>
                          <a:ea typeface="Calibri" pitchFamily="34" charset="-122"/>
                          <a:cs typeface="Calibri" pitchFamily="34" charset="-120"/>
                        </a:rPr>
                        <a:t>—</a:t>
                      </a:r>
                      <a:endParaRPr lang="en-US" sz="1050" dirty="0">
                        <a:latin typeface="Calibri" charset="0"/>
                        <a:ea typeface="Calibri" charset="0"/>
                        <a:cs typeface="Calibri" charset="0"/>
                      </a:endParaRPr>
                    </a:p>
                  </a:txBody>
                  <a:tcPr marL="91440" marR="91440" marT="45720" marB="45720" anchor="ctr">
                    <a:lnL w="9525" cap="flat" cmpd="sng" algn="ctr">
                      <a:solidFill>
                        <a:srgbClr val="24314E"/>
                      </a:solidFill>
                      <a:prstDash val="solid"/>
                      <a:round/>
                      <a:headEnd type="none" w="med" len="med"/>
                      <a:tailEnd type="none" w="med" len="med"/>
                    </a:lnL>
                    <a:lnR w="9525" cap="flat" cmpd="sng" algn="ctr">
                      <a:solidFill>
                        <a:srgbClr val="24314E"/>
                      </a:solidFill>
                      <a:prstDash val="solid"/>
                      <a:round/>
                      <a:headEnd type="none" w="med" len="med"/>
                      <a:tailEnd type="none" w="med" len="med"/>
                    </a:lnR>
                    <a:lnT w="9525" cap="flat" cmpd="sng" algn="ctr">
                      <a:solidFill>
                        <a:srgbClr val="24314E"/>
                      </a:solidFill>
                      <a:prstDash val="solid"/>
                      <a:round/>
                      <a:headEnd type="none" w="med" len="med"/>
                      <a:tailEnd type="none" w="med" len="med"/>
                    </a:lnT>
                    <a:lnB w="9525" cap="flat" cmpd="sng" algn="ctr">
                      <a:solidFill>
                        <a:srgbClr val="24314E"/>
                      </a:solidFill>
                      <a:prstDash val="solid"/>
                      <a:round/>
                      <a:headEnd type="none" w="med" len="med"/>
                      <a:tailEnd type="none" w="med" len="med"/>
                    </a:lnB>
                    <a:solidFill>
                      <a:srgbClr val="111F38"/>
                    </a:solidFill>
                  </a:tcPr>
                </a:tc>
                <a:tc>
                  <a:txBody>
                    <a:bodyPr/>
                    <a:lstStyle/>
                    <a:p>
                      <a:pPr indent="0" marL="0">
                        <a:buNone/>
                      </a:pPr>
                      <a:r>
                        <a:rPr lang="en-US" sz="1050" dirty="0">
                          <a:solidFill>
                            <a:srgbClr val="E8EDF5"/>
                          </a:solidFill>
                          <a:latin typeface="Calibri" pitchFamily="34" charset="0"/>
                          <a:ea typeface="Calibri" pitchFamily="34" charset="-122"/>
                          <a:cs typeface="Calibri" pitchFamily="34" charset="-120"/>
                        </a:rPr>
                        <a:t>Dropped — zero-quantity rows contribute no purchase signal</a:t>
                      </a:r>
                      <a:endParaRPr lang="en-US" sz="1050" dirty="0">
                        <a:latin typeface="Calibri" charset="0"/>
                        <a:ea typeface="Calibri" charset="0"/>
                        <a:cs typeface="Calibri" charset="0"/>
                      </a:endParaRPr>
                    </a:p>
                  </a:txBody>
                  <a:tcPr marL="91440" marR="91440" marT="45720" marB="45720" anchor="ctr">
                    <a:lnL w="9525" cap="flat" cmpd="sng" algn="ctr">
                      <a:solidFill>
                        <a:srgbClr val="24314E"/>
                      </a:solidFill>
                      <a:prstDash val="solid"/>
                      <a:round/>
                      <a:headEnd type="none" w="med" len="med"/>
                      <a:tailEnd type="none" w="med" len="med"/>
                    </a:lnL>
                    <a:lnR w="9525" cap="flat" cmpd="sng" algn="ctr">
                      <a:solidFill>
                        <a:srgbClr val="24314E"/>
                      </a:solidFill>
                      <a:prstDash val="solid"/>
                      <a:round/>
                      <a:headEnd type="none" w="med" len="med"/>
                      <a:tailEnd type="none" w="med" len="med"/>
                    </a:lnR>
                    <a:lnT w="9525" cap="flat" cmpd="sng" algn="ctr">
                      <a:solidFill>
                        <a:srgbClr val="24314E"/>
                      </a:solidFill>
                      <a:prstDash val="solid"/>
                      <a:round/>
                      <a:headEnd type="none" w="med" len="med"/>
                      <a:tailEnd type="none" w="med" len="med"/>
                    </a:lnT>
                    <a:lnB w="9525" cap="flat" cmpd="sng" algn="ctr">
                      <a:solidFill>
                        <a:srgbClr val="24314E"/>
                      </a:solidFill>
                      <a:prstDash val="solid"/>
                      <a:round/>
                      <a:headEnd type="none" w="med" len="med"/>
                      <a:tailEnd type="none" w="med" len="med"/>
                    </a:lnB>
                    <a:solidFill>
                      <a:srgbClr val="111F38"/>
                    </a:solidFill>
                  </a:tcPr>
                </a:tc>
              </a:tr>
              <a:tr h="434340">
                <a:tc>
                  <a:txBody>
                    <a:bodyPr/>
                    <a:lstStyle/>
                    <a:p>
                      <a:pPr indent="0" marL="0">
                        <a:buNone/>
                      </a:pPr>
                      <a:r>
                        <a:rPr lang="en-US" sz="1050" dirty="0">
                          <a:solidFill>
                            <a:srgbClr val="F0B429"/>
                          </a:solidFill>
                          <a:latin typeface="Calibri" pitchFamily="34" charset="0"/>
                          <a:ea typeface="Calibri" pitchFamily="34" charset="-122"/>
                          <a:cs typeface="Calibri" pitchFamily="34" charset="-120"/>
                        </a:rPr>
                        <a:t>Missing Country</a:t>
                      </a:r>
                      <a:endParaRPr lang="en-US" sz="1050" dirty="0">
                        <a:latin typeface="Calibri" charset="0"/>
                        <a:ea typeface="Calibri" charset="0"/>
                        <a:cs typeface="Calibri" charset="0"/>
                      </a:endParaRPr>
                    </a:p>
                  </a:txBody>
                  <a:tcPr marL="91440" marR="91440" marT="45720" marB="45720" anchor="ctr">
                    <a:lnL w="9525" cap="flat" cmpd="sng" algn="ctr">
                      <a:solidFill>
                        <a:srgbClr val="24314E"/>
                      </a:solidFill>
                      <a:prstDash val="solid"/>
                      <a:round/>
                      <a:headEnd type="none" w="med" len="med"/>
                      <a:tailEnd type="none" w="med" len="med"/>
                    </a:lnL>
                    <a:lnR w="9525" cap="flat" cmpd="sng" algn="ctr">
                      <a:solidFill>
                        <a:srgbClr val="24314E"/>
                      </a:solidFill>
                      <a:prstDash val="solid"/>
                      <a:round/>
                      <a:headEnd type="none" w="med" len="med"/>
                      <a:tailEnd type="none" w="med" len="med"/>
                    </a:lnR>
                    <a:lnT w="9525" cap="flat" cmpd="sng" algn="ctr">
                      <a:solidFill>
                        <a:srgbClr val="24314E"/>
                      </a:solidFill>
                      <a:prstDash val="solid"/>
                      <a:round/>
                      <a:headEnd type="none" w="med" len="med"/>
                      <a:tailEnd type="none" w="med" len="med"/>
                    </a:lnT>
                    <a:lnB w="9525" cap="flat" cmpd="sng" algn="ctr">
                      <a:solidFill>
                        <a:srgbClr val="24314E"/>
                      </a:solidFill>
                      <a:prstDash val="solid"/>
                      <a:round/>
                      <a:headEnd type="none" w="med" len="med"/>
                      <a:tailEnd type="none" w="med" len="med"/>
                    </a:lnB>
                    <a:solidFill>
                      <a:srgbClr val="111F38"/>
                    </a:solidFill>
                  </a:tcPr>
                </a:tc>
                <a:tc>
                  <a:txBody>
                    <a:bodyPr/>
                    <a:lstStyle/>
                    <a:p>
                      <a:pPr indent="0" marL="0">
                        <a:buNone/>
                      </a:pPr>
                      <a:r>
                        <a:rPr lang="en-US" sz="1050" dirty="0">
                          <a:solidFill>
                            <a:srgbClr val="E8EDF5"/>
                          </a:solidFill>
                          <a:latin typeface="Calibri" pitchFamily="34" charset="0"/>
                          <a:ea typeface="Calibri" pitchFamily="34" charset="-122"/>
                          <a:cs typeface="Calibri" pitchFamily="34" charset="-120"/>
                        </a:rPr>
                        <a:t>1 row</a:t>
                      </a:r>
                      <a:endParaRPr lang="en-US" sz="1050" dirty="0">
                        <a:latin typeface="Calibri" charset="0"/>
                        <a:ea typeface="Calibri" charset="0"/>
                        <a:cs typeface="Calibri" charset="0"/>
                      </a:endParaRPr>
                    </a:p>
                  </a:txBody>
                  <a:tcPr marL="91440" marR="91440" marT="45720" marB="45720" anchor="ctr">
                    <a:lnL w="9525" cap="flat" cmpd="sng" algn="ctr">
                      <a:solidFill>
                        <a:srgbClr val="24314E"/>
                      </a:solidFill>
                      <a:prstDash val="solid"/>
                      <a:round/>
                      <a:headEnd type="none" w="med" len="med"/>
                      <a:tailEnd type="none" w="med" len="med"/>
                    </a:lnL>
                    <a:lnR w="9525" cap="flat" cmpd="sng" algn="ctr">
                      <a:solidFill>
                        <a:srgbClr val="24314E"/>
                      </a:solidFill>
                      <a:prstDash val="solid"/>
                      <a:round/>
                      <a:headEnd type="none" w="med" len="med"/>
                      <a:tailEnd type="none" w="med" len="med"/>
                    </a:lnR>
                    <a:lnT w="9525" cap="flat" cmpd="sng" algn="ctr">
                      <a:solidFill>
                        <a:srgbClr val="24314E"/>
                      </a:solidFill>
                      <a:prstDash val="solid"/>
                      <a:round/>
                      <a:headEnd type="none" w="med" len="med"/>
                      <a:tailEnd type="none" w="med" len="med"/>
                    </a:lnT>
                    <a:lnB w="9525" cap="flat" cmpd="sng" algn="ctr">
                      <a:solidFill>
                        <a:srgbClr val="24314E"/>
                      </a:solidFill>
                      <a:prstDash val="solid"/>
                      <a:round/>
                      <a:headEnd type="none" w="med" len="med"/>
                      <a:tailEnd type="none" w="med" len="med"/>
                    </a:lnB>
                    <a:solidFill>
                      <a:srgbClr val="111F38"/>
                    </a:solidFill>
                  </a:tcPr>
                </a:tc>
                <a:tc>
                  <a:txBody>
                    <a:bodyPr/>
                    <a:lstStyle/>
                    <a:p>
                      <a:pPr indent="0" marL="0">
                        <a:buNone/>
                      </a:pPr>
                      <a:r>
                        <a:rPr lang="en-US" sz="1050" dirty="0">
                          <a:solidFill>
                            <a:srgbClr val="E8EDF5"/>
                          </a:solidFill>
                          <a:latin typeface="Calibri" pitchFamily="34" charset="0"/>
                          <a:ea typeface="Calibri" pitchFamily="34" charset="-122"/>
                          <a:cs typeface="Calibri" pitchFamily="34" charset="-120"/>
                        </a:rPr>
                        <a:t>&lt;0.1%</a:t>
                      </a:r>
                      <a:endParaRPr lang="en-US" sz="1050" dirty="0">
                        <a:latin typeface="Calibri" charset="0"/>
                        <a:ea typeface="Calibri" charset="0"/>
                        <a:cs typeface="Calibri" charset="0"/>
                      </a:endParaRPr>
                    </a:p>
                  </a:txBody>
                  <a:tcPr marL="91440" marR="91440" marT="45720" marB="45720" anchor="ctr">
                    <a:lnL w="9525" cap="flat" cmpd="sng" algn="ctr">
                      <a:solidFill>
                        <a:srgbClr val="24314E"/>
                      </a:solidFill>
                      <a:prstDash val="solid"/>
                      <a:round/>
                      <a:headEnd type="none" w="med" len="med"/>
                      <a:tailEnd type="none" w="med" len="med"/>
                    </a:lnL>
                    <a:lnR w="9525" cap="flat" cmpd="sng" algn="ctr">
                      <a:solidFill>
                        <a:srgbClr val="24314E"/>
                      </a:solidFill>
                      <a:prstDash val="solid"/>
                      <a:round/>
                      <a:headEnd type="none" w="med" len="med"/>
                      <a:tailEnd type="none" w="med" len="med"/>
                    </a:lnR>
                    <a:lnT w="9525" cap="flat" cmpd="sng" algn="ctr">
                      <a:solidFill>
                        <a:srgbClr val="24314E"/>
                      </a:solidFill>
                      <a:prstDash val="solid"/>
                      <a:round/>
                      <a:headEnd type="none" w="med" len="med"/>
                      <a:tailEnd type="none" w="med" len="med"/>
                    </a:lnT>
                    <a:lnB w="9525" cap="flat" cmpd="sng" algn="ctr">
                      <a:solidFill>
                        <a:srgbClr val="24314E"/>
                      </a:solidFill>
                      <a:prstDash val="solid"/>
                      <a:round/>
                      <a:headEnd type="none" w="med" len="med"/>
                      <a:tailEnd type="none" w="med" len="med"/>
                    </a:lnB>
                    <a:solidFill>
                      <a:srgbClr val="111F38"/>
                    </a:solidFill>
                  </a:tcPr>
                </a:tc>
                <a:tc>
                  <a:txBody>
                    <a:bodyPr/>
                    <a:lstStyle/>
                    <a:p>
                      <a:pPr indent="0" marL="0">
                        <a:buNone/>
                      </a:pPr>
                      <a:r>
                        <a:rPr lang="en-US" sz="1050" dirty="0">
                          <a:solidFill>
                            <a:srgbClr val="E8EDF5"/>
                          </a:solidFill>
                          <a:latin typeface="Calibri" pitchFamily="34" charset="0"/>
                          <a:ea typeface="Calibri" pitchFamily="34" charset="-122"/>
                          <a:cs typeface="Calibri" pitchFamily="34" charset="-120"/>
                        </a:rPr>
                        <a:t>Kept — irrelevant to the 13 behavioral features used</a:t>
                      </a:r>
                      <a:endParaRPr lang="en-US" sz="1050" dirty="0">
                        <a:latin typeface="Calibri" charset="0"/>
                        <a:ea typeface="Calibri" charset="0"/>
                        <a:cs typeface="Calibri" charset="0"/>
                      </a:endParaRPr>
                    </a:p>
                  </a:txBody>
                  <a:tcPr marL="91440" marR="91440" marT="45720" marB="45720" anchor="ctr">
                    <a:lnL w="9525" cap="flat" cmpd="sng" algn="ctr">
                      <a:solidFill>
                        <a:srgbClr val="24314E"/>
                      </a:solidFill>
                      <a:prstDash val="solid"/>
                      <a:round/>
                      <a:headEnd type="none" w="med" len="med"/>
                      <a:tailEnd type="none" w="med" len="med"/>
                    </a:lnL>
                    <a:lnR w="9525" cap="flat" cmpd="sng" algn="ctr">
                      <a:solidFill>
                        <a:srgbClr val="24314E"/>
                      </a:solidFill>
                      <a:prstDash val="solid"/>
                      <a:round/>
                      <a:headEnd type="none" w="med" len="med"/>
                      <a:tailEnd type="none" w="med" len="med"/>
                    </a:lnR>
                    <a:lnT w="9525" cap="flat" cmpd="sng" algn="ctr">
                      <a:solidFill>
                        <a:srgbClr val="24314E"/>
                      </a:solidFill>
                      <a:prstDash val="solid"/>
                      <a:round/>
                      <a:headEnd type="none" w="med" len="med"/>
                      <a:tailEnd type="none" w="med" len="med"/>
                    </a:lnT>
                    <a:lnB w="9525" cap="flat" cmpd="sng" algn="ctr">
                      <a:solidFill>
                        <a:srgbClr val="24314E"/>
                      </a:solidFill>
                      <a:prstDash val="solid"/>
                      <a:round/>
                      <a:headEnd type="none" w="med" len="med"/>
                      <a:tailEnd type="none" w="med" len="med"/>
                    </a:lnB>
                    <a:solidFill>
                      <a:srgbClr val="111F38"/>
                    </a:solidFill>
                  </a:tcPr>
                </a:tc>
              </a:tr>
            </a:tbl>
          </a:graphicData>
        </a:graphic>
      </p:graphicFrame>
      <p:sp>
        <p:nvSpPr>
          <p:cNvPr id="6" name="Shape 3"/>
          <p:cNvSpPr/>
          <p:nvPr/>
        </p:nvSpPr>
        <p:spPr>
          <a:xfrm>
            <a:off x="548640" y="4846320"/>
            <a:ext cx="11064240" cy="1234440"/>
          </a:xfrm>
          <a:prstGeom prst="roundRect">
            <a:avLst>
              <a:gd name="adj" fmla="val 8889"/>
            </a:avLst>
          </a:prstGeom>
          <a:solidFill>
            <a:srgbClr val="0F1B30"/>
          </a:solidFill>
          <a:ln w="12700">
            <a:solidFill>
              <a:srgbClr val="F0B429"/>
            </a:solidFill>
            <a:prstDash val="solid"/>
          </a:ln>
        </p:spPr>
      </p:sp>
      <p:sp>
        <p:nvSpPr>
          <p:cNvPr id="7" name="Shape 4"/>
          <p:cNvSpPr/>
          <p:nvPr/>
        </p:nvSpPr>
        <p:spPr>
          <a:xfrm>
            <a:off x="777240" y="5029200"/>
            <a:ext cx="502920" cy="502920"/>
          </a:xfrm>
          <a:prstGeom prst="ellipse">
            <a:avLst/>
          </a:prstGeom>
          <a:solidFill>
            <a:srgbClr val="F0B429">
              <a:alpha val="18000"/>
            </a:srgbClr>
          </a:solidFill>
          <a:ln w="12700">
            <a:solidFill>
              <a:srgbClr val="F0B429"/>
            </a:solidFill>
            <a:prstDash val="solid"/>
          </a:ln>
        </p:spPr>
      </p:sp>
      <p:sp>
        <p:nvSpPr>
          <p:cNvPr id="8" name="Text 5"/>
          <p:cNvSpPr txBox="1"/>
          <p:nvPr/>
        </p:nvSpPr>
        <p:spPr>
          <a:xfrm>
            <a:off x="777240" y="5010912"/>
            <a:ext cx="502920" cy="502920"/>
          </a:xfrm>
          <a:prstGeom prst="rect">
            <a:avLst/>
          </a:prstGeom>
          <a:noFill/>
          <a:ln/>
        </p:spPr>
        <p:txBody>
          <a:bodyPr wrap="square" lIns="0" tIns="0" rIns="0" bIns="0" rtlCol="0" anchor="ctr"/>
          <a:lstStyle/>
          <a:p>
            <a:pPr algn="ctr" indent="0" marL="0">
              <a:buNone/>
            </a:pPr>
            <a:r>
              <a:rPr lang="en-US" sz="1430" dirty="0">
                <a:solidFill>
                  <a:srgbClr val="F0B429"/>
                </a:solidFill>
                <a:latin typeface="Calibri" pitchFamily="34" charset="0"/>
                <a:ea typeface="Calibri" pitchFamily="34" charset="-122"/>
                <a:cs typeface="Calibri" pitchFamily="34" charset="-120"/>
              </a:rPr>
              <a:t>✅</a:t>
            </a:r>
            <a:endParaRPr lang="en-US" sz="1430" dirty="0"/>
          </a:p>
        </p:txBody>
      </p:sp>
      <p:sp>
        <p:nvSpPr>
          <p:cNvPr id="9" name="Text 6"/>
          <p:cNvSpPr txBox="1"/>
          <p:nvPr/>
        </p:nvSpPr>
        <p:spPr>
          <a:xfrm>
            <a:off x="1463040" y="4965192"/>
            <a:ext cx="9966960" cy="1005840"/>
          </a:xfrm>
          <a:prstGeom prst="rect">
            <a:avLst/>
          </a:prstGeom>
          <a:noFill/>
          <a:ln/>
        </p:spPr>
        <p:txBody>
          <a:bodyPr wrap="square" lIns="0" tIns="0" rIns="0" bIns="0" rtlCol="0" anchor="ctr"/>
          <a:lstStyle/>
          <a:p>
            <a:pPr indent="0" marL="0">
              <a:lnSpc>
                <a:spcPct val="125000"/>
              </a:lnSpc>
              <a:buNone/>
            </a:pPr>
            <a:r>
              <a:rPr lang="en-US" sz="1150" b="1" dirty="0">
                <a:solidFill>
                  <a:srgbClr val="FFFFFF"/>
                </a:solidFill>
                <a:latin typeface="Calibri" pitchFamily="34" charset="0"/>
                <a:ea typeface="Calibri" pitchFamily="34" charset="-122"/>
                <a:cs typeface="Calibri" pitchFamily="34" charset="-120"/>
              </a:rPr>
              <a:t>Net result:  </a:t>
            </a:r>
            <a:pPr indent="0" marL="0">
              <a:lnSpc>
                <a:spcPct val="125000"/>
              </a:lnSpc>
              <a:buNone/>
            </a:pPr>
            <a:r>
              <a:rPr lang="en-US" sz="1150" dirty="0">
                <a:solidFill>
                  <a:srgbClr val="A8B8D0"/>
                </a:solidFill>
                <a:latin typeface="Calibri" pitchFamily="34" charset="0"/>
                <a:ea typeface="Calibri" pitchFamily="34" charset="-122"/>
                <a:cs typeface="Calibri" pitchFamily="34" charset="-120"/>
              </a:rPr>
              <a:t>25,033 of 38,209 raw rows retained (65.5%), covering 909 unique, fully-attributable customers. The only material loss is the missing-CustomerID gap — worth a separate conversation with the checkout/CRM team about capturing customer identity more consistently at the point of sale.</a:t>
            </a:r>
            <a:endParaRPr lang="en-US" sz="1150" dirty="0"/>
          </a:p>
        </p:txBody>
      </p:sp>
      <p:sp>
        <p:nvSpPr>
          <p:cNvPr id="10" name="Text 7"/>
          <p:cNvSpPr/>
          <p:nvPr/>
        </p:nvSpPr>
        <p:spPr>
          <a:xfrm>
            <a:off x="457200" y="6528816"/>
            <a:ext cx="7315200" cy="274320"/>
          </a:xfrm>
          <a:prstGeom prst="rect">
            <a:avLst/>
          </a:prstGeom>
          <a:noFill/>
          <a:ln/>
        </p:spPr>
        <p:txBody>
          <a:bodyPr wrap="square" lIns="0" tIns="0" rIns="0" bIns="0" rtlCol="0" anchor="ctr"/>
          <a:lstStyle/>
          <a:p>
            <a:pPr algn="l" indent="0" marL="0">
              <a:buNone/>
            </a:pPr>
            <a:r>
              <a:rPr lang="en-US" sz="900" dirty="0">
                <a:solidFill>
                  <a:srgbClr val="72859E"/>
                </a:solidFill>
                <a:latin typeface="Calibri" pitchFamily="34" charset="0"/>
                <a:ea typeface="Calibri" pitchFamily="34" charset="-122"/>
                <a:cs typeface="Calibri" pitchFamily="34" charset="-120"/>
              </a:rPr>
              <a:t>Online Retail Business · Customer Segmentation</a:t>
            </a:r>
            <a:endParaRPr lang="en-US" sz="900" dirty="0"/>
          </a:p>
        </p:txBody>
      </p:sp>
      <p:sp>
        <p:nvSpPr>
          <p:cNvPr id="11" name="Text 8"/>
          <p:cNvSpPr/>
          <p:nvPr/>
        </p:nvSpPr>
        <p:spPr>
          <a:xfrm>
            <a:off x="11000232" y="6528816"/>
            <a:ext cx="731520" cy="274320"/>
          </a:xfrm>
          <a:prstGeom prst="rect">
            <a:avLst/>
          </a:prstGeom>
          <a:noFill/>
          <a:ln/>
        </p:spPr>
        <p:txBody>
          <a:bodyPr wrap="square" lIns="0" tIns="0" rIns="0" bIns="0" rtlCol="0" anchor="ctr"/>
          <a:lstStyle/>
          <a:p>
            <a:pPr algn="r" indent="0" marL="0">
              <a:buNone/>
            </a:pPr>
            <a:r>
              <a:rPr lang="en-US" sz="900" dirty="0">
                <a:solidFill>
                  <a:srgbClr val="72859E"/>
                </a:solidFill>
                <a:latin typeface="Calibri" pitchFamily="34" charset="0"/>
                <a:ea typeface="Calibri" pitchFamily="34" charset="-122"/>
                <a:cs typeface="Calibri" pitchFamily="34" charset="-120"/>
              </a:rPr>
              <a:t>5 / 18</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B1220"/>
        </a:solidFill>
      </p:bgPr>
    </p:bg>
    <p:spTree>
      <p:nvGrpSpPr>
        <p:cNvPr id="1" name=""/>
        <p:cNvGrpSpPr/>
        <p:nvPr/>
      </p:nvGrpSpPr>
      <p:grpSpPr>
        <a:xfrm>
          <a:off x="0" y="0"/>
          <a:ext cx="0" cy="0"/>
          <a:chOff x="0" y="0"/>
          <a:chExt cx="0" cy="0"/>
        </a:xfrm>
      </p:grpSpPr>
      <p:sp>
        <p:nvSpPr>
          <p:cNvPr id="2" name="Text 0"/>
          <p:cNvSpPr txBox="1"/>
          <p:nvPr/>
        </p:nvSpPr>
        <p:spPr>
          <a:xfrm>
            <a:off x="548640" y="201168"/>
            <a:ext cx="7315200" cy="274320"/>
          </a:xfrm>
          <a:prstGeom prst="rect">
            <a:avLst/>
          </a:prstGeom>
          <a:noFill/>
          <a:ln/>
        </p:spPr>
        <p:txBody>
          <a:bodyPr wrap="square" lIns="0" tIns="0" rIns="0" bIns="0" rtlCol="0" anchor="ctr"/>
          <a:lstStyle/>
          <a:p>
            <a:pPr algn="l" indent="0" marL="0">
              <a:buNone/>
            </a:pPr>
            <a:r>
              <a:rPr lang="en-US" sz="1100" b="1" spc="200" kern="0" dirty="0">
                <a:solidFill>
                  <a:srgbClr val="14B8A6"/>
                </a:solidFill>
                <a:latin typeface="Calibri" pitchFamily="34" charset="0"/>
                <a:ea typeface="Calibri" pitchFamily="34" charset="-122"/>
                <a:cs typeface="Calibri" pitchFamily="34" charset="-120"/>
              </a:rPr>
              <a:t>METHODOLOGY · STEP 3</a:t>
            </a:r>
            <a:endParaRPr lang="en-US" sz="1100" dirty="0"/>
          </a:p>
        </p:txBody>
      </p:sp>
      <p:sp>
        <p:nvSpPr>
          <p:cNvPr id="3" name="Text 1"/>
          <p:cNvSpPr txBox="1"/>
          <p:nvPr/>
        </p:nvSpPr>
        <p:spPr>
          <a:xfrm>
            <a:off x="548640" y="411480"/>
            <a:ext cx="11064240" cy="685800"/>
          </a:xfrm>
          <a:prstGeom prst="rect">
            <a:avLst/>
          </a:prstGeom>
          <a:noFill/>
          <a:ln/>
        </p:spPr>
        <p:txBody>
          <a:bodyPr wrap="square" lIns="0" tIns="0" rIns="0" bIns="0" rtlCol="0" anchor="ctr"/>
          <a:lstStyle/>
          <a:p>
            <a:pPr algn="l" indent="0" marL="0">
              <a:buNone/>
            </a:pPr>
            <a:r>
              <a:rPr lang="en-US" sz="3000" b="1" dirty="0">
                <a:solidFill>
                  <a:srgbClr val="FFFFFF"/>
                </a:solidFill>
                <a:latin typeface="Cambria" pitchFamily="34" charset="0"/>
                <a:ea typeface="Cambria" pitchFamily="34" charset="-122"/>
                <a:cs typeface="Cambria" pitchFamily="34" charset="-120"/>
              </a:rPr>
              <a:t>13 Behavioral Features, Three Signal Families</a:t>
            </a:r>
            <a:endParaRPr lang="en-US" sz="3000" dirty="0"/>
          </a:p>
        </p:txBody>
      </p:sp>
      <p:sp>
        <p:nvSpPr>
          <p:cNvPr id="4" name="Text 2"/>
          <p:cNvSpPr txBox="1"/>
          <p:nvPr/>
        </p:nvSpPr>
        <p:spPr>
          <a:xfrm>
            <a:off x="548640" y="1325880"/>
            <a:ext cx="10789920" cy="548640"/>
          </a:xfrm>
          <a:prstGeom prst="rect">
            <a:avLst/>
          </a:prstGeom>
          <a:noFill/>
          <a:ln/>
        </p:spPr>
        <p:txBody>
          <a:bodyPr wrap="square" lIns="0" tIns="0" rIns="0" bIns="0" rtlCol="0" anchor="ctr"/>
          <a:lstStyle/>
          <a:p>
            <a:pPr indent="0" marL="0">
              <a:buNone/>
            </a:pPr>
            <a:r>
              <a:rPr lang="en-US" sz="1300" dirty="0">
                <a:solidFill>
                  <a:srgbClr val="A8B8D0"/>
                </a:solidFill>
                <a:latin typeface="Calibri" pitchFamily="34" charset="0"/>
                <a:ea typeface="Calibri" pitchFamily="34" charset="-122"/>
                <a:cs typeface="Calibri" pitchFamily="34" charset="-120"/>
              </a:rPr>
              <a:t>Every customer's raw purchase history was compressed into a fixed set of behavioral signals, grouped into three families that together describe how, how often, and how safely a customer buys.</a:t>
            </a:r>
            <a:endParaRPr lang="en-US" sz="1300" dirty="0"/>
          </a:p>
        </p:txBody>
      </p:sp>
      <p:sp>
        <p:nvSpPr>
          <p:cNvPr id="5" name="Shape 3"/>
          <p:cNvSpPr/>
          <p:nvPr/>
        </p:nvSpPr>
        <p:spPr>
          <a:xfrm>
            <a:off x="548640" y="2148840"/>
            <a:ext cx="3931920" cy="3886200"/>
          </a:xfrm>
          <a:prstGeom prst="roundRect">
            <a:avLst>
              <a:gd name="adj" fmla="val 3294"/>
            </a:avLst>
          </a:prstGeom>
          <a:solidFill>
            <a:srgbClr val="111F38"/>
          </a:solidFill>
          <a:ln w="9525">
            <a:solidFill>
              <a:srgbClr val="24314E"/>
            </a:solidFill>
            <a:prstDash val="solid"/>
          </a:ln>
        </p:spPr>
      </p:sp>
      <p:sp>
        <p:nvSpPr>
          <p:cNvPr id="6" name="Shape 4"/>
          <p:cNvSpPr/>
          <p:nvPr/>
        </p:nvSpPr>
        <p:spPr>
          <a:xfrm>
            <a:off x="804672" y="2404872"/>
            <a:ext cx="502920" cy="502920"/>
          </a:xfrm>
          <a:prstGeom prst="ellipse">
            <a:avLst/>
          </a:prstGeom>
          <a:solidFill>
            <a:srgbClr val="3B82F6">
              <a:alpha val="18000"/>
            </a:srgbClr>
          </a:solidFill>
          <a:ln w="12700">
            <a:solidFill>
              <a:srgbClr val="3B82F6"/>
            </a:solidFill>
            <a:prstDash val="solid"/>
          </a:ln>
        </p:spPr>
      </p:sp>
      <p:sp>
        <p:nvSpPr>
          <p:cNvPr id="7" name="Text 5"/>
          <p:cNvSpPr txBox="1"/>
          <p:nvPr/>
        </p:nvSpPr>
        <p:spPr>
          <a:xfrm>
            <a:off x="804672" y="2386584"/>
            <a:ext cx="502920" cy="502920"/>
          </a:xfrm>
          <a:prstGeom prst="rect">
            <a:avLst/>
          </a:prstGeom>
          <a:noFill/>
          <a:ln/>
        </p:spPr>
        <p:txBody>
          <a:bodyPr wrap="square" lIns="0" tIns="0" rIns="0" bIns="0" rtlCol="0" anchor="ctr"/>
          <a:lstStyle/>
          <a:p>
            <a:pPr algn="ctr" indent="0" marL="0">
              <a:buNone/>
            </a:pPr>
            <a:r>
              <a:rPr lang="en-US" sz="1430" dirty="0">
                <a:solidFill>
                  <a:srgbClr val="3B82F6"/>
                </a:solidFill>
                <a:latin typeface="Calibri" pitchFamily="34" charset="0"/>
                <a:ea typeface="Calibri" pitchFamily="34" charset="-122"/>
                <a:cs typeface="Calibri" pitchFamily="34" charset="-120"/>
              </a:rPr>
              <a:t>💳</a:t>
            </a:r>
            <a:endParaRPr lang="en-US" sz="1430" dirty="0"/>
          </a:p>
        </p:txBody>
      </p:sp>
      <p:sp>
        <p:nvSpPr>
          <p:cNvPr id="8" name="Text 6"/>
          <p:cNvSpPr txBox="1"/>
          <p:nvPr/>
        </p:nvSpPr>
        <p:spPr>
          <a:xfrm>
            <a:off x="804672" y="3063240"/>
            <a:ext cx="3419856" cy="365760"/>
          </a:xfrm>
          <a:prstGeom prst="rect">
            <a:avLst/>
          </a:prstGeom>
          <a:noFill/>
          <a:ln/>
        </p:spPr>
        <p:txBody>
          <a:bodyPr wrap="square" lIns="0" tIns="0" rIns="0" bIns="0" rtlCol="0" anchor="ctr"/>
          <a:lstStyle/>
          <a:p>
            <a:pPr indent="0" marL="0">
              <a:buNone/>
            </a:pPr>
            <a:r>
              <a:rPr lang="en-US" sz="1500" b="1" dirty="0">
                <a:solidFill>
                  <a:srgbClr val="FFFFFF"/>
                </a:solidFill>
                <a:latin typeface="Cambria" pitchFamily="34" charset="0"/>
                <a:ea typeface="Cambria" pitchFamily="34" charset="-122"/>
                <a:cs typeface="Cambria" pitchFamily="34" charset="-120"/>
              </a:rPr>
              <a:t>Value &amp; Frequency</a:t>
            </a:r>
            <a:endParaRPr lang="en-US" sz="1500" dirty="0"/>
          </a:p>
        </p:txBody>
      </p:sp>
      <p:sp>
        <p:nvSpPr>
          <p:cNvPr id="9" name="Text 7"/>
          <p:cNvSpPr txBox="1"/>
          <p:nvPr/>
        </p:nvSpPr>
        <p:spPr>
          <a:xfrm>
            <a:off x="804672" y="3474720"/>
            <a:ext cx="3419856" cy="2377440"/>
          </a:xfrm>
          <a:prstGeom prst="rect">
            <a:avLst/>
          </a:prstGeom>
          <a:noFill/>
          <a:ln/>
        </p:spPr>
        <p:txBody>
          <a:bodyPr wrap="square" lIns="0" tIns="0" rIns="0" bIns="0" rtlCol="0" anchor="t"/>
          <a:lstStyle/>
          <a:p>
            <a:pPr marL="177800" indent="-177800">
              <a:spcAft>
                <a:spcPts val="800"/>
              </a:spcAft>
              <a:buSzPct val="100000"/>
              <a:buChar char="●"/>
            </a:pPr>
            <a:r>
              <a:rPr lang="en-US" sz="1150" dirty="0">
                <a:solidFill>
                  <a:srgbClr val="A8B8D0"/>
                </a:solidFill>
                <a:latin typeface="Calibri" pitchFamily="34" charset="0"/>
                <a:ea typeface="Calibri" pitchFamily="34" charset="-122"/>
                <a:cs typeface="Calibri" pitchFamily="34" charset="-120"/>
              </a:rPr>
              <a:t>Recency</a:t>
            </a:r>
            <a:endParaRPr lang="en-US" sz="1150" dirty="0"/>
          </a:p>
          <a:p>
            <a:pPr marL="177800" indent="-177800">
              <a:spcAft>
                <a:spcPts val="800"/>
              </a:spcAft>
              <a:buSzPct val="100000"/>
              <a:buChar char="●"/>
            </a:pPr>
            <a:r>
              <a:rPr lang="en-US" sz="1150" dirty="0">
                <a:solidFill>
                  <a:srgbClr val="A8B8D0"/>
                </a:solidFill>
                <a:latin typeface="Calibri" pitchFamily="34" charset="0"/>
                <a:ea typeface="Calibri" pitchFamily="34" charset="-122"/>
                <a:cs typeface="Calibri" pitchFamily="34" charset="-120"/>
              </a:rPr>
              <a:t>Frequency</a:t>
            </a:r>
            <a:endParaRPr lang="en-US" sz="1150" dirty="0"/>
          </a:p>
          <a:p>
            <a:pPr marL="177800" indent="-177800">
              <a:spcAft>
                <a:spcPts val="800"/>
              </a:spcAft>
              <a:buSzPct val="100000"/>
              <a:buChar char="●"/>
            </a:pPr>
            <a:r>
              <a:rPr lang="en-US" sz="1150" dirty="0">
                <a:solidFill>
                  <a:srgbClr val="A8B8D0"/>
                </a:solidFill>
                <a:latin typeface="Calibri" pitchFamily="34" charset="0"/>
                <a:ea typeface="Calibri" pitchFamily="34" charset="-122"/>
                <a:cs typeface="Calibri" pitchFamily="34" charset="-120"/>
              </a:rPr>
              <a:t>Monetary</a:t>
            </a:r>
            <a:endParaRPr lang="en-US" sz="1150" dirty="0"/>
          </a:p>
          <a:p>
            <a:pPr marL="177800" indent="-177800">
              <a:spcAft>
                <a:spcPts val="800"/>
              </a:spcAft>
              <a:buSzPct val="100000"/>
              <a:buChar char="●"/>
            </a:pPr>
            <a:r>
              <a:rPr lang="en-US" sz="1150" dirty="0">
                <a:solidFill>
                  <a:srgbClr val="A8B8D0"/>
                </a:solidFill>
                <a:latin typeface="Calibri" pitchFamily="34" charset="0"/>
                <a:ea typeface="Calibri" pitchFamily="34" charset="-122"/>
                <a:cs typeface="Calibri" pitchFamily="34" charset="-120"/>
              </a:rPr>
              <a:t>Total Quantity</a:t>
            </a:r>
            <a:endParaRPr lang="en-US" sz="1150" dirty="0"/>
          </a:p>
          <a:p>
            <a:pPr marL="177800" indent="-177800">
              <a:spcAft>
                <a:spcPts val="800"/>
              </a:spcAft>
              <a:buSzPct val="100000"/>
              <a:buChar char="●"/>
            </a:pPr>
            <a:r>
              <a:rPr lang="en-US" sz="1150" dirty="0">
                <a:solidFill>
                  <a:srgbClr val="A8B8D0"/>
                </a:solidFill>
                <a:latin typeface="Calibri" pitchFamily="34" charset="0"/>
                <a:ea typeface="Calibri" pitchFamily="34" charset="-122"/>
                <a:cs typeface="Calibri" pitchFamily="34" charset="-120"/>
              </a:rPr>
              <a:t>Average Order Value</a:t>
            </a:r>
            <a:endParaRPr lang="en-US" sz="1150" dirty="0"/>
          </a:p>
          <a:p>
            <a:pPr marL="177800" indent="-177800">
              <a:spcAft>
                <a:spcPts val="800"/>
              </a:spcAft>
              <a:buSzPct val="100000"/>
              <a:buChar char="●"/>
            </a:pPr>
            <a:r>
              <a:rPr lang="en-US" sz="1150" dirty="0">
                <a:solidFill>
                  <a:srgbClr val="A8B8D0"/>
                </a:solidFill>
                <a:latin typeface="Calibri" pitchFamily="34" charset="0"/>
                <a:ea typeface="Calibri" pitchFamily="34" charset="-122"/>
                <a:cs typeface="Calibri" pitchFamily="34" charset="-120"/>
              </a:rPr>
              <a:t>Average Quantity / Order</a:t>
            </a:r>
            <a:endParaRPr lang="en-US" sz="1150" dirty="0"/>
          </a:p>
          <a:p>
            <a:pPr marL="177800" indent="-177800">
              <a:spcAft>
                <a:spcPts val="800"/>
              </a:spcAft>
              <a:buSzPct val="100000"/>
              <a:buChar char="●"/>
            </a:pPr>
            <a:r>
              <a:rPr lang="en-US" sz="1150" dirty="0">
                <a:solidFill>
                  <a:srgbClr val="A8B8D0"/>
                </a:solidFill>
                <a:latin typeface="Calibri" pitchFamily="34" charset="0"/>
                <a:ea typeface="Calibri" pitchFamily="34" charset="-122"/>
                <a:cs typeface="Calibri" pitchFamily="34" charset="-120"/>
              </a:rPr>
              <a:t>Average Unit Price</a:t>
            </a:r>
            <a:endParaRPr lang="en-US" sz="1150" dirty="0"/>
          </a:p>
        </p:txBody>
      </p:sp>
      <p:sp>
        <p:nvSpPr>
          <p:cNvPr id="10" name="Shape 8"/>
          <p:cNvSpPr/>
          <p:nvPr/>
        </p:nvSpPr>
        <p:spPr>
          <a:xfrm>
            <a:off x="4663440" y="2148840"/>
            <a:ext cx="3931920" cy="3886200"/>
          </a:xfrm>
          <a:prstGeom prst="roundRect">
            <a:avLst>
              <a:gd name="adj" fmla="val 3294"/>
            </a:avLst>
          </a:prstGeom>
          <a:solidFill>
            <a:srgbClr val="111F38"/>
          </a:solidFill>
          <a:ln w="9525">
            <a:solidFill>
              <a:srgbClr val="24314E"/>
            </a:solidFill>
            <a:prstDash val="solid"/>
          </a:ln>
        </p:spPr>
      </p:sp>
      <p:sp>
        <p:nvSpPr>
          <p:cNvPr id="11" name="Shape 9"/>
          <p:cNvSpPr/>
          <p:nvPr/>
        </p:nvSpPr>
        <p:spPr>
          <a:xfrm>
            <a:off x="4919472" y="2404872"/>
            <a:ext cx="502920" cy="502920"/>
          </a:xfrm>
          <a:prstGeom prst="ellipse">
            <a:avLst/>
          </a:prstGeom>
          <a:solidFill>
            <a:srgbClr val="14B8A6">
              <a:alpha val="18000"/>
            </a:srgbClr>
          </a:solidFill>
          <a:ln w="12700">
            <a:solidFill>
              <a:srgbClr val="14B8A6"/>
            </a:solidFill>
            <a:prstDash val="solid"/>
          </a:ln>
        </p:spPr>
      </p:sp>
      <p:sp>
        <p:nvSpPr>
          <p:cNvPr id="12" name="Text 10"/>
          <p:cNvSpPr txBox="1"/>
          <p:nvPr/>
        </p:nvSpPr>
        <p:spPr>
          <a:xfrm>
            <a:off x="4919472" y="2386584"/>
            <a:ext cx="502920" cy="502920"/>
          </a:xfrm>
          <a:prstGeom prst="rect">
            <a:avLst/>
          </a:prstGeom>
          <a:noFill/>
          <a:ln/>
        </p:spPr>
        <p:txBody>
          <a:bodyPr wrap="square" lIns="0" tIns="0" rIns="0" bIns="0" rtlCol="0" anchor="ctr"/>
          <a:lstStyle/>
          <a:p>
            <a:pPr algn="ctr" indent="0" marL="0">
              <a:buNone/>
            </a:pPr>
            <a:r>
              <a:rPr lang="en-US" sz="1430" dirty="0">
                <a:solidFill>
                  <a:srgbClr val="14B8A6"/>
                </a:solidFill>
                <a:latin typeface="Calibri" pitchFamily="34" charset="0"/>
                <a:ea typeface="Calibri" pitchFamily="34" charset="-122"/>
                <a:cs typeface="Calibri" pitchFamily="34" charset="-120"/>
              </a:rPr>
              <a:t>🔁</a:t>
            </a:r>
            <a:endParaRPr lang="en-US" sz="1430" dirty="0"/>
          </a:p>
        </p:txBody>
      </p:sp>
      <p:sp>
        <p:nvSpPr>
          <p:cNvPr id="13" name="Text 11"/>
          <p:cNvSpPr txBox="1"/>
          <p:nvPr/>
        </p:nvSpPr>
        <p:spPr>
          <a:xfrm>
            <a:off x="4919472" y="3063240"/>
            <a:ext cx="3419856" cy="365760"/>
          </a:xfrm>
          <a:prstGeom prst="rect">
            <a:avLst/>
          </a:prstGeom>
          <a:noFill/>
          <a:ln/>
        </p:spPr>
        <p:txBody>
          <a:bodyPr wrap="square" lIns="0" tIns="0" rIns="0" bIns="0" rtlCol="0" anchor="ctr"/>
          <a:lstStyle/>
          <a:p>
            <a:pPr indent="0" marL="0">
              <a:buNone/>
            </a:pPr>
            <a:r>
              <a:rPr lang="en-US" sz="1500" b="1" dirty="0">
                <a:solidFill>
                  <a:srgbClr val="FFFFFF"/>
                </a:solidFill>
                <a:latin typeface="Cambria" pitchFamily="34" charset="0"/>
                <a:ea typeface="Cambria" pitchFamily="34" charset="-122"/>
                <a:cs typeface="Cambria" pitchFamily="34" charset="-120"/>
              </a:rPr>
              <a:t>Engagement &amp; Loyalty</a:t>
            </a:r>
            <a:endParaRPr lang="en-US" sz="1500" dirty="0"/>
          </a:p>
        </p:txBody>
      </p:sp>
      <p:sp>
        <p:nvSpPr>
          <p:cNvPr id="14" name="Text 12"/>
          <p:cNvSpPr txBox="1"/>
          <p:nvPr/>
        </p:nvSpPr>
        <p:spPr>
          <a:xfrm>
            <a:off x="4919472" y="3474720"/>
            <a:ext cx="3419856" cy="2377440"/>
          </a:xfrm>
          <a:prstGeom prst="rect">
            <a:avLst/>
          </a:prstGeom>
          <a:noFill/>
          <a:ln/>
        </p:spPr>
        <p:txBody>
          <a:bodyPr wrap="square" lIns="0" tIns="0" rIns="0" bIns="0" rtlCol="0" anchor="t"/>
          <a:lstStyle/>
          <a:p>
            <a:pPr marL="177800" indent="-177800">
              <a:spcAft>
                <a:spcPts val="800"/>
              </a:spcAft>
              <a:buSzPct val="100000"/>
              <a:buChar char="●"/>
            </a:pPr>
            <a:r>
              <a:rPr lang="en-US" sz="1150" dirty="0">
                <a:solidFill>
                  <a:srgbClr val="A8B8D0"/>
                </a:solidFill>
                <a:latin typeface="Calibri" pitchFamily="34" charset="0"/>
                <a:ea typeface="Calibri" pitchFamily="34" charset="-122"/>
                <a:cs typeface="Calibri" pitchFamily="34" charset="-120"/>
              </a:rPr>
              <a:t>Unique Products</a:t>
            </a:r>
            <a:endParaRPr lang="en-US" sz="1150" dirty="0"/>
          </a:p>
          <a:p>
            <a:pPr marL="177800" indent="-177800">
              <a:spcAft>
                <a:spcPts val="800"/>
              </a:spcAft>
              <a:buSzPct val="100000"/>
              <a:buChar char="●"/>
            </a:pPr>
            <a:r>
              <a:rPr lang="en-US" sz="1150" dirty="0">
                <a:solidFill>
                  <a:srgbClr val="A8B8D0"/>
                </a:solidFill>
                <a:latin typeface="Calibri" pitchFamily="34" charset="0"/>
                <a:ea typeface="Calibri" pitchFamily="34" charset="-122"/>
                <a:cs typeface="Calibri" pitchFamily="34" charset="-120"/>
              </a:rPr>
              <a:t>Customer Lifetime (days)</a:t>
            </a:r>
            <a:endParaRPr lang="en-US" sz="1150" dirty="0"/>
          </a:p>
          <a:p>
            <a:pPr marL="177800" indent="-177800">
              <a:spcAft>
                <a:spcPts val="800"/>
              </a:spcAft>
              <a:buSzPct val="100000"/>
              <a:buChar char="●"/>
            </a:pPr>
            <a:r>
              <a:rPr lang="en-US" sz="1150" dirty="0">
                <a:solidFill>
                  <a:srgbClr val="A8B8D0"/>
                </a:solidFill>
                <a:latin typeface="Calibri" pitchFamily="34" charset="0"/>
                <a:ea typeface="Calibri" pitchFamily="34" charset="-122"/>
                <a:cs typeface="Calibri" pitchFamily="34" charset="-120"/>
              </a:rPr>
              <a:t>Average Days Between Orders</a:t>
            </a:r>
            <a:endParaRPr lang="en-US" sz="1150" dirty="0"/>
          </a:p>
          <a:p>
            <a:pPr marL="177800" indent="-177800">
              <a:spcAft>
                <a:spcPts val="800"/>
              </a:spcAft>
              <a:buSzPct val="100000"/>
              <a:buChar char="●"/>
            </a:pPr>
            <a:r>
              <a:rPr lang="en-US" sz="1150" dirty="0">
                <a:solidFill>
                  <a:srgbClr val="A8B8D0"/>
                </a:solidFill>
                <a:latin typeface="Calibri" pitchFamily="34" charset="0"/>
                <a:ea typeface="Calibri" pitchFamily="34" charset="-122"/>
                <a:cs typeface="Calibri" pitchFamily="34" charset="-120"/>
              </a:rPr>
              <a:t>Purchase Rate</a:t>
            </a:r>
            <a:endParaRPr lang="en-US" sz="1150" dirty="0"/>
          </a:p>
          <a:p>
            <a:pPr marL="177800" indent="-177800">
              <a:spcAft>
                <a:spcPts val="800"/>
              </a:spcAft>
              <a:buSzPct val="100000"/>
              <a:buChar char="●"/>
            </a:pPr>
            <a:r>
              <a:rPr lang="en-US" sz="1150" dirty="0">
                <a:solidFill>
                  <a:srgbClr val="A8B8D0"/>
                </a:solidFill>
                <a:latin typeface="Calibri" pitchFamily="34" charset="0"/>
                <a:ea typeface="Calibri" pitchFamily="34" charset="-122"/>
                <a:cs typeface="Calibri" pitchFamily="34" charset="-120"/>
              </a:rPr>
              <a:t>Weekend Purchase Ratio</a:t>
            </a:r>
            <a:endParaRPr lang="en-US" sz="1150" dirty="0"/>
          </a:p>
        </p:txBody>
      </p:sp>
      <p:sp>
        <p:nvSpPr>
          <p:cNvPr id="15" name="Shape 13"/>
          <p:cNvSpPr/>
          <p:nvPr/>
        </p:nvSpPr>
        <p:spPr>
          <a:xfrm>
            <a:off x="8778240" y="2148840"/>
            <a:ext cx="2926080" cy="3886200"/>
          </a:xfrm>
          <a:prstGeom prst="roundRect">
            <a:avLst>
              <a:gd name="adj" fmla="val 4375"/>
            </a:avLst>
          </a:prstGeom>
          <a:solidFill>
            <a:srgbClr val="111F38"/>
          </a:solidFill>
          <a:ln w="9525">
            <a:solidFill>
              <a:srgbClr val="24314E"/>
            </a:solidFill>
            <a:prstDash val="solid"/>
          </a:ln>
        </p:spPr>
      </p:sp>
      <p:sp>
        <p:nvSpPr>
          <p:cNvPr id="16" name="Shape 14"/>
          <p:cNvSpPr/>
          <p:nvPr/>
        </p:nvSpPr>
        <p:spPr>
          <a:xfrm>
            <a:off x="9034272" y="2404872"/>
            <a:ext cx="502920" cy="502920"/>
          </a:xfrm>
          <a:prstGeom prst="ellipse">
            <a:avLst/>
          </a:prstGeom>
          <a:solidFill>
            <a:srgbClr val="EF4444">
              <a:alpha val="18000"/>
            </a:srgbClr>
          </a:solidFill>
          <a:ln w="12700">
            <a:solidFill>
              <a:srgbClr val="EF4444"/>
            </a:solidFill>
            <a:prstDash val="solid"/>
          </a:ln>
        </p:spPr>
      </p:sp>
      <p:sp>
        <p:nvSpPr>
          <p:cNvPr id="17" name="Text 15"/>
          <p:cNvSpPr txBox="1"/>
          <p:nvPr/>
        </p:nvSpPr>
        <p:spPr>
          <a:xfrm>
            <a:off x="9034272" y="2386584"/>
            <a:ext cx="502920" cy="502920"/>
          </a:xfrm>
          <a:prstGeom prst="rect">
            <a:avLst/>
          </a:prstGeom>
          <a:noFill/>
          <a:ln/>
        </p:spPr>
        <p:txBody>
          <a:bodyPr wrap="square" lIns="0" tIns="0" rIns="0" bIns="0" rtlCol="0" anchor="ctr"/>
          <a:lstStyle/>
          <a:p>
            <a:pPr algn="ctr" indent="0" marL="0">
              <a:buNone/>
            </a:pPr>
            <a:r>
              <a:rPr lang="en-US" sz="1430" dirty="0">
                <a:solidFill>
                  <a:srgbClr val="EF4444"/>
                </a:solidFill>
                <a:latin typeface="Calibri" pitchFamily="34" charset="0"/>
                <a:ea typeface="Calibri" pitchFamily="34" charset="-122"/>
                <a:cs typeface="Calibri" pitchFamily="34" charset="-120"/>
              </a:rPr>
              <a:t>⚠️</a:t>
            </a:r>
            <a:endParaRPr lang="en-US" sz="1430" dirty="0"/>
          </a:p>
        </p:txBody>
      </p:sp>
      <p:sp>
        <p:nvSpPr>
          <p:cNvPr id="18" name="Text 16"/>
          <p:cNvSpPr txBox="1"/>
          <p:nvPr/>
        </p:nvSpPr>
        <p:spPr>
          <a:xfrm>
            <a:off x="9034272" y="3063240"/>
            <a:ext cx="2414016" cy="365760"/>
          </a:xfrm>
          <a:prstGeom prst="rect">
            <a:avLst/>
          </a:prstGeom>
          <a:noFill/>
          <a:ln/>
        </p:spPr>
        <p:txBody>
          <a:bodyPr wrap="square" lIns="0" tIns="0" rIns="0" bIns="0" rtlCol="0" anchor="ctr"/>
          <a:lstStyle/>
          <a:p>
            <a:pPr indent="0" marL="0">
              <a:buNone/>
            </a:pPr>
            <a:r>
              <a:rPr lang="en-US" sz="1500" b="1" dirty="0">
                <a:solidFill>
                  <a:srgbClr val="FFFFFF"/>
                </a:solidFill>
                <a:latin typeface="Cambria" pitchFamily="34" charset="0"/>
                <a:ea typeface="Cambria" pitchFamily="34" charset="-122"/>
                <a:cs typeface="Cambria" pitchFamily="34" charset="-120"/>
              </a:rPr>
              <a:t>Risk</a:t>
            </a:r>
            <a:endParaRPr lang="en-US" sz="1500" dirty="0"/>
          </a:p>
        </p:txBody>
      </p:sp>
      <p:sp>
        <p:nvSpPr>
          <p:cNvPr id="19" name="Text 17"/>
          <p:cNvSpPr txBox="1"/>
          <p:nvPr/>
        </p:nvSpPr>
        <p:spPr>
          <a:xfrm>
            <a:off x="9034272" y="3474720"/>
            <a:ext cx="2414016" cy="2377440"/>
          </a:xfrm>
          <a:prstGeom prst="rect">
            <a:avLst/>
          </a:prstGeom>
          <a:noFill/>
          <a:ln/>
        </p:spPr>
        <p:txBody>
          <a:bodyPr wrap="square" lIns="0" tIns="0" rIns="0" bIns="0" rtlCol="0" anchor="t"/>
          <a:lstStyle/>
          <a:p>
            <a:pPr marL="177800" indent="-177800">
              <a:spcAft>
                <a:spcPts val="800"/>
              </a:spcAft>
              <a:buSzPct val="100000"/>
              <a:buChar char="●"/>
            </a:pPr>
            <a:r>
              <a:rPr lang="en-US" sz="1150" dirty="0">
                <a:solidFill>
                  <a:srgbClr val="A8B8D0"/>
                </a:solidFill>
                <a:latin typeface="Calibri" pitchFamily="34" charset="0"/>
                <a:ea typeface="Calibri" pitchFamily="34" charset="-122"/>
                <a:cs typeface="Calibri" pitchFamily="34" charset="-120"/>
              </a:rPr>
              <a:t>Cancellation Rate</a:t>
            </a:r>
            <a:endParaRPr lang="en-US" sz="1150" dirty="0"/>
          </a:p>
        </p:txBody>
      </p:sp>
      <p:sp>
        <p:nvSpPr>
          <p:cNvPr id="20" name="Text 18"/>
          <p:cNvSpPr/>
          <p:nvPr/>
        </p:nvSpPr>
        <p:spPr>
          <a:xfrm>
            <a:off x="457200" y="6528816"/>
            <a:ext cx="7315200" cy="274320"/>
          </a:xfrm>
          <a:prstGeom prst="rect">
            <a:avLst/>
          </a:prstGeom>
          <a:noFill/>
          <a:ln/>
        </p:spPr>
        <p:txBody>
          <a:bodyPr wrap="square" lIns="0" tIns="0" rIns="0" bIns="0" rtlCol="0" anchor="ctr"/>
          <a:lstStyle/>
          <a:p>
            <a:pPr algn="l" indent="0" marL="0">
              <a:buNone/>
            </a:pPr>
            <a:r>
              <a:rPr lang="en-US" sz="900" dirty="0">
                <a:solidFill>
                  <a:srgbClr val="72859E"/>
                </a:solidFill>
                <a:latin typeface="Calibri" pitchFamily="34" charset="0"/>
                <a:ea typeface="Calibri" pitchFamily="34" charset="-122"/>
                <a:cs typeface="Calibri" pitchFamily="34" charset="-120"/>
              </a:rPr>
              <a:t>Online Retail Business · Customer Segmentation</a:t>
            </a:r>
            <a:endParaRPr lang="en-US" sz="900" dirty="0"/>
          </a:p>
        </p:txBody>
      </p:sp>
      <p:sp>
        <p:nvSpPr>
          <p:cNvPr id="21" name="Text 19"/>
          <p:cNvSpPr/>
          <p:nvPr/>
        </p:nvSpPr>
        <p:spPr>
          <a:xfrm>
            <a:off x="11000232" y="6528816"/>
            <a:ext cx="731520" cy="274320"/>
          </a:xfrm>
          <a:prstGeom prst="rect">
            <a:avLst/>
          </a:prstGeom>
          <a:noFill/>
          <a:ln/>
        </p:spPr>
        <p:txBody>
          <a:bodyPr wrap="square" lIns="0" tIns="0" rIns="0" bIns="0" rtlCol="0" anchor="ctr"/>
          <a:lstStyle/>
          <a:p>
            <a:pPr algn="r" indent="0" marL="0">
              <a:buNone/>
            </a:pPr>
            <a:r>
              <a:rPr lang="en-US" sz="900" dirty="0">
                <a:solidFill>
                  <a:srgbClr val="72859E"/>
                </a:solidFill>
                <a:latin typeface="Calibri" pitchFamily="34" charset="0"/>
                <a:ea typeface="Calibri" pitchFamily="34" charset="-122"/>
                <a:cs typeface="Calibri" pitchFamily="34" charset="-120"/>
              </a:rPr>
              <a:t>6 / 18</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B1220"/>
        </a:solidFill>
      </p:bgPr>
    </p:bg>
    <p:spTree>
      <p:nvGrpSpPr>
        <p:cNvPr id="1" name=""/>
        <p:cNvGrpSpPr/>
        <p:nvPr/>
      </p:nvGrpSpPr>
      <p:grpSpPr>
        <a:xfrm>
          <a:off x="0" y="0"/>
          <a:ext cx="0" cy="0"/>
          <a:chOff x="0" y="0"/>
          <a:chExt cx="0" cy="0"/>
        </a:xfrm>
      </p:grpSpPr>
      <p:sp>
        <p:nvSpPr>
          <p:cNvPr id="2" name="Text 0"/>
          <p:cNvSpPr txBox="1"/>
          <p:nvPr/>
        </p:nvSpPr>
        <p:spPr>
          <a:xfrm>
            <a:off x="548640" y="201168"/>
            <a:ext cx="7315200" cy="274320"/>
          </a:xfrm>
          <a:prstGeom prst="rect">
            <a:avLst/>
          </a:prstGeom>
          <a:noFill/>
          <a:ln/>
        </p:spPr>
        <p:txBody>
          <a:bodyPr wrap="square" lIns="0" tIns="0" rIns="0" bIns="0" rtlCol="0" anchor="ctr"/>
          <a:lstStyle/>
          <a:p>
            <a:pPr algn="l" indent="0" marL="0">
              <a:buNone/>
            </a:pPr>
            <a:r>
              <a:rPr lang="en-US" sz="1100" b="1" spc="200" kern="0" dirty="0">
                <a:solidFill>
                  <a:srgbClr val="14B8A6"/>
                </a:solidFill>
                <a:latin typeface="Calibri" pitchFamily="34" charset="0"/>
                <a:ea typeface="Calibri" pitchFamily="34" charset="-122"/>
                <a:cs typeface="Calibri" pitchFamily="34" charset="-120"/>
              </a:rPr>
              <a:t>METHODOLOGY · STEP 4</a:t>
            </a:r>
            <a:endParaRPr lang="en-US" sz="1100" dirty="0"/>
          </a:p>
        </p:txBody>
      </p:sp>
      <p:sp>
        <p:nvSpPr>
          <p:cNvPr id="3" name="Text 1"/>
          <p:cNvSpPr txBox="1"/>
          <p:nvPr/>
        </p:nvSpPr>
        <p:spPr>
          <a:xfrm>
            <a:off x="548640" y="411480"/>
            <a:ext cx="11064240" cy="685800"/>
          </a:xfrm>
          <a:prstGeom prst="rect">
            <a:avLst/>
          </a:prstGeom>
          <a:noFill/>
          <a:ln/>
        </p:spPr>
        <p:txBody>
          <a:bodyPr wrap="square" lIns="0" tIns="0" rIns="0" bIns="0" rtlCol="0" anchor="ctr"/>
          <a:lstStyle/>
          <a:p>
            <a:pPr algn="l" indent="0" marL="0">
              <a:buNone/>
            </a:pPr>
            <a:r>
              <a:rPr lang="en-US" sz="3000" b="1" dirty="0">
                <a:solidFill>
                  <a:srgbClr val="FFFFFF"/>
                </a:solidFill>
                <a:latin typeface="Cambria" pitchFamily="34" charset="0"/>
                <a:ea typeface="Cambria" pitchFamily="34" charset="-122"/>
                <a:cs typeface="Cambria" pitchFamily="34" charset="-120"/>
              </a:rPr>
              <a:t>Choosing k — Why 3 Segments, Not 2</a:t>
            </a:r>
            <a:endParaRPr lang="en-US" sz="3000" dirty="0"/>
          </a:p>
        </p:txBody>
      </p:sp>
      <p:sp>
        <p:nvSpPr>
          <p:cNvPr id="4" name="Text 2"/>
          <p:cNvSpPr txBox="1"/>
          <p:nvPr/>
        </p:nvSpPr>
        <p:spPr>
          <a:xfrm>
            <a:off x="548640" y="1298448"/>
            <a:ext cx="7315200" cy="365760"/>
          </a:xfrm>
          <a:prstGeom prst="rect">
            <a:avLst/>
          </a:prstGeom>
          <a:noFill/>
          <a:ln/>
        </p:spPr>
        <p:txBody>
          <a:bodyPr wrap="square" lIns="0" tIns="0" rIns="0" bIns="0" rtlCol="0" anchor="ctr"/>
          <a:lstStyle/>
          <a:p>
            <a:pPr indent="0" marL="0">
              <a:buNone/>
            </a:pPr>
            <a:r>
              <a:rPr lang="en-US" sz="1250" dirty="0">
                <a:solidFill>
                  <a:srgbClr val="A8B8D0"/>
                </a:solidFill>
                <a:latin typeface="Calibri" pitchFamily="34" charset="0"/>
                <a:ea typeface="Calibri" pitchFamily="34" charset="-122"/>
                <a:cs typeface="Calibri" pitchFamily="34" charset="-120"/>
              </a:rPr>
              <a:t>Silhouette score tested for k = 2 through 10 on the scaled 13-feature space.</a:t>
            </a:r>
            <a:endParaRPr lang="en-US" sz="1250" dirty="0"/>
          </a:p>
        </p:txBody>
      </p:sp>
      <p:graphicFrame>
        <p:nvGraphicFramePr>
          <p:cNvPr id="5" name="Chart 0" descr=""/>
          <p:cNvGraphicFramePr/>
          <p:nvPr/>
        </p:nvGraphicFramePr>
        <p:xfrm>
          <a:off x="548640" y="1783080"/>
          <a:ext cx="7040880" cy="3931920"/>
        </p:xfrm>
        <a:graphic xmlns:a="http://schemas.openxmlformats.org/drawingml/2006/main">
          <a:graphicData uri="http://schemas.openxmlformats.org/drawingml/2006/chart">
            <c:chart xmlns:c="http://schemas.openxmlformats.org/drawingml/2006/chart" r:id="rId1"/>
          </a:graphicData>
        </a:graphic>
      </p:graphicFrame>
      <p:sp>
        <p:nvSpPr>
          <p:cNvPr id="6" name="Shape 3"/>
          <p:cNvSpPr/>
          <p:nvPr/>
        </p:nvSpPr>
        <p:spPr>
          <a:xfrm>
            <a:off x="7818120" y="1828800"/>
            <a:ext cx="3794760" cy="1417320"/>
          </a:xfrm>
          <a:prstGeom prst="roundRect">
            <a:avLst>
              <a:gd name="adj" fmla="val 7742"/>
            </a:avLst>
          </a:prstGeom>
          <a:solidFill>
            <a:srgbClr val="111F38"/>
          </a:solidFill>
          <a:ln w="15875">
            <a:solidFill>
              <a:srgbClr val="F0B429"/>
            </a:solidFill>
            <a:prstDash val="solid"/>
          </a:ln>
        </p:spPr>
      </p:sp>
      <p:sp>
        <p:nvSpPr>
          <p:cNvPr id="7" name="Text 4"/>
          <p:cNvSpPr txBox="1"/>
          <p:nvPr/>
        </p:nvSpPr>
        <p:spPr>
          <a:xfrm>
            <a:off x="8001000" y="1938528"/>
            <a:ext cx="3474720" cy="320040"/>
          </a:xfrm>
          <a:prstGeom prst="rect">
            <a:avLst/>
          </a:prstGeom>
          <a:noFill/>
          <a:ln/>
        </p:spPr>
        <p:txBody>
          <a:bodyPr wrap="square" lIns="0" tIns="0" rIns="0" bIns="0" rtlCol="0" anchor="ctr"/>
          <a:lstStyle/>
          <a:p>
            <a:pPr indent="0" marL="0">
              <a:buNone/>
            </a:pPr>
            <a:r>
              <a:rPr lang="en-US" sz="1200" b="1" dirty="0">
                <a:solidFill>
                  <a:srgbClr val="F0B429"/>
                </a:solidFill>
                <a:latin typeface="Calibri" pitchFamily="34" charset="0"/>
                <a:ea typeface="Calibri" pitchFamily="34" charset="-122"/>
                <a:cs typeface="Calibri" pitchFamily="34" charset="-120"/>
              </a:rPr>
              <a:t>k = 3  SELECTED</a:t>
            </a:r>
            <a:endParaRPr lang="en-US" sz="1200" dirty="0"/>
          </a:p>
        </p:txBody>
      </p:sp>
      <p:sp>
        <p:nvSpPr>
          <p:cNvPr id="8" name="Text 5"/>
          <p:cNvSpPr txBox="1"/>
          <p:nvPr/>
        </p:nvSpPr>
        <p:spPr>
          <a:xfrm>
            <a:off x="8001000" y="2267712"/>
            <a:ext cx="3474720" cy="914400"/>
          </a:xfrm>
          <a:prstGeom prst="rect">
            <a:avLst/>
          </a:prstGeom>
          <a:noFill/>
          <a:ln/>
        </p:spPr>
        <p:txBody>
          <a:bodyPr wrap="square" lIns="0" tIns="0" rIns="0" bIns="0" rtlCol="0" anchor="ctr"/>
          <a:lstStyle/>
          <a:p>
            <a:pPr indent="0" marL="0">
              <a:buNone/>
            </a:pPr>
            <a:r>
              <a:rPr lang="en-US" sz="1050" dirty="0">
                <a:solidFill>
                  <a:srgbClr val="A8B8D0"/>
                </a:solidFill>
                <a:latin typeface="Calibri" pitchFamily="34" charset="0"/>
                <a:ea typeface="Calibri" pitchFamily="34" charset="-122"/>
                <a:cs typeface="Calibri" pitchFamily="34" charset="-120"/>
              </a:rPr>
              <a:t>Silhouette 0.432 — best statistical separation among cluster counts that still produce an actionable, multi-group segmentation.</a:t>
            </a:r>
            <a:endParaRPr lang="en-US" sz="1050" dirty="0"/>
          </a:p>
        </p:txBody>
      </p:sp>
      <p:sp>
        <p:nvSpPr>
          <p:cNvPr id="9" name="Shape 6"/>
          <p:cNvSpPr/>
          <p:nvPr/>
        </p:nvSpPr>
        <p:spPr>
          <a:xfrm>
            <a:off x="7818120" y="3429000"/>
            <a:ext cx="3794760" cy="2286000"/>
          </a:xfrm>
          <a:prstGeom prst="roundRect">
            <a:avLst>
              <a:gd name="adj" fmla="val 4800"/>
            </a:avLst>
          </a:prstGeom>
          <a:solidFill>
            <a:srgbClr val="0F1B30"/>
          </a:solidFill>
          <a:ln w="9525">
            <a:solidFill>
              <a:srgbClr val="24314E"/>
            </a:solidFill>
            <a:prstDash val="solid"/>
          </a:ln>
        </p:spPr>
      </p:sp>
      <p:sp>
        <p:nvSpPr>
          <p:cNvPr id="10" name="Text 7"/>
          <p:cNvSpPr txBox="1"/>
          <p:nvPr/>
        </p:nvSpPr>
        <p:spPr>
          <a:xfrm>
            <a:off x="8001000" y="3566160"/>
            <a:ext cx="3474720" cy="320040"/>
          </a:xfrm>
          <a:prstGeom prst="rect">
            <a:avLst/>
          </a:prstGeom>
          <a:noFill/>
          <a:ln/>
        </p:spPr>
        <p:txBody>
          <a:bodyPr wrap="square" lIns="0" tIns="0" rIns="0" bIns="0"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Why not k = 2, the higher score?</a:t>
            </a:r>
            <a:endParaRPr lang="en-US" sz="1200" dirty="0"/>
          </a:p>
        </p:txBody>
      </p:sp>
      <p:sp>
        <p:nvSpPr>
          <p:cNvPr id="11" name="Text 8"/>
          <p:cNvSpPr txBox="1"/>
          <p:nvPr/>
        </p:nvSpPr>
        <p:spPr>
          <a:xfrm>
            <a:off x="8001000" y="3913632"/>
            <a:ext cx="3474720" cy="1691640"/>
          </a:xfrm>
          <a:prstGeom prst="rect">
            <a:avLst/>
          </a:prstGeom>
          <a:noFill/>
          <a:ln/>
        </p:spPr>
        <p:txBody>
          <a:bodyPr wrap="square" lIns="0" tIns="0" rIns="0" bIns="0" rtlCol="0" anchor="ctr"/>
          <a:lstStyle/>
          <a:p>
            <a:pPr indent="0" marL="0">
              <a:buNone/>
            </a:pPr>
            <a:r>
              <a:rPr lang="en-US" sz="1050" dirty="0">
                <a:solidFill>
                  <a:srgbClr val="A8B8D0"/>
                </a:solidFill>
                <a:latin typeface="Calibri" pitchFamily="34" charset="0"/>
                <a:ea typeface="Calibri" pitchFamily="34" charset="-122"/>
                <a:cs typeface="Calibri" pitchFamily="34" charset="-120"/>
              </a:rPr>
              <a:t>k = 2 scores higher (0.583) but collapses into one "everyone else" group — it can't separate healthy regular customers from the near-zero-value At Risk cohort. k = 3 trades a little statistical tightness for a segmentation that maps directly to three different business responses: protect, grow, investigate. k = 4–10 all score below 0.41.</a:t>
            </a:r>
            <a:endParaRPr lang="en-US" sz="1050" dirty="0"/>
          </a:p>
        </p:txBody>
      </p:sp>
      <p:sp>
        <p:nvSpPr>
          <p:cNvPr id="12" name="Text 9"/>
          <p:cNvSpPr/>
          <p:nvPr/>
        </p:nvSpPr>
        <p:spPr>
          <a:xfrm>
            <a:off x="457200" y="6528816"/>
            <a:ext cx="7315200" cy="274320"/>
          </a:xfrm>
          <a:prstGeom prst="rect">
            <a:avLst/>
          </a:prstGeom>
          <a:noFill/>
          <a:ln/>
        </p:spPr>
        <p:txBody>
          <a:bodyPr wrap="square" lIns="0" tIns="0" rIns="0" bIns="0" rtlCol="0" anchor="ctr"/>
          <a:lstStyle/>
          <a:p>
            <a:pPr algn="l" indent="0" marL="0">
              <a:buNone/>
            </a:pPr>
            <a:r>
              <a:rPr lang="en-US" sz="900" dirty="0">
                <a:solidFill>
                  <a:srgbClr val="72859E"/>
                </a:solidFill>
                <a:latin typeface="Calibri" pitchFamily="34" charset="0"/>
                <a:ea typeface="Calibri" pitchFamily="34" charset="-122"/>
                <a:cs typeface="Calibri" pitchFamily="34" charset="-120"/>
              </a:rPr>
              <a:t>Online Retail Business · Customer Segmentation</a:t>
            </a:r>
            <a:endParaRPr lang="en-US" sz="900" dirty="0"/>
          </a:p>
        </p:txBody>
      </p:sp>
      <p:sp>
        <p:nvSpPr>
          <p:cNvPr id="13" name="Text 10"/>
          <p:cNvSpPr/>
          <p:nvPr/>
        </p:nvSpPr>
        <p:spPr>
          <a:xfrm>
            <a:off x="11000232" y="6528816"/>
            <a:ext cx="731520" cy="274320"/>
          </a:xfrm>
          <a:prstGeom prst="rect">
            <a:avLst/>
          </a:prstGeom>
          <a:noFill/>
          <a:ln/>
        </p:spPr>
        <p:txBody>
          <a:bodyPr wrap="square" lIns="0" tIns="0" rIns="0" bIns="0" rtlCol="0" anchor="ctr"/>
          <a:lstStyle/>
          <a:p>
            <a:pPr algn="r" indent="0" marL="0">
              <a:buNone/>
            </a:pPr>
            <a:r>
              <a:rPr lang="en-US" sz="900" dirty="0">
                <a:solidFill>
                  <a:srgbClr val="72859E"/>
                </a:solidFill>
                <a:latin typeface="Calibri" pitchFamily="34" charset="0"/>
                <a:ea typeface="Calibri" pitchFamily="34" charset="-122"/>
                <a:cs typeface="Calibri" pitchFamily="34" charset="-120"/>
              </a:rPr>
              <a:t>7 / 18</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B1220"/>
        </a:solidFill>
      </p:bgPr>
    </p:bg>
    <p:spTree>
      <p:nvGrpSpPr>
        <p:cNvPr id="1" name=""/>
        <p:cNvGrpSpPr/>
        <p:nvPr/>
      </p:nvGrpSpPr>
      <p:grpSpPr>
        <a:xfrm>
          <a:off x="0" y="0"/>
          <a:ext cx="0" cy="0"/>
          <a:chOff x="0" y="0"/>
          <a:chExt cx="0" cy="0"/>
        </a:xfrm>
      </p:grpSpPr>
      <p:sp>
        <p:nvSpPr>
          <p:cNvPr id="2" name="Text 0"/>
          <p:cNvSpPr txBox="1"/>
          <p:nvPr/>
        </p:nvSpPr>
        <p:spPr>
          <a:xfrm>
            <a:off x="548640" y="201168"/>
            <a:ext cx="7315200" cy="274320"/>
          </a:xfrm>
          <a:prstGeom prst="rect">
            <a:avLst/>
          </a:prstGeom>
          <a:noFill/>
          <a:ln/>
        </p:spPr>
        <p:txBody>
          <a:bodyPr wrap="square" lIns="0" tIns="0" rIns="0" bIns="0" rtlCol="0" anchor="ctr"/>
          <a:lstStyle/>
          <a:p>
            <a:pPr algn="l" indent="0" marL="0">
              <a:buNone/>
            </a:pPr>
            <a:r>
              <a:rPr lang="en-US" sz="1100" b="1" spc="200" kern="0" dirty="0">
                <a:solidFill>
                  <a:srgbClr val="14B8A6"/>
                </a:solidFill>
                <a:latin typeface="Calibri" pitchFamily="34" charset="0"/>
                <a:ea typeface="Calibri" pitchFamily="34" charset="-122"/>
                <a:cs typeface="Calibri" pitchFamily="34" charset="-120"/>
              </a:rPr>
              <a:t>METHODOLOGY · STEP 5</a:t>
            </a:r>
            <a:endParaRPr lang="en-US" sz="1100" dirty="0"/>
          </a:p>
        </p:txBody>
      </p:sp>
      <p:sp>
        <p:nvSpPr>
          <p:cNvPr id="3" name="Text 1"/>
          <p:cNvSpPr txBox="1"/>
          <p:nvPr/>
        </p:nvSpPr>
        <p:spPr>
          <a:xfrm>
            <a:off x="548640" y="411480"/>
            <a:ext cx="11064240" cy="685800"/>
          </a:xfrm>
          <a:prstGeom prst="rect">
            <a:avLst/>
          </a:prstGeom>
          <a:noFill/>
          <a:ln/>
        </p:spPr>
        <p:txBody>
          <a:bodyPr wrap="square" lIns="0" tIns="0" rIns="0" bIns="0" rtlCol="0" anchor="ctr"/>
          <a:lstStyle/>
          <a:p>
            <a:pPr algn="l" indent="0" marL="0">
              <a:buNone/>
            </a:pPr>
            <a:r>
              <a:rPr lang="en-US" sz="3000" b="1" dirty="0">
                <a:solidFill>
                  <a:srgbClr val="FFFFFF"/>
                </a:solidFill>
                <a:latin typeface="Cambria" pitchFamily="34" charset="0"/>
                <a:ea typeface="Cambria" pitchFamily="34" charset="-122"/>
                <a:cs typeface="Cambria" pitchFamily="34" charset="-120"/>
              </a:rPr>
              <a:t>Cluster Separation Holds Up Visually</a:t>
            </a:r>
            <a:endParaRPr lang="en-US" sz="3000" dirty="0"/>
          </a:p>
        </p:txBody>
      </p:sp>
      <p:sp>
        <p:nvSpPr>
          <p:cNvPr id="4" name="Text 2"/>
          <p:cNvSpPr txBox="1"/>
          <p:nvPr/>
        </p:nvSpPr>
        <p:spPr>
          <a:xfrm>
            <a:off x="548640" y="1325880"/>
            <a:ext cx="10789920" cy="685800"/>
          </a:xfrm>
          <a:prstGeom prst="rect">
            <a:avLst/>
          </a:prstGeom>
          <a:noFill/>
          <a:ln/>
        </p:spPr>
        <p:txBody>
          <a:bodyPr wrap="square" lIns="0" tIns="0" rIns="0" bIns="0" rtlCol="0" anchor="ctr"/>
          <a:lstStyle/>
          <a:p>
            <a:pPr indent="0" marL="0">
              <a:buNone/>
            </a:pPr>
            <a:r>
              <a:rPr lang="en-US" sz="1250" dirty="0">
                <a:solidFill>
                  <a:srgbClr val="A8B8D0"/>
                </a:solidFill>
                <a:latin typeface="Calibri" pitchFamily="34" charset="0"/>
                <a:ea typeface="Calibri" pitchFamily="34" charset="-122"/>
                <a:cs typeface="Calibri" pitchFamily="34" charset="-120"/>
              </a:rPr>
              <a:t>Clustering itself used all 13 scaled features — PCA (2 components) is shown here purely to visualize the result in 2D. PC1 and PC2 together explain 67.4% of total variance (PC1: 43.3%, PC2: 24.1%), enough for this view to be a faithful picture of the underlying separation.</a:t>
            </a:r>
            <a:endParaRPr lang="en-US" sz="1250" dirty="0"/>
          </a:p>
        </p:txBody>
      </p:sp>
      <p:sp>
        <p:nvSpPr>
          <p:cNvPr id="5" name="Shape 3"/>
          <p:cNvSpPr/>
          <p:nvPr/>
        </p:nvSpPr>
        <p:spPr>
          <a:xfrm>
            <a:off x="2788920" y="2103120"/>
            <a:ext cx="6583680" cy="4160520"/>
          </a:xfrm>
          <a:prstGeom prst="roundRect">
            <a:avLst>
              <a:gd name="adj" fmla="val 2198"/>
            </a:avLst>
          </a:prstGeom>
          <a:solidFill>
            <a:srgbClr val="FFFFFF"/>
          </a:solidFill>
          <a:ln w="12700">
            <a:solidFill>
              <a:srgbClr val="24314E"/>
            </a:solidFill>
            <a:prstDash val="solid"/>
          </a:ln>
        </p:spPr>
      </p:sp>
      <p:pic>
        <p:nvPicPr>
          <p:cNvPr id="6" name="Image 0" descr="/home/claude/nb_images/pca_clusters.png">    </p:cNvPr>
          <p:cNvPicPr>
            <a:picLocks noChangeAspect="1"/>
          </p:cNvPicPr>
          <p:nvPr/>
        </p:nvPicPr>
        <p:blipFill>
          <a:blip r:embed="rId1"/>
          <a:stretch>
            <a:fillRect/>
          </a:stretch>
        </p:blipFill>
        <p:spPr>
          <a:xfrm>
            <a:off x="2971800" y="2286000"/>
            <a:ext cx="6217920" cy="3794760"/>
          </a:xfrm>
          <a:prstGeom prst="rect">
            <a:avLst/>
          </a:prstGeom>
        </p:spPr>
      </p:pic>
      <p:sp>
        <p:nvSpPr>
          <p:cNvPr id="7" name="Text 4"/>
          <p:cNvSpPr/>
          <p:nvPr/>
        </p:nvSpPr>
        <p:spPr>
          <a:xfrm>
            <a:off x="457200" y="6528816"/>
            <a:ext cx="7315200" cy="274320"/>
          </a:xfrm>
          <a:prstGeom prst="rect">
            <a:avLst/>
          </a:prstGeom>
          <a:noFill/>
          <a:ln/>
        </p:spPr>
        <p:txBody>
          <a:bodyPr wrap="square" lIns="0" tIns="0" rIns="0" bIns="0" rtlCol="0" anchor="ctr"/>
          <a:lstStyle/>
          <a:p>
            <a:pPr algn="l" indent="0" marL="0">
              <a:buNone/>
            </a:pPr>
            <a:r>
              <a:rPr lang="en-US" sz="900" dirty="0">
                <a:solidFill>
                  <a:srgbClr val="72859E"/>
                </a:solidFill>
                <a:latin typeface="Calibri" pitchFamily="34" charset="0"/>
                <a:ea typeface="Calibri" pitchFamily="34" charset="-122"/>
                <a:cs typeface="Calibri" pitchFamily="34" charset="-120"/>
              </a:rPr>
              <a:t>Online Retail Business · Customer Segmentation</a:t>
            </a:r>
            <a:endParaRPr lang="en-US" sz="900" dirty="0"/>
          </a:p>
        </p:txBody>
      </p:sp>
      <p:sp>
        <p:nvSpPr>
          <p:cNvPr id="8" name="Text 5"/>
          <p:cNvSpPr/>
          <p:nvPr/>
        </p:nvSpPr>
        <p:spPr>
          <a:xfrm>
            <a:off x="11000232" y="6528816"/>
            <a:ext cx="731520" cy="274320"/>
          </a:xfrm>
          <a:prstGeom prst="rect">
            <a:avLst/>
          </a:prstGeom>
          <a:noFill/>
          <a:ln/>
        </p:spPr>
        <p:txBody>
          <a:bodyPr wrap="square" lIns="0" tIns="0" rIns="0" bIns="0" rtlCol="0" anchor="ctr"/>
          <a:lstStyle/>
          <a:p>
            <a:pPr algn="r" indent="0" marL="0">
              <a:buNone/>
            </a:pPr>
            <a:r>
              <a:rPr lang="en-US" sz="900" dirty="0">
                <a:solidFill>
                  <a:srgbClr val="72859E"/>
                </a:solidFill>
                <a:latin typeface="Calibri" pitchFamily="34" charset="0"/>
                <a:ea typeface="Calibri" pitchFamily="34" charset="-122"/>
                <a:cs typeface="Calibri" pitchFamily="34" charset="-120"/>
              </a:rPr>
              <a:t>8 / 18</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B1220"/>
        </a:solidFill>
      </p:bgPr>
    </p:bg>
    <p:spTree>
      <p:nvGrpSpPr>
        <p:cNvPr id="1" name=""/>
        <p:cNvGrpSpPr/>
        <p:nvPr/>
      </p:nvGrpSpPr>
      <p:grpSpPr>
        <a:xfrm>
          <a:off x="0" y="0"/>
          <a:ext cx="0" cy="0"/>
          <a:chOff x="0" y="0"/>
          <a:chExt cx="0" cy="0"/>
        </a:xfrm>
      </p:grpSpPr>
      <p:sp>
        <p:nvSpPr>
          <p:cNvPr id="2" name="Text 0"/>
          <p:cNvSpPr txBox="1"/>
          <p:nvPr/>
        </p:nvSpPr>
        <p:spPr>
          <a:xfrm>
            <a:off x="548640" y="201168"/>
            <a:ext cx="7315200" cy="274320"/>
          </a:xfrm>
          <a:prstGeom prst="rect">
            <a:avLst/>
          </a:prstGeom>
          <a:noFill/>
          <a:ln/>
        </p:spPr>
        <p:txBody>
          <a:bodyPr wrap="square" lIns="0" tIns="0" rIns="0" bIns="0" rtlCol="0" anchor="ctr"/>
          <a:lstStyle/>
          <a:p>
            <a:pPr algn="l" indent="0" marL="0">
              <a:buNone/>
            </a:pPr>
            <a:r>
              <a:rPr lang="en-US" sz="1100" b="1" spc="200" kern="0" dirty="0">
                <a:solidFill>
                  <a:srgbClr val="F0B429"/>
                </a:solidFill>
                <a:latin typeface="Calibri" pitchFamily="34" charset="0"/>
                <a:ea typeface="Calibri" pitchFamily="34" charset="-122"/>
                <a:cs typeface="Calibri" pitchFamily="34" charset="-120"/>
              </a:rPr>
              <a:t>THE SEGMENTS</a:t>
            </a:r>
            <a:endParaRPr lang="en-US" sz="1100" dirty="0"/>
          </a:p>
        </p:txBody>
      </p:sp>
      <p:sp>
        <p:nvSpPr>
          <p:cNvPr id="3" name="Text 1"/>
          <p:cNvSpPr txBox="1"/>
          <p:nvPr/>
        </p:nvSpPr>
        <p:spPr>
          <a:xfrm>
            <a:off x="548640" y="411480"/>
            <a:ext cx="11064240" cy="685800"/>
          </a:xfrm>
          <a:prstGeom prst="rect">
            <a:avLst/>
          </a:prstGeom>
          <a:noFill/>
          <a:ln/>
        </p:spPr>
        <p:txBody>
          <a:bodyPr wrap="square" lIns="0" tIns="0" rIns="0" bIns="0" rtlCol="0" anchor="ctr"/>
          <a:lstStyle/>
          <a:p>
            <a:pPr algn="l" indent="0" marL="0">
              <a:buNone/>
            </a:pPr>
            <a:r>
              <a:rPr lang="en-US" sz="3000" b="1" dirty="0">
                <a:solidFill>
                  <a:srgbClr val="FFFFFF"/>
                </a:solidFill>
                <a:latin typeface="Cambria" pitchFamily="34" charset="0"/>
                <a:ea typeface="Cambria" pitchFamily="34" charset="-122"/>
                <a:cs typeface="Cambria" pitchFamily="34" charset="-120"/>
              </a:rPr>
              <a:t>Three Segments, One Blended Customer Base</a:t>
            </a:r>
            <a:endParaRPr lang="en-US" sz="3000" dirty="0"/>
          </a:p>
        </p:txBody>
      </p:sp>
      <p:graphicFrame>
        <p:nvGraphicFramePr>
          <p:cNvPr id="4" name="Chart 0" descr=""/>
          <p:cNvGraphicFramePr/>
          <p:nvPr/>
        </p:nvGraphicFramePr>
        <p:xfrm>
          <a:off x="457200" y="1463040"/>
          <a:ext cx="4206240" cy="4206240"/>
        </p:xfrm>
        <a:graphic xmlns:a="http://schemas.openxmlformats.org/drawingml/2006/main">
          <a:graphicData uri="http://schemas.openxmlformats.org/drawingml/2006/chart">
            <c:chart xmlns:c="http://schemas.openxmlformats.org/drawingml/2006/chart" r:id="rId1"/>
          </a:graphicData>
        </a:graphic>
      </p:graphicFrame>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5029200" y="1783080"/>
          <a:ext cx="6583680" cy="2103120"/>
        </p:xfrm>
        <a:graphic>
          <a:graphicData uri="http://schemas.openxmlformats.org/drawingml/2006/table">
            <a:tbl>
              <a:tblPr/>
              <a:tblGrid>
                <a:gridCol w="1645920"/>
                <a:gridCol w="1645920"/>
                <a:gridCol w="1645920"/>
                <a:gridCol w="1645920"/>
              </a:tblGrid>
              <a:tr h="502920">
                <a:tc>
                  <a:txBody>
                    <a:bodyPr/>
                    <a:lstStyle/>
                    <a:p>
                      <a:pPr indent="0" marL="0">
                        <a:buNone/>
                      </a:pPr>
                      <a:r>
                        <a:rPr lang="en-US" sz="1200" b="1" dirty="0">
                          <a:solidFill>
                            <a:srgbClr val="72859E"/>
                          </a:solidFill>
                          <a:latin typeface="Calibri" pitchFamily="34" charset="0"/>
                          <a:ea typeface="Calibri" pitchFamily="34" charset="-122"/>
                          <a:cs typeface="Calibri" pitchFamily="34" charset="-120"/>
                        </a:rPr>
                        <a:t>Segment</a:t>
                      </a:r>
                      <a:endParaRPr lang="en-US" sz="1200" dirty="0">
                        <a:latin typeface="Calibri" charset="0"/>
                        <a:ea typeface="Calibri" charset="0"/>
                        <a:cs typeface="Calibri" charset="0"/>
                      </a:endParaRPr>
                    </a:p>
                  </a:txBody>
                  <a:tcPr marL="91440" marR="91440" marT="45720" marB="45720" anchor="ctr">
                    <a:lnL w="9525" cap="flat" cmpd="sng" algn="ctr">
                      <a:solidFill>
                        <a:srgbClr val="24314E"/>
                      </a:solidFill>
                      <a:prstDash val="solid"/>
                      <a:round/>
                      <a:headEnd type="none" w="med" len="med"/>
                      <a:tailEnd type="none" w="med" len="med"/>
                    </a:lnL>
                    <a:lnR w="9525" cap="flat" cmpd="sng" algn="ctr">
                      <a:solidFill>
                        <a:srgbClr val="24314E"/>
                      </a:solidFill>
                      <a:prstDash val="solid"/>
                      <a:round/>
                      <a:headEnd type="none" w="med" len="med"/>
                      <a:tailEnd type="none" w="med" len="med"/>
                    </a:lnR>
                    <a:lnT w="9525" cap="flat" cmpd="sng" algn="ctr">
                      <a:solidFill>
                        <a:srgbClr val="24314E"/>
                      </a:solidFill>
                      <a:prstDash val="solid"/>
                      <a:round/>
                      <a:headEnd type="none" w="med" len="med"/>
                      <a:tailEnd type="none" w="med" len="med"/>
                    </a:lnT>
                    <a:lnB w="9525" cap="flat" cmpd="sng" algn="ctr">
                      <a:solidFill>
                        <a:srgbClr val="24314E"/>
                      </a:solidFill>
                      <a:prstDash val="solid"/>
                      <a:round/>
                      <a:headEnd type="none" w="med" len="med"/>
                      <a:tailEnd type="none" w="med" len="med"/>
                    </a:lnB>
                    <a:solidFill>
                      <a:srgbClr val="111F38"/>
                    </a:solidFill>
                  </a:tcPr>
                </a:tc>
                <a:tc>
                  <a:txBody>
                    <a:bodyPr/>
                    <a:lstStyle/>
                    <a:p>
                      <a:pPr indent="0" marL="0">
                        <a:buNone/>
                      </a:pPr>
                      <a:r>
                        <a:rPr lang="en-US" sz="1200" b="1" dirty="0">
                          <a:solidFill>
                            <a:srgbClr val="72859E"/>
                          </a:solidFill>
                          <a:latin typeface="Calibri" pitchFamily="34" charset="0"/>
                          <a:ea typeface="Calibri" pitchFamily="34" charset="-122"/>
                          <a:cs typeface="Calibri" pitchFamily="34" charset="-120"/>
                        </a:rPr>
                        <a:t>Customers</a:t>
                      </a:r>
                      <a:endParaRPr lang="en-US" sz="1200" dirty="0">
                        <a:latin typeface="Calibri" charset="0"/>
                        <a:ea typeface="Calibri" charset="0"/>
                        <a:cs typeface="Calibri" charset="0"/>
                      </a:endParaRPr>
                    </a:p>
                  </a:txBody>
                  <a:tcPr marL="91440" marR="91440" marT="45720" marB="45720" anchor="ctr">
                    <a:lnL w="9525" cap="flat" cmpd="sng" algn="ctr">
                      <a:solidFill>
                        <a:srgbClr val="24314E"/>
                      </a:solidFill>
                      <a:prstDash val="solid"/>
                      <a:round/>
                      <a:headEnd type="none" w="med" len="med"/>
                      <a:tailEnd type="none" w="med" len="med"/>
                    </a:lnL>
                    <a:lnR w="9525" cap="flat" cmpd="sng" algn="ctr">
                      <a:solidFill>
                        <a:srgbClr val="24314E"/>
                      </a:solidFill>
                      <a:prstDash val="solid"/>
                      <a:round/>
                      <a:headEnd type="none" w="med" len="med"/>
                      <a:tailEnd type="none" w="med" len="med"/>
                    </a:lnR>
                    <a:lnT w="9525" cap="flat" cmpd="sng" algn="ctr">
                      <a:solidFill>
                        <a:srgbClr val="24314E"/>
                      </a:solidFill>
                      <a:prstDash val="solid"/>
                      <a:round/>
                      <a:headEnd type="none" w="med" len="med"/>
                      <a:tailEnd type="none" w="med" len="med"/>
                    </a:lnT>
                    <a:lnB w="9525" cap="flat" cmpd="sng" algn="ctr">
                      <a:solidFill>
                        <a:srgbClr val="24314E"/>
                      </a:solidFill>
                      <a:prstDash val="solid"/>
                      <a:round/>
                      <a:headEnd type="none" w="med" len="med"/>
                      <a:tailEnd type="none" w="med" len="med"/>
                    </a:lnB>
                    <a:solidFill>
                      <a:srgbClr val="111F38"/>
                    </a:solidFill>
                  </a:tcPr>
                </a:tc>
                <a:tc>
                  <a:txBody>
                    <a:bodyPr/>
                    <a:lstStyle/>
                    <a:p>
                      <a:pPr indent="0" marL="0">
                        <a:buNone/>
                      </a:pPr>
                      <a:r>
                        <a:rPr lang="en-US" sz="1200" b="1" dirty="0">
                          <a:solidFill>
                            <a:srgbClr val="72859E"/>
                          </a:solidFill>
                          <a:latin typeface="Calibri" pitchFamily="34" charset="0"/>
                          <a:ea typeface="Calibri" pitchFamily="34" charset="-122"/>
                          <a:cs typeface="Calibri" pitchFamily="34" charset="-120"/>
                        </a:rPr>
                        <a:t>Avg. Monetary</a:t>
                      </a:r>
                      <a:endParaRPr lang="en-US" sz="1200" dirty="0">
                        <a:latin typeface="Calibri" charset="0"/>
                        <a:ea typeface="Calibri" charset="0"/>
                        <a:cs typeface="Calibri" charset="0"/>
                      </a:endParaRPr>
                    </a:p>
                  </a:txBody>
                  <a:tcPr marL="91440" marR="91440" marT="45720" marB="45720" anchor="ctr">
                    <a:lnL w="9525" cap="flat" cmpd="sng" algn="ctr">
                      <a:solidFill>
                        <a:srgbClr val="24314E"/>
                      </a:solidFill>
                      <a:prstDash val="solid"/>
                      <a:round/>
                      <a:headEnd type="none" w="med" len="med"/>
                      <a:tailEnd type="none" w="med" len="med"/>
                    </a:lnL>
                    <a:lnR w="9525" cap="flat" cmpd="sng" algn="ctr">
                      <a:solidFill>
                        <a:srgbClr val="24314E"/>
                      </a:solidFill>
                      <a:prstDash val="solid"/>
                      <a:round/>
                      <a:headEnd type="none" w="med" len="med"/>
                      <a:tailEnd type="none" w="med" len="med"/>
                    </a:lnR>
                    <a:lnT w="9525" cap="flat" cmpd="sng" algn="ctr">
                      <a:solidFill>
                        <a:srgbClr val="24314E"/>
                      </a:solidFill>
                      <a:prstDash val="solid"/>
                      <a:round/>
                      <a:headEnd type="none" w="med" len="med"/>
                      <a:tailEnd type="none" w="med" len="med"/>
                    </a:lnT>
                    <a:lnB w="9525" cap="flat" cmpd="sng" algn="ctr">
                      <a:solidFill>
                        <a:srgbClr val="24314E"/>
                      </a:solidFill>
                      <a:prstDash val="solid"/>
                      <a:round/>
                      <a:headEnd type="none" w="med" len="med"/>
                      <a:tailEnd type="none" w="med" len="med"/>
                    </a:lnB>
                    <a:solidFill>
                      <a:srgbClr val="111F38"/>
                    </a:solidFill>
                  </a:tcPr>
                </a:tc>
                <a:tc>
                  <a:txBody>
                    <a:bodyPr/>
                    <a:lstStyle/>
                    <a:p>
                      <a:pPr indent="0" marL="0">
                        <a:buNone/>
                      </a:pPr>
                      <a:r>
                        <a:rPr lang="en-US" sz="1200" b="1" dirty="0">
                          <a:solidFill>
                            <a:srgbClr val="72859E"/>
                          </a:solidFill>
                          <a:latin typeface="Calibri" pitchFamily="34" charset="0"/>
                          <a:ea typeface="Calibri" pitchFamily="34" charset="-122"/>
                          <a:cs typeface="Calibri" pitchFamily="34" charset="-120"/>
                        </a:rPr>
                        <a:t>Cancel. Rate</a:t>
                      </a:r>
                      <a:endParaRPr lang="en-US" sz="1200" dirty="0">
                        <a:latin typeface="Calibri" charset="0"/>
                        <a:ea typeface="Calibri" charset="0"/>
                        <a:cs typeface="Calibri" charset="0"/>
                      </a:endParaRPr>
                    </a:p>
                  </a:txBody>
                  <a:tcPr marL="91440" marR="91440" marT="45720" marB="45720" anchor="ctr">
                    <a:lnL w="9525" cap="flat" cmpd="sng" algn="ctr">
                      <a:solidFill>
                        <a:srgbClr val="24314E"/>
                      </a:solidFill>
                      <a:prstDash val="solid"/>
                      <a:round/>
                      <a:headEnd type="none" w="med" len="med"/>
                      <a:tailEnd type="none" w="med" len="med"/>
                    </a:lnL>
                    <a:lnR w="9525" cap="flat" cmpd="sng" algn="ctr">
                      <a:solidFill>
                        <a:srgbClr val="24314E"/>
                      </a:solidFill>
                      <a:prstDash val="solid"/>
                      <a:round/>
                      <a:headEnd type="none" w="med" len="med"/>
                      <a:tailEnd type="none" w="med" len="med"/>
                    </a:lnR>
                    <a:lnT w="9525" cap="flat" cmpd="sng" algn="ctr">
                      <a:solidFill>
                        <a:srgbClr val="24314E"/>
                      </a:solidFill>
                      <a:prstDash val="solid"/>
                      <a:round/>
                      <a:headEnd type="none" w="med" len="med"/>
                      <a:tailEnd type="none" w="med" len="med"/>
                    </a:lnT>
                    <a:lnB w="9525" cap="flat" cmpd="sng" algn="ctr">
                      <a:solidFill>
                        <a:srgbClr val="24314E"/>
                      </a:solidFill>
                      <a:prstDash val="solid"/>
                      <a:round/>
                      <a:headEnd type="none" w="med" len="med"/>
                      <a:tailEnd type="none" w="med" len="med"/>
                    </a:lnB>
                    <a:solidFill>
                      <a:srgbClr val="111F38"/>
                    </a:solidFill>
                  </a:tcPr>
                </a:tc>
              </a:tr>
              <a:tr h="502920">
                <a:tc>
                  <a:txBody>
                    <a:bodyPr/>
                    <a:lstStyle/>
                    <a:p>
                      <a:pPr indent="0" marL="0">
                        <a:buNone/>
                      </a:pPr>
                      <a:r>
                        <a:rPr lang="en-US" sz="1200" b="1" dirty="0">
                          <a:solidFill>
                            <a:srgbClr val="F0B429"/>
                          </a:solidFill>
                          <a:latin typeface="Calibri" pitchFamily="34" charset="0"/>
                          <a:ea typeface="Calibri" pitchFamily="34" charset="-122"/>
                          <a:cs typeface="Calibri" pitchFamily="34" charset="-120"/>
                        </a:rPr>
                        <a:t>High Value</a:t>
                      </a:r>
                      <a:endParaRPr lang="en-US" sz="1200" dirty="0">
                        <a:latin typeface="Calibri" charset="0"/>
                        <a:ea typeface="Calibri" charset="0"/>
                        <a:cs typeface="Calibri" charset="0"/>
                      </a:endParaRPr>
                    </a:p>
                  </a:txBody>
                  <a:tcPr marL="91440" marR="91440" marT="45720" marB="45720" anchor="ctr">
                    <a:lnL w="9525" cap="flat" cmpd="sng" algn="ctr">
                      <a:solidFill>
                        <a:srgbClr val="24314E"/>
                      </a:solidFill>
                      <a:prstDash val="solid"/>
                      <a:round/>
                      <a:headEnd type="none" w="med" len="med"/>
                      <a:tailEnd type="none" w="med" len="med"/>
                    </a:lnL>
                    <a:lnR w="9525" cap="flat" cmpd="sng" algn="ctr">
                      <a:solidFill>
                        <a:srgbClr val="24314E"/>
                      </a:solidFill>
                      <a:prstDash val="solid"/>
                      <a:round/>
                      <a:headEnd type="none" w="med" len="med"/>
                      <a:tailEnd type="none" w="med" len="med"/>
                    </a:lnR>
                    <a:lnT w="9525" cap="flat" cmpd="sng" algn="ctr">
                      <a:solidFill>
                        <a:srgbClr val="24314E"/>
                      </a:solidFill>
                      <a:prstDash val="solid"/>
                      <a:round/>
                      <a:headEnd type="none" w="med" len="med"/>
                      <a:tailEnd type="none" w="med" len="med"/>
                    </a:lnT>
                    <a:lnB w="9525" cap="flat" cmpd="sng" algn="ctr">
                      <a:solidFill>
                        <a:srgbClr val="24314E"/>
                      </a:solidFill>
                      <a:prstDash val="solid"/>
                      <a:round/>
                      <a:headEnd type="none" w="med" len="med"/>
                      <a:tailEnd type="none" w="med" len="med"/>
                    </a:lnB>
                    <a:solidFill>
                      <a:srgbClr val="111F38"/>
                    </a:solidFill>
                  </a:tcPr>
                </a:tc>
                <a:tc>
                  <a:txBody>
                    <a:bodyPr/>
                    <a:lstStyle/>
                    <a:p>
                      <a:pPr indent="0" marL="0">
                        <a:buNone/>
                      </a:pPr>
                      <a:r>
                        <a:rPr lang="en-US" sz="1200" dirty="0">
                          <a:solidFill>
                            <a:srgbClr val="E8EDF5"/>
                          </a:solidFill>
                          <a:latin typeface="Calibri" pitchFamily="34" charset="0"/>
                          <a:ea typeface="Calibri" pitchFamily="34" charset="-122"/>
                          <a:cs typeface="Calibri" pitchFamily="34" charset="-120"/>
                        </a:rPr>
                        <a:t>227 (25.0%)</a:t>
                      </a:r>
                      <a:endParaRPr lang="en-US" sz="1200" dirty="0">
                        <a:latin typeface="Calibri" charset="0"/>
                        <a:ea typeface="Calibri" charset="0"/>
                        <a:cs typeface="Calibri" charset="0"/>
                      </a:endParaRPr>
                    </a:p>
                  </a:txBody>
                  <a:tcPr marL="91440" marR="91440" marT="45720" marB="45720" anchor="ctr">
                    <a:lnL w="9525" cap="flat" cmpd="sng" algn="ctr">
                      <a:solidFill>
                        <a:srgbClr val="24314E"/>
                      </a:solidFill>
                      <a:prstDash val="solid"/>
                      <a:round/>
                      <a:headEnd type="none" w="med" len="med"/>
                      <a:tailEnd type="none" w="med" len="med"/>
                    </a:lnL>
                    <a:lnR w="9525" cap="flat" cmpd="sng" algn="ctr">
                      <a:solidFill>
                        <a:srgbClr val="24314E"/>
                      </a:solidFill>
                      <a:prstDash val="solid"/>
                      <a:round/>
                      <a:headEnd type="none" w="med" len="med"/>
                      <a:tailEnd type="none" w="med" len="med"/>
                    </a:lnR>
                    <a:lnT w="9525" cap="flat" cmpd="sng" algn="ctr">
                      <a:solidFill>
                        <a:srgbClr val="24314E"/>
                      </a:solidFill>
                      <a:prstDash val="solid"/>
                      <a:round/>
                      <a:headEnd type="none" w="med" len="med"/>
                      <a:tailEnd type="none" w="med" len="med"/>
                    </a:lnT>
                    <a:lnB w="9525" cap="flat" cmpd="sng" algn="ctr">
                      <a:solidFill>
                        <a:srgbClr val="24314E"/>
                      </a:solidFill>
                      <a:prstDash val="solid"/>
                      <a:round/>
                      <a:headEnd type="none" w="med" len="med"/>
                      <a:tailEnd type="none" w="med" len="med"/>
                    </a:lnB>
                    <a:solidFill>
                      <a:srgbClr val="111F38"/>
                    </a:solidFill>
                  </a:tcPr>
                </a:tc>
                <a:tc>
                  <a:txBody>
                    <a:bodyPr/>
                    <a:lstStyle/>
                    <a:p>
                      <a:pPr indent="0" marL="0">
                        <a:buNone/>
                      </a:pPr>
                      <a:r>
                        <a:rPr lang="en-US" sz="1200" dirty="0">
                          <a:solidFill>
                            <a:srgbClr val="22C55E"/>
                          </a:solidFill>
                          <a:latin typeface="Calibri" pitchFamily="34" charset="0"/>
                          <a:ea typeface="Calibri" pitchFamily="34" charset="-122"/>
                          <a:cs typeface="Calibri" pitchFamily="34" charset="-120"/>
                        </a:rPr>
                        <a:t>$1,272.93</a:t>
                      </a:r>
                      <a:endParaRPr lang="en-US" sz="1200" dirty="0">
                        <a:latin typeface="Calibri" charset="0"/>
                        <a:ea typeface="Calibri" charset="0"/>
                        <a:cs typeface="Calibri" charset="0"/>
                      </a:endParaRPr>
                    </a:p>
                  </a:txBody>
                  <a:tcPr marL="91440" marR="91440" marT="45720" marB="45720" anchor="ctr">
                    <a:lnL w="9525" cap="flat" cmpd="sng" algn="ctr">
                      <a:solidFill>
                        <a:srgbClr val="24314E"/>
                      </a:solidFill>
                      <a:prstDash val="solid"/>
                      <a:round/>
                      <a:headEnd type="none" w="med" len="med"/>
                      <a:tailEnd type="none" w="med" len="med"/>
                    </a:lnL>
                    <a:lnR w="9525" cap="flat" cmpd="sng" algn="ctr">
                      <a:solidFill>
                        <a:srgbClr val="24314E"/>
                      </a:solidFill>
                      <a:prstDash val="solid"/>
                      <a:round/>
                      <a:headEnd type="none" w="med" len="med"/>
                      <a:tailEnd type="none" w="med" len="med"/>
                    </a:lnR>
                    <a:lnT w="9525" cap="flat" cmpd="sng" algn="ctr">
                      <a:solidFill>
                        <a:srgbClr val="24314E"/>
                      </a:solidFill>
                      <a:prstDash val="solid"/>
                      <a:round/>
                      <a:headEnd type="none" w="med" len="med"/>
                      <a:tailEnd type="none" w="med" len="med"/>
                    </a:lnT>
                    <a:lnB w="9525" cap="flat" cmpd="sng" algn="ctr">
                      <a:solidFill>
                        <a:srgbClr val="24314E"/>
                      </a:solidFill>
                      <a:prstDash val="solid"/>
                      <a:round/>
                      <a:headEnd type="none" w="med" len="med"/>
                      <a:tailEnd type="none" w="med" len="med"/>
                    </a:lnB>
                    <a:solidFill>
                      <a:srgbClr val="111F38"/>
                    </a:solidFill>
                  </a:tcPr>
                </a:tc>
                <a:tc>
                  <a:txBody>
                    <a:bodyPr/>
                    <a:lstStyle/>
                    <a:p>
                      <a:pPr indent="0" marL="0">
                        <a:buNone/>
                      </a:pPr>
                      <a:r>
                        <a:rPr lang="en-US" sz="1200" dirty="0">
                          <a:solidFill>
                            <a:srgbClr val="E8EDF5"/>
                          </a:solidFill>
                          <a:latin typeface="Calibri" pitchFamily="34" charset="0"/>
                          <a:ea typeface="Calibri" pitchFamily="34" charset="-122"/>
                          <a:cs typeface="Calibri" pitchFamily="34" charset="-120"/>
                        </a:rPr>
                        <a:t>3.51%</a:t>
                      </a:r>
                      <a:endParaRPr lang="en-US" sz="1200" dirty="0">
                        <a:latin typeface="Calibri" charset="0"/>
                        <a:ea typeface="Calibri" charset="0"/>
                        <a:cs typeface="Calibri" charset="0"/>
                      </a:endParaRPr>
                    </a:p>
                  </a:txBody>
                  <a:tcPr marL="91440" marR="91440" marT="45720" marB="45720" anchor="ctr">
                    <a:lnL w="9525" cap="flat" cmpd="sng" algn="ctr">
                      <a:solidFill>
                        <a:srgbClr val="24314E"/>
                      </a:solidFill>
                      <a:prstDash val="solid"/>
                      <a:round/>
                      <a:headEnd type="none" w="med" len="med"/>
                      <a:tailEnd type="none" w="med" len="med"/>
                    </a:lnL>
                    <a:lnR w="9525" cap="flat" cmpd="sng" algn="ctr">
                      <a:solidFill>
                        <a:srgbClr val="24314E"/>
                      </a:solidFill>
                      <a:prstDash val="solid"/>
                      <a:round/>
                      <a:headEnd type="none" w="med" len="med"/>
                      <a:tailEnd type="none" w="med" len="med"/>
                    </a:lnR>
                    <a:lnT w="9525" cap="flat" cmpd="sng" algn="ctr">
                      <a:solidFill>
                        <a:srgbClr val="24314E"/>
                      </a:solidFill>
                      <a:prstDash val="solid"/>
                      <a:round/>
                      <a:headEnd type="none" w="med" len="med"/>
                      <a:tailEnd type="none" w="med" len="med"/>
                    </a:lnT>
                    <a:lnB w="9525" cap="flat" cmpd="sng" algn="ctr">
                      <a:solidFill>
                        <a:srgbClr val="24314E"/>
                      </a:solidFill>
                      <a:prstDash val="solid"/>
                      <a:round/>
                      <a:headEnd type="none" w="med" len="med"/>
                      <a:tailEnd type="none" w="med" len="med"/>
                    </a:lnB>
                    <a:solidFill>
                      <a:srgbClr val="111F38"/>
                    </a:solidFill>
                  </a:tcPr>
                </a:tc>
              </a:tr>
              <a:tr h="502920">
                <a:tc>
                  <a:txBody>
                    <a:bodyPr/>
                    <a:lstStyle/>
                    <a:p>
                      <a:pPr indent="0" marL="0">
                        <a:buNone/>
                      </a:pPr>
                      <a:r>
                        <a:rPr lang="en-US" sz="1200" b="1" dirty="0">
                          <a:solidFill>
                            <a:srgbClr val="3B82F6"/>
                          </a:solidFill>
                          <a:latin typeface="Calibri" pitchFamily="34" charset="0"/>
                          <a:ea typeface="Calibri" pitchFamily="34" charset="-122"/>
                          <a:cs typeface="Calibri" pitchFamily="34" charset="-120"/>
                        </a:rPr>
                        <a:t>Regular</a:t>
                      </a:r>
                      <a:endParaRPr lang="en-US" sz="1200" dirty="0">
                        <a:latin typeface="Calibri" charset="0"/>
                        <a:ea typeface="Calibri" charset="0"/>
                        <a:cs typeface="Calibri" charset="0"/>
                      </a:endParaRPr>
                    </a:p>
                  </a:txBody>
                  <a:tcPr marL="91440" marR="91440" marT="45720" marB="45720" anchor="ctr">
                    <a:lnL w="9525" cap="flat" cmpd="sng" algn="ctr">
                      <a:solidFill>
                        <a:srgbClr val="24314E"/>
                      </a:solidFill>
                      <a:prstDash val="solid"/>
                      <a:round/>
                      <a:headEnd type="none" w="med" len="med"/>
                      <a:tailEnd type="none" w="med" len="med"/>
                    </a:lnL>
                    <a:lnR w="9525" cap="flat" cmpd="sng" algn="ctr">
                      <a:solidFill>
                        <a:srgbClr val="24314E"/>
                      </a:solidFill>
                      <a:prstDash val="solid"/>
                      <a:round/>
                      <a:headEnd type="none" w="med" len="med"/>
                      <a:tailEnd type="none" w="med" len="med"/>
                    </a:lnR>
                    <a:lnT w="9525" cap="flat" cmpd="sng" algn="ctr">
                      <a:solidFill>
                        <a:srgbClr val="24314E"/>
                      </a:solidFill>
                      <a:prstDash val="solid"/>
                      <a:round/>
                      <a:headEnd type="none" w="med" len="med"/>
                      <a:tailEnd type="none" w="med" len="med"/>
                    </a:lnT>
                    <a:lnB w="9525" cap="flat" cmpd="sng" algn="ctr">
                      <a:solidFill>
                        <a:srgbClr val="24314E"/>
                      </a:solidFill>
                      <a:prstDash val="solid"/>
                      <a:round/>
                      <a:headEnd type="none" w="med" len="med"/>
                      <a:tailEnd type="none" w="med" len="med"/>
                    </a:lnB>
                    <a:solidFill>
                      <a:srgbClr val="111F38"/>
                    </a:solidFill>
                  </a:tcPr>
                </a:tc>
                <a:tc>
                  <a:txBody>
                    <a:bodyPr/>
                    <a:lstStyle/>
                    <a:p>
                      <a:pPr indent="0" marL="0">
                        <a:buNone/>
                      </a:pPr>
                      <a:r>
                        <a:rPr lang="en-US" sz="1200" dirty="0">
                          <a:solidFill>
                            <a:srgbClr val="E8EDF5"/>
                          </a:solidFill>
                          <a:latin typeface="Calibri" pitchFamily="34" charset="0"/>
                          <a:ea typeface="Calibri" pitchFamily="34" charset="-122"/>
                          <a:cs typeface="Calibri" pitchFamily="34" charset="-120"/>
                        </a:rPr>
                        <a:t>619 (68.1%)</a:t>
                      </a:r>
                      <a:endParaRPr lang="en-US" sz="1200" dirty="0">
                        <a:latin typeface="Calibri" charset="0"/>
                        <a:ea typeface="Calibri" charset="0"/>
                        <a:cs typeface="Calibri" charset="0"/>
                      </a:endParaRPr>
                    </a:p>
                  </a:txBody>
                  <a:tcPr marL="91440" marR="91440" marT="45720" marB="45720" anchor="ctr">
                    <a:lnL w="9525" cap="flat" cmpd="sng" algn="ctr">
                      <a:solidFill>
                        <a:srgbClr val="24314E"/>
                      </a:solidFill>
                      <a:prstDash val="solid"/>
                      <a:round/>
                      <a:headEnd type="none" w="med" len="med"/>
                      <a:tailEnd type="none" w="med" len="med"/>
                    </a:lnL>
                    <a:lnR w="9525" cap="flat" cmpd="sng" algn="ctr">
                      <a:solidFill>
                        <a:srgbClr val="24314E"/>
                      </a:solidFill>
                      <a:prstDash val="solid"/>
                      <a:round/>
                      <a:headEnd type="none" w="med" len="med"/>
                      <a:tailEnd type="none" w="med" len="med"/>
                    </a:lnR>
                    <a:lnT w="9525" cap="flat" cmpd="sng" algn="ctr">
                      <a:solidFill>
                        <a:srgbClr val="24314E"/>
                      </a:solidFill>
                      <a:prstDash val="solid"/>
                      <a:round/>
                      <a:headEnd type="none" w="med" len="med"/>
                      <a:tailEnd type="none" w="med" len="med"/>
                    </a:lnT>
                    <a:lnB w="9525" cap="flat" cmpd="sng" algn="ctr">
                      <a:solidFill>
                        <a:srgbClr val="24314E"/>
                      </a:solidFill>
                      <a:prstDash val="solid"/>
                      <a:round/>
                      <a:headEnd type="none" w="med" len="med"/>
                      <a:tailEnd type="none" w="med" len="med"/>
                    </a:lnB>
                    <a:solidFill>
                      <a:srgbClr val="111F38"/>
                    </a:solidFill>
                  </a:tcPr>
                </a:tc>
                <a:tc>
                  <a:txBody>
                    <a:bodyPr/>
                    <a:lstStyle/>
                    <a:p>
                      <a:pPr indent="0" marL="0">
                        <a:buNone/>
                      </a:pPr>
                      <a:r>
                        <a:rPr lang="en-US" sz="1200" dirty="0">
                          <a:solidFill>
                            <a:srgbClr val="22C55E"/>
                          </a:solidFill>
                          <a:latin typeface="Calibri" pitchFamily="34" charset="0"/>
                          <a:ea typeface="Calibri" pitchFamily="34" charset="-122"/>
                          <a:cs typeface="Calibri" pitchFamily="34" charset="-120"/>
                        </a:rPr>
                        <a:t>$386.98</a:t>
                      </a:r>
                      <a:endParaRPr lang="en-US" sz="1200" dirty="0">
                        <a:latin typeface="Calibri" charset="0"/>
                        <a:ea typeface="Calibri" charset="0"/>
                        <a:cs typeface="Calibri" charset="0"/>
                      </a:endParaRPr>
                    </a:p>
                  </a:txBody>
                  <a:tcPr marL="91440" marR="91440" marT="45720" marB="45720" anchor="ctr">
                    <a:lnL w="9525" cap="flat" cmpd="sng" algn="ctr">
                      <a:solidFill>
                        <a:srgbClr val="24314E"/>
                      </a:solidFill>
                      <a:prstDash val="solid"/>
                      <a:round/>
                      <a:headEnd type="none" w="med" len="med"/>
                      <a:tailEnd type="none" w="med" len="med"/>
                    </a:lnL>
                    <a:lnR w="9525" cap="flat" cmpd="sng" algn="ctr">
                      <a:solidFill>
                        <a:srgbClr val="24314E"/>
                      </a:solidFill>
                      <a:prstDash val="solid"/>
                      <a:round/>
                      <a:headEnd type="none" w="med" len="med"/>
                      <a:tailEnd type="none" w="med" len="med"/>
                    </a:lnR>
                    <a:lnT w="9525" cap="flat" cmpd="sng" algn="ctr">
                      <a:solidFill>
                        <a:srgbClr val="24314E"/>
                      </a:solidFill>
                      <a:prstDash val="solid"/>
                      <a:round/>
                      <a:headEnd type="none" w="med" len="med"/>
                      <a:tailEnd type="none" w="med" len="med"/>
                    </a:lnT>
                    <a:lnB w="9525" cap="flat" cmpd="sng" algn="ctr">
                      <a:solidFill>
                        <a:srgbClr val="24314E"/>
                      </a:solidFill>
                      <a:prstDash val="solid"/>
                      <a:round/>
                      <a:headEnd type="none" w="med" len="med"/>
                      <a:tailEnd type="none" w="med" len="med"/>
                    </a:lnB>
                    <a:solidFill>
                      <a:srgbClr val="111F38"/>
                    </a:solidFill>
                  </a:tcPr>
                </a:tc>
                <a:tc>
                  <a:txBody>
                    <a:bodyPr/>
                    <a:lstStyle/>
                    <a:p>
                      <a:pPr indent="0" marL="0">
                        <a:buNone/>
                      </a:pPr>
                      <a:r>
                        <a:rPr lang="en-US" sz="1200" dirty="0">
                          <a:solidFill>
                            <a:srgbClr val="E8EDF5"/>
                          </a:solidFill>
                          <a:latin typeface="Calibri" pitchFamily="34" charset="0"/>
                          <a:ea typeface="Calibri" pitchFamily="34" charset="-122"/>
                          <a:cs typeface="Calibri" pitchFamily="34" charset="-120"/>
                        </a:rPr>
                        <a:t>0.50%</a:t>
                      </a:r>
                      <a:endParaRPr lang="en-US" sz="1200" dirty="0">
                        <a:latin typeface="Calibri" charset="0"/>
                        <a:ea typeface="Calibri" charset="0"/>
                        <a:cs typeface="Calibri" charset="0"/>
                      </a:endParaRPr>
                    </a:p>
                  </a:txBody>
                  <a:tcPr marL="91440" marR="91440" marT="45720" marB="45720" anchor="ctr">
                    <a:lnL w="9525" cap="flat" cmpd="sng" algn="ctr">
                      <a:solidFill>
                        <a:srgbClr val="24314E"/>
                      </a:solidFill>
                      <a:prstDash val="solid"/>
                      <a:round/>
                      <a:headEnd type="none" w="med" len="med"/>
                      <a:tailEnd type="none" w="med" len="med"/>
                    </a:lnL>
                    <a:lnR w="9525" cap="flat" cmpd="sng" algn="ctr">
                      <a:solidFill>
                        <a:srgbClr val="24314E"/>
                      </a:solidFill>
                      <a:prstDash val="solid"/>
                      <a:round/>
                      <a:headEnd type="none" w="med" len="med"/>
                      <a:tailEnd type="none" w="med" len="med"/>
                    </a:lnR>
                    <a:lnT w="9525" cap="flat" cmpd="sng" algn="ctr">
                      <a:solidFill>
                        <a:srgbClr val="24314E"/>
                      </a:solidFill>
                      <a:prstDash val="solid"/>
                      <a:round/>
                      <a:headEnd type="none" w="med" len="med"/>
                      <a:tailEnd type="none" w="med" len="med"/>
                    </a:lnT>
                    <a:lnB w="9525" cap="flat" cmpd="sng" algn="ctr">
                      <a:solidFill>
                        <a:srgbClr val="24314E"/>
                      </a:solidFill>
                      <a:prstDash val="solid"/>
                      <a:round/>
                      <a:headEnd type="none" w="med" len="med"/>
                      <a:tailEnd type="none" w="med" len="med"/>
                    </a:lnB>
                    <a:solidFill>
                      <a:srgbClr val="111F38"/>
                    </a:solidFill>
                  </a:tcPr>
                </a:tc>
              </a:tr>
              <a:tr h="502920">
                <a:tc>
                  <a:txBody>
                    <a:bodyPr/>
                    <a:lstStyle/>
                    <a:p>
                      <a:pPr indent="0" marL="0">
                        <a:buNone/>
                      </a:pPr>
                      <a:r>
                        <a:rPr lang="en-US" sz="1200" b="1" dirty="0">
                          <a:solidFill>
                            <a:srgbClr val="EF4444"/>
                          </a:solidFill>
                          <a:latin typeface="Calibri" pitchFamily="34" charset="0"/>
                          <a:ea typeface="Calibri" pitchFamily="34" charset="-122"/>
                          <a:cs typeface="Calibri" pitchFamily="34" charset="-120"/>
                        </a:rPr>
                        <a:t>At Risk</a:t>
                      </a:r>
                      <a:endParaRPr lang="en-US" sz="1200" dirty="0">
                        <a:latin typeface="Calibri" charset="0"/>
                        <a:ea typeface="Calibri" charset="0"/>
                        <a:cs typeface="Calibri" charset="0"/>
                      </a:endParaRPr>
                    </a:p>
                  </a:txBody>
                  <a:tcPr marL="91440" marR="91440" marT="45720" marB="45720" anchor="ctr">
                    <a:lnL w="9525" cap="flat" cmpd="sng" algn="ctr">
                      <a:solidFill>
                        <a:srgbClr val="24314E"/>
                      </a:solidFill>
                      <a:prstDash val="solid"/>
                      <a:round/>
                      <a:headEnd type="none" w="med" len="med"/>
                      <a:tailEnd type="none" w="med" len="med"/>
                    </a:lnL>
                    <a:lnR w="9525" cap="flat" cmpd="sng" algn="ctr">
                      <a:solidFill>
                        <a:srgbClr val="24314E"/>
                      </a:solidFill>
                      <a:prstDash val="solid"/>
                      <a:round/>
                      <a:headEnd type="none" w="med" len="med"/>
                      <a:tailEnd type="none" w="med" len="med"/>
                    </a:lnR>
                    <a:lnT w="9525" cap="flat" cmpd="sng" algn="ctr">
                      <a:solidFill>
                        <a:srgbClr val="24314E"/>
                      </a:solidFill>
                      <a:prstDash val="solid"/>
                      <a:round/>
                      <a:headEnd type="none" w="med" len="med"/>
                      <a:tailEnd type="none" w="med" len="med"/>
                    </a:lnT>
                    <a:lnB w="9525" cap="flat" cmpd="sng" algn="ctr">
                      <a:solidFill>
                        <a:srgbClr val="24314E"/>
                      </a:solidFill>
                      <a:prstDash val="solid"/>
                      <a:round/>
                      <a:headEnd type="none" w="med" len="med"/>
                      <a:tailEnd type="none" w="med" len="med"/>
                    </a:lnB>
                    <a:solidFill>
                      <a:srgbClr val="111F38"/>
                    </a:solidFill>
                  </a:tcPr>
                </a:tc>
                <a:tc>
                  <a:txBody>
                    <a:bodyPr/>
                    <a:lstStyle/>
                    <a:p>
                      <a:pPr indent="0" marL="0">
                        <a:buNone/>
                      </a:pPr>
                      <a:r>
                        <a:rPr lang="en-US" sz="1200" dirty="0">
                          <a:solidFill>
                            <a:srgbClr val="E8EDF5"/>
                          </a:solidFill>
                          <a:latin typeface="Calibri" pitchFamily="34" charset="0"/>
                          <a:ea typeface="Calibri" pitchFamily="34" charset="-122"/>
                          <a:cs typeface="Calibri" pitchFamily="34" charset="-120"/>
                        </a:rPr>
                        <a:t>63 (6.9%)</a:t>
                      </a:r>
                      <a:endParaRPr lang="en-US" sz="1200" dirty="0">
                        <a:latin typeface="Calibri" charset="0"/>
                        <a:ea typeface="Calibri" charset="0"/>
                        <a:cs typeface="Calibri" charset="0"/>
                      </a:endParaRPr>
                    </a:p>
                  </a:txBody>
                  <a:tcPr marL="91440" marR="91440" marT="45720" marB="45720" anchor="ctr">
                    <a:lnL w="9525" cap="flat" cmpd="sng" algn="ctr">
                      <a:solidFill>
                        <a:srgbClr val="24314E"/>
                      </a:solidFill>
                      <a:prstDash val="solid"/>
                      <a:round/>
                      <a:headEnd type="none" w="med" len="med"/>
                      <a:tailEnd type="none" w="med" len="med"/>
                    </a:lnL>
                    <a:lnR w="9525" cap="flat" cmpd="sng" algn="ctr">
                      <a:solidFill>
                        <a:srgbClr val="24314E"/>
                      </a:solidFill>
                      <a:prstDash val="solid"/>
                      <a:round/>
                      <a:headEnd type="none" w="med" len="med"/>
                      <a:tailEnd type="none" w="med" len="med"/>
                    </a:lnR>
                    <a:lnT w="9525" cap="flat" cmpd="sng" algn="ctr">
                      <a:solidFill>
                        <a:srgbClr val="24314E"/>
                      </a:solidFill>
                      <a:prstDash val="solid"/>
                      <a:round/>
                      <a:headEnd type="none" w="med" len="med"/>
                      <a:tailEnd type="none" w="med" len="med"/>
                    </a:lnT>
                    <a:lnB w="9525" cap="flat" cmpd="sng" algn="ctr">
                      <a:solidFill>
                        <a:srgbClr val="24314E"/>
                      </a:solidFill>
                      <a:prstDash val="solid"/>
                      <a:round/>
                      <a:headEnd type="none" w="med" len="med"/>
                      <a:tailEnd type="none" w="med" len="med"/>
                    </a:lnB>
                    <a:solidFill>
                      <a:srgbClr val="111F38"/>
                    </a:solidFill>
                  </a:tcPr>
                </a:tc>
                <a:tc>
                  <a:txBody>
                    <a:bodyPr/>
                    <a:lstStyle/>
                    <a:p>
                      <a:pPr indent="0" marL="0">
                        <a:buNone/>
                      </a:pPr>
                      <a:r>
                        <a:rPr lang="en-US" sz="1200" dirty="0">
                          <a:solidFill>
                            <a:srgbClr val="EF4444"/>
                          </a:solidFill>
                          <a:latin typeface="Calibri" pitchFamily="34" charset="0"/>
                          <a:ea typeface="Calibri" pitchFamily="34" charset="-122"/>
                          <a:cs typeface="Calibri" pitchFamily="34" charset="-120"/>
                        </a:rPr>
                        <a:t>$0.20</a:t>
                      </a:r>
                      <a:endParaRPr lang="en-US" sz="1200" dirty="0">
                        <a:latin typeface="Calibri" charset="0"/>
                        <a:ea typeface="Calibri" charset="0"/>
                        <a:cs typeface="Calibri" charset="0"/>
                      </a:endParaRPr>
                    </a:p>
                  </a:txBody>
                  <a:tcPr marL="91440" marR="91440" marT="45720" marB="45720" anchor="ctr">
                    <a:lnL w="9525" cap="flat" cmpd="sng" algn="ctr">
                      <a:solidFill>
                        <a:srgbClr val="24314E"/>
                      </a:solidFill>
                      <a:prstDash val="solid"/>
                      <a:round/>
                      <a:headEnd type="none" w="med" len="med"/>
                      <a:tailEnd type="none" w="med" len="med"/>
                    </a:lnL>
                    <a:lnR w="9525" cap="flat" cmpd="sng" algn="ctr">
                      <a:solidFill>
                        <a:srgbClr val="24314E"/>
                      </a:solidFill>
                      <a:prstDash val="solid"/>
                      <a:round/>
                      <a:headEnd type="none" w="med" len="med"/>
                      <a:tailEnd type="none" w="med" len="med"/>
                    </a:lnR>
                    <a:lnT w="9525" cap="flat" cmpd="sng" algn="ctr">
                      <a:solidFill>
                        <a:srgbClr val="24314E"/>
                      </a:solidFill>
                      <a:prstDash val="solid"/>
                      <a:round/>
                      <a:headEnd type="none" w="med" len="med"/>
                      <a:tailEnd type="none" w="med" len="med"/>
                    </a:lnT>
                    <a:lnB w="9525" cap="flat" cmpd="sng" algn="ctr">
                      <a:solidFill>
                        <a:srgbClr val="24314E"/>
                      </a:solidFill>
                      <a:prstDash val="solid"/>
                      <a:round/>
                      <a:headEnd type="none" w="med" len="med"/>
                      <a:tailEnd type="none" w="med" len="med"/>
                    </a:lnB>
                    <a:solidFill>
                      <a:srgbClr val="111F38"/>
                    </a:solidFill>
                  </a:tcPr>
                </a:tc>
                <a:tc>
                  <a:txBody>
                    <a:bodyPr/>
                    <a:lstStyle/>
                    <a:p>
                      <a:pPr indent="0" marL="0">
                        <a:buNone/>
                      </a:pPr>
                      <a:r>
                        <a:rPr lang="en-US" sz="1200" b="1" dirty="0">
                          <a:solidFill>
                            <a:srgbClr val="EF4444"/>
                          </a:solidFill>
                          <a:latin typeface="Calibri" pitchFamily="34" charset="0"/>
                          <a:ea typeface="Calibri" pitchFamily="34" charset="-122"/>
                          <a:cs typeface="Calibri" pitchFamily="34" charset="-120"/>
                        </a:rPr>
                        <a:t>99.47%</a:t>
                      </a:r>
                      <a:endParaRPr lang="en-US" sz="1200" dirty="0">
                        <a:latin typeface="Calibri" charset="0"/>
                        <a:ea typeface="Calibri" charset="0"/>
                        <a:cs typeface="Calibri" charset="0"/>
                      </a:endParaRPr>
                    </a:p>
                  </a:txBody>
                  <a:tcPr marL="91440" marR="91440" marT="45720" marB="45720" anchor="ctr">
                    <a:lnL w="9525" cap="flat" cmpd="sng" algn="ctr">
                      <a:solidFill>
                        <a:srgbClr val="24314E"/>
                      </a:solidFill>
                      <a:prstDash val="solid"/>
                      <a:round/>
                      <a:headEnd type="none" w="med" len="med"/>
                      <a:tailEnd type="none" w="med" len="med"/>
                    </a:lnL>
                    <a:lnR w="9525" cap="flat" cmpd="sng" algn="ctr">
                      <a:solidFill>
                        <a:srgbClr val="24314E"/>
                      </a:solidFill>
                      <a:prstDash val="solid"/>
                      <a:round/>
                      <a:headEnd type="none" w="med" len="med"/>
                      <a:tailEnd type="none" w="med" len="med"/>
                    </a:lnR>
                    <a:lnT w="9525" cap="flat" cmpd="sng" algn="ctr">
                      <a:solidFill>
                        <a:srgbClr val="24314E"/>
                      </a:solidFill>
                      <a:prstDash val="solid"/>
                      <a:round/>
                      <a:headEnd type="none" w="med" len="med"/>
                      <a:tailEnd type="none" w="med" len="med"/>
                    </a:lnT>
                    <a:lnB w="9525" cap="flat" cmpd="sng" algn="ctr">
                      <a:solidFill>
                        <a:srgbClr val="24314E"/>
                      </a:solidFill>
                      <a:prstDash val="solid"/>
                      <a:round/>
                      <a:headEnd type="none" w="med" len="med"/>
                      <a:tailEnd type="none" w="med" len="med"/>
                    </a:lnB>
                    <a:solidFill>
                      <a:srgbClr val="111F38"/>
                    </a:solidFill>
                  </a:tcPr>
                </a:tc>
              </a:tr>
            </a:tbl>
          </a:graphicData>
        </a:graphic>
      </p:graphicFrame>
      <p:sp>
        <p:nvSpPr>
          <p:cNvPr id="6" name="Shape 2"/>
          <p:cNvSpPr/>
          <p:nvPr/>
        </p:nvSpPr>
        <p:spPr>
          <a:xfrm>
            <a:off x="5029200" y="4160520"/>
            <a:ext cx="6583680" cy="1874520"/>
          </a:xfrm>
          <a:prstGeom prst="roundRect">
            <a:avLst>
              <a:gd name="adj" fmla="val 5854"/>
            </a:avLst>
          </a:prstGeom>
          <a:solidFill>
            <a:srgbClr val="111F38"/>
          </a:solidFill>
          <a:ln w="9525">
            <a:solidFill>
              <a:srgbClr val="24314E"/>
            </a:solidFill>
            <a:prstDash val="solid"/>
          </a:ln>
        </p:spPr>
      </p:sp>
      <p:sp>
        <p:nvSpPr>
          <p:cNvPr id="7" name="Text 3"/>
          <p:cNvSpPr txBox="1"/>
          <p:nvPr/>
        </p:nvSpPr>
        <p:spPr>
          <a:xfrm>
            <a:off x="5257800" y="4315968"/>
            <a:ext cx="6126480" cy="1600200"/>
          </a:xfrm>
          <a:prstGeom prst="rect">
            <a:avLst/>
          </a:prstGeom>
          <a:noFill/>
          <a:ln/>
        </p:spPr>
        <p:txBody>
          <a:bodyPr wrap="square" lIns="0" tIns="0" rIns="0" bIns="0" rtlCol="0" anchor="ctr"/>
          <a:lstStyle/>
          <a:p>
            <a:pPr indent="0" marL="0">
              <a:lnSpc>
                <a:spcPct val="135000"/>
              </a:lnSpc>
              <a:buNone/>
            </a:pPr>
            <a:r>
              <a:rPr lang="en-US" sz="1150" b="1" dirty="0">
                <a:solidFill>
                  <a:srgbClr val="3B82F6"/>
                </a:solidFill>
                <a:latin typeface="Calibri" pitchFamily="34" charset="0"/>
                <a:ea typeface="Calibri" pitchFamily="34" charset="-122"/>
                <a:cs typeface="Calibri" pitchFamily="34" charset="-120"/>
              </a:rPr>
              <a:t>Regular</a:t>
            </a:r>
            <a:pPr indent="0" marL="0">
              <a:lnSpc>
                <a:spcPct val="135000"/>
              </a:lnSpc>
              <a:buNone/>
            </a:pPr>
            <a:r>
              <a:rPr lang="en-US" sz="1150" dirty="0">
                <a:solidFill>
                  <a:srgbClr val="A8B8D0"/>
                </a:solidFill>
                <a:latin typeface="Calibri" pitchFamily="34" charset="0"/>
                <a:ea typeface="Calibri" pitchFamily="34" charset="-122"/>
                <a:cs typeface="Calibri" pitchFamily="34" charset="-120"/>
              </a:rPr>
              <a:t>  — the majority by headcount; steady but low-frequency buyers.
</a:t>
            </a:r>
            <a:pPr indent="0" marL="0">
              <a:lnSpc>
                <a:spcPct val="135000"/>
              </a:lnSpc>
              <a:buNone/>
            </a:pPr>
            <a:r>
              <a:rPr lang="en-US" sz="1150" b="1" dirty="0">
                <a:solidFill>
                  <a:srgbClr val="F0B429"/>
                </a:solidFill>
                <a:latin typeface="Calibri" pitchFamily="34" charset="0"/>
                <a:ea typeface="Calibri" pitchFamily="34" charset="-122"/>
                <a:cs typeface="Calibri" pitchFamily="34" charset="-120"/>
              </a:rPr>
              <a:t>High Value</a:t>
            </a:r>
            <a:pPr indent="0" marL="0">
              <a:lnSpc>
                <a:spcPct val="135000"/>
              </a:lnSpc>
              <a:buNone/>
            </a:pPr>
            <a:r>
              <a:rPr lang="en-US" sz="1150" dirty="0">
                <a:solidFill>
                  <a:srgbClr val="A8B8D0"/>
                </a:solidFill>
                <a:latin typeface="Calibri" pitchFamily="34" charset="0"/>
                <a:ea typeface="Calibri" pitchFamily="34" charset="-122"/>
                <a:cs typeface="Calibri" pitchFamily="34" charset="-120"/>
              </a:rPr>
              <a:t>  — a quarter of customers, buying 2.8x more often with 60% more product variety.
</a:t>
            </a:r>
            <a:pPr indent="0" marL="0">
              <a:lnSpc>
                <a:spcPct val="135000"/>
              </a:lnSpc>
              <a:buNone/>
            </a:pPr>
            <a:r>
              <a:rPr lang="en-US" sz="1150" b="1" dirty="0">
                <a:solidFill>
                  <a:srgbClr val="EF4444"/>
                </a:solidFill>
                <a:latin typeface="Calibri" pitchFamily="34" charset="0"/>
                <a:ea typeface="Calibri" pitchFamily="34" charset="-122"/>
                <a:cs typeface="Calibri" pitchFamily="34" charset="-120"/>
              </a:rPr>
              <a:t>At Risk</a:t>
            </a:r>
            <a:pPr indent="0" marL="0">
              <a:lnSpc>
                <a:spcPct val="135000"/>
              </a:lnSpc>
              <a:buNone/>
            </a:pPr>
            <a:r>
              <a:rPr lang="en-US" sz="1150" dirty="0">
                <a:solidFill>
                  <a:srgbClr val="A8B8D0"/>
                </a:solidFill>
                <a:latin typeface="Calibri" pitchFamily="34" charset="0"/>
                <a:ea typeface="Calibri" pitchFamily="34" charset="-122"/>
                <a:cs typeface="Calibri" pitchFamily="34" charset="-120"/>
              </a:rPr>
              <a:t>  — small in headcount, but its 99.47% cancellation rate is a red flag, not typical churn.</a:t>
            </a:r>
            <a:endParaRPr lang="en-US" sz="1150" dirty="0"/>
          </a:p>
        </p:txBody>
      </p:sp>
      <p:sp>
        <p:nvSpPr>
          <p:cNvPr id="8" name="Text 4"/>
          <p:cNvSpPr/>
          <p:nvPr/>
        </p:nvSpPr>
        <p:spPr>
          <a:xfrm>
            <a:off x="457200" y="6528816"/>
            <a:ext cx="7315200" cy="274320"/>
          </a:xfrm>
          <a:prstGeom prst="rect">
            <a:avLst/>
          </a:prstGeom>
          <a:noFill/>
          <a:ln/>
        </p:spPr>
        <p:txBody>
          <a:bodyPr wrap="square" lIns="0" tIns="0" rIns="0" bIns="0" rtlCol="0" anchor="ctr"/>
          <a:lstStyle/>
          <a:p>
            <a:pPr algn="l" indent="0" marL="0">
              <a:buNone/>
            </a:pPr>
            <a:r>
              <a:rPr lang="en-US" sz="900" dirty="0">
                <a:solidFill>
                  <a:srgbClr val="72859E"/>
                </a:solidFill>
                <a:latin typeface="Calibri" pitchFamily="34" charset="0"/>
                <a:ea typeface="Calibri" pitchFamily="34" charset="-122"/>
                <a:cs typeface="Calibri" pitchFamily="34" charset="-120"/>
              </a:rPr>
              <a:t>Online Retail Business · Customer Segmentation</a:t>
            </a:r>
            <a:endParaRPr lang="en-US" sz="900" dirty="0"/>
          </a:p>
        </p:txBody>
      </p:sp>
      <p:sp>
        <p:nvSpPr>
          <p:cNvPr id="9" name="Text 5"/>
          <p:cNvSpPr/>
          <p:nvPr/>
        </p:nvSpPr>
        <p:spPr>
          <a:xfrm>
            <a:off x="11000232" y="6528816"/>
            <a:ext cx="731520" cy="274320"/>
          </a:xfrm>
          <a:prstGeom prst="rect">
            <a:avLst/>
          </a:prstGeom>
          <a:noFill/>
          <a:ln/>
        </p:spPr>
        <p:txBody>
          <a:bodyPr wrap="square" lIns="0" tIns="0" rIns="0" bIns="0" rtlCol="0" anchor="ctr"/>
          <a:lstStyle/>
          <a:p>
            <a:pPr algn="r" indent="0" marL="0">
              <a:buNone/>
            </a:pPr>
            <a:r>
              <a:rPr lang="en-US" sz="900" dirty="0">
                <a:solidFill>
                  <a:srgbClr val="72859E"/>
                </a:solidFill>
                <a:latin typeface="Calibri" pitchFamily="34" charset="0"/>
                <a:ea typeface="Calibri" pitchFamily="34" charset="-122"/>
                <a:cs typeface="Calibri" pitchFamily="34" charset="-120"/>
              </a:rPr>
              <a:t>9 / 18</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B1220"/>
        </a:solidFill>
      </p:bgPr>
    </p:bg>
    <p:spTree>
      <p:nvGrpSpPr>
        <p:cNvPr id="1" name=""/>
        <p:cNvGrpSpPr/>
        <p:nvPr/>
      </p:nvGrpSpPr>
      <p:grpSpPr>
        <a:xfrm>
          <a:off x="0" y="0"/>
          <a:ext cx="0" cy="0"/>
          <a:chOff x="0" y="0"/>
          <a:chExt cx="0" cy="0"/>
        </a:xfrm>
      </p:grpSpPr>
      <p:sp>
        <p:nvSpPr>
          <p:cNvPr id="2" name="Text 0"/>
          <p:cNvSpPr txBox="1"/>
          <p:nvPr/>
        </p:nvSpPr>
        <p:spPr>
          <a:xfrm>
            <a:off x="548640" y="201168"/>
            <a:ext cx="7315200" cy="274320"/>
          </a:xfrm>
          <a:prstGeom prst="rect">
            <a:avLst/>
          </a:prstGeom>
          <a:noFill/>
          <a:ln/>
        </p:spPr>
        <p:txBody>
          <a:bodyPr wrap="square" lIns="0" tIns="0" rIns="0" bIns="0" rtlCol="0" anchor="ctr"/>
          <a:lstStyle/>
          <a:p>
            <a:pPr algn="l" indent="0" marL="0">
              <a:buNone/>
            </a:pPr>
            <a:r>
              <a:rPr lang="en-US" sz="1100" b="1" spc="200" kern="0" dirty="0">
                <a:solidFill>
                  <a:srgbClr val="EF4444"/>
                </a:solidFill>
                <a:latin typeface="Calibri" pitchFamily="34" charset="0"/>
                <a:ea typeface="Calibri" pitchFamily="34" charset="-122"/>
                <a:cs typeface="Calibri" pitchFamily="34" charset="-120"/>
              </a:rPr>
              <a:t>THE HIDDEN TRUTH</a:t>
            </a:r>
            <a:endParaRPr lang="en-US" sz="1100" dirty="0"/>
          </a:p>
        </p:txBody>
      </p:sp>
      <p:sp>
        <p:nvSpPr>
          <p:cNvPr id="3" name="Text 1"/>
          <p:cNvSpPr txBox="1"/>
          <p:nvPr/>
        </p:nvSpPr>
        <p:spPr>
          <a:xfrm>
            <a:off x="548640" y="411480"/>
            <a:ext cx="11064240" cy="685800"/>
          </a:xfrm>
          <a:prstGeom prst="rect">
            <a:avLst/>
          </a:prstGeom>
          <a:noFill/>
          <a:ln/>
        </p:spPr>
        <p:txBody>
          <a:bodyPr wrap="square" lIns="0" tIns="0" rIns="0" bIns="0" rtlCol="0" anchor="ctr"/>
          <a:lstStyle/>
          <a:p>
            <a:pPr algn="l" indent="0" marL="0">
              <a:buNone/>
            </a:pPr>
            <a:r>
              <a:rPr lang="en-US" sz="3000" b="1" dirty="0">
                <a:solidFill>
                  <a:srgbClr val="FFFFFF"/>
                </a:solidFill>
                <a:latin typeface="Cambria" pitchFamily="34" charset="0"/>
                <a:ea typeface="Cambria" pitchFamily="34" charset="-122"/>
                <a:cs typeface="Cambria" pitchFamily="34" charset="-120"/>
              </a:rPr>
              <a:t>Customer Count ≠ Revenue</a:t>
            </a:r>
            <a:endParaRPr lang="en-US" sz="3000" dirty="0"/>
          </a:p>
        </p:txBody>
      </p:sp>
      <p:sp>
        <p:nvSpPr>
          <p:cNvPr id="4" name="Text 2"/>
          <p:cNvSpPr txBox="1"/>
          <p:nvPr/>
        </p:nvSpPr>
        <p:spPr>
          <a:xfrm>
            <a:off x="548640" y="1298448"/>
            <a:ext cx="10058400" cy="365760"/>
          </a:xfrm>
          <a:prstGeom prst="rect">
            <a:avLst/>
          </a:prstGeom>
          <a:noFill/>
          <a:ln/>
        </p:spPr>
        <p:txBody>
          <a:bodyPr wrap="square" lIns="0" tIns="0" rIns="0" bIns="0" rtlCol="0" anchor="ctr"/>
          <a:lstStyle/>
          <a:p>
            <a:pPr indent="0" marL="0">
              <a:buNone/>
            </a:pPr>
            <a:r>
              <a:rPr lang="en-US" sz="1300" dirty="0">
                <a:solidFill>
                  <a:srgbClr val="A8B8D0"/>
                </a:solidFill>
                <a:latin typeface="Calibri" pitchFamily="34" charset="0"/>
                <a:ea typeface="Calibri" pitchFamily="34" charset="-122"/>
                <a:cs typeface="Calibri" pitchFamily="34" charset="-120"/>
              </a:rPr>
              <a:t>Weighting each segment's average spend by its size tells a very different story than headcount alone.</a:t>
            </a:r>
            <a:endParaRPr lang="en-US" sz="1300" dirty="0"/>
          </a:p>
        </p:txBody>
      </p:sp>
      <p:graphicFrame>
        <p:nvGraphicFramePr>
          <p:cNvPr id="5" name="Chart 0" descr=""/>
          <p:cNvGraphicFramePr/>
          <p:nvPr/>
        </p:nvGraphicFramePr>
        <p:xfrm>
          <a:off x="548640" y="1783080"/>
          <a:ext cx="6858000" cy="4206240"/>
        </p:xfrm>
        <a:graphic xmlns:a="http://schemas.openxmlformats.org/drawingml/2006/main">
          <a:graphicData uri="http://schemas.openxmlformats.org/drawingml/2006/chart">
            <c:chart xmlns:c="http://schemas.openxmlformats.org/drawingml/2006/chart" r:id="rId1"/>
          </a:graphicData>
        </a:graphic>
      </p:graphicFrame>
      <p:sp>
        <p:nvSpPr>
          <p:cNvPr id="6" name="Shape 3"/>
          <p:cNvSpPr/>
          <p:nvPr/>
        </p:nvSpPr>
        <p:spPr>
          <a:xfrm>
            <a:off x="7680960" y="1783080"/>
            <a:ext cx="3931920" cy="1965960"/>
          </a:xfrm>
          <a:prstGeom prst="roundRect">
            <a:avLst>
              <a:gd name="adj" fmla="val 6512"/>
            </a:avLst>
          </a:prstGeom>
          <a:solidFill>
            <a:srgbClr val="0F1B30"/>
          </a:solidFill>
          <a:ln w="15875">
            <a:solidFill>
              <a:srgbClr val="EF4444"/>
            </a:solidFill>
            <a:prstDash val="solid"/>
          </a:ln>
        </p:spPr>
      </p:sp>
      <p:sp>
        <p:nvSpPr>
          <p:cNvPr id="7" name="Text 4"/>
          <p:cNvSpPr txBox="1"/>
          <p:nvPr/>
        </p:nvSpPr>
        <p:spPr>
          <a:xfrm>
            <a:off x="7863840" y="1901952"/>
            <a:ext cx="3566160" cy="777240"/>
          </a:xfrm>
          <a:prstGeom prst="rect">
            <a:avLst/>
          </a:prstGeom>
          <a:noFill/>
          <a:ln/>
        </p:spPr>
        <p:txBody>
          <a:bodyPr wrap="square" lIns="0" tIns="0" rIns="0" bIns="0" rtlCol="0" anchor="ctr"/>
          <a:lstStyle/>
          <a:p>
            <a:pPr indent="0" marL="0">
              <a:buNone/>
            </a:pPr>
            <a:r>
              <a:rPr lang="en-US" sz="4000" b="1" dirty="0">
                <a:solidFill>
                  <a:srgbClr val="EF4444"/>
                </a:solidFill>
                <a:latin typeface="Cambria" pitchFamily="34" charset="0"/>
                <a:ea typeface="Cambria" pitchFamily="34" charset="-122"/>
                <a:cs typeface="Cambria" pitchFamily="34" charset="-120"/>
              </a:rPr>
              <a:t>99.47%</a:t>
            </a:r>
            <a:endParaRPr lang="en-US" sz="4000" dirty="0"/>
          </a:p>
        </p:txBody>
      </p:sp>
      <p:sp>
        <p:nvSpPr>
          <p:cNvPr id="8" name="Text 5"/>
          <p:cNvSpPr txBox="1"/>
          <p:nvPr/>
        </p:nvSpPr>
        <p:spPr>
          <a:xfrm>
            <a:off x="7863840" y="2697480"/>
            <a:ext cx="3566160" cy="960120"/>
          </a:xfrm>
          <a:prstGeom prst="rect">
            <a:avLst/>
          </a:prstGeom>
          <a:noFill/>
          <a:ln/>
        </p:spPr>
        <p:txBody>
          <a:bodyPr wrap="square" lIns="0" tIns="0" rIns="0" bIns="0" rtlCol="0" anchor="ctr"/>
          <a:lstStyle/>
          <a:p>
            <a:pPr indent="0" marL="0">
              <a:buNone/>
            </a:pPr>
            <a:r>
              <a:rPr lang="en-US" sz="1150" dirty="0">
                <a:solidFill>
                  <a:srgbClr val="A8B8D0"/>
                </a:solidFill>
                <a:latin typeface="Calibri" pitchFamily="34" charset="0"/>
                <a:ea typeface="Calibri" pitchFamily="34" charset="-122"/>
                <a:cs typeface="Calibri" pitchFamily="34" charset="-120"/>
              </a:rPr>
              <a:t>cancellation rate in the At Risk segment — 63 customers whose orders almost never convert into real revenue.</a:t>
            </a:r>
            <a:endParaRPr lang="en-US" sz="1150" dirty="0"/>
          </a:p>
        </p:txBody>
      </p:sp>
      <p:sp>
        <p:nvSpPr>
          <p:cNvPr id="9" name="Shape 6"/>
          <p:cNvSpPr/>
          <p:nvPr/>
        </p:nvSpPr>
        <p:spPr>
          <a:xfrm>
            <a:off x="7680960" y="3931920"/>
            <a:ext cx="3931920" cy="2057400"/>
          </a:xfrm>
          <a:prstGeom prst="roundRect">
            <a:avLst>
              <a:gd name="adj" fmla="val 6222"/>
            </a:avLst>
          </a:prstGeom>
          <a:solidFill>
            <a:srgbClr val="111F38"/>
          </a:solidFill>
          <a:ln w="9525">
            <a:solidFill>
              <a:srgbClr val="24314E"/>
            </a:solidFill>
            <a:prstDash val="solid"/>
          </a:ln>
        </p:spPr>
      </p:sp>
      <p:sp>
        <p:nvSpPr>
          <p:cNvPr id="10" name="Text 7"/>
          <p:cNvSpPr txBox="1"/>
          <p:nvPr/>
        </p:nvSpPr>
        <p:spPr>
          <a:xfrm>
            <a:off x="7863840" y="4069080"/>
            <a:ext cx="3566160" cy="457200"/>
          </a:xfrm>
          <a:prstGeom prst="rect">
            <a:avLst/>
          </a:prstGeom>
          <a:noFill/>
          <a:ln/>
        </p:spPr>
        <p:txBody>
          <a:bodyPr wrap="square" lIns="0" tIns="0" rIns="0" bIns="0" rtlCol="0" anchor="ctr"/>
          <a:lstStyle/>
          <a:p>
            <a:pPr indent="0" marL="0">
              <a:buNone/>
            </a:pPr>
            <a:r>
              <a:rPr lang="en-US" sz="2000" b="1" dirty="0">
                <a:solidFill>
                  <a:srgbClr val="F0B429"/>
                </a:solidFill>
                <a:latin typeface="Cambria" pitchFamily="34" charset="0"/>
                <a:ea typeface="Cambria" pitchFamily="34" charset="-122"/>
                <a:cs typeface="Cambria" pitchFamily="34" charset="-120"/>
              </a:rPr>
              <a:t>$288,954.94</a:t>
            </a:r>
            <a:endParaRPr lang="en-US" sz="2000" dirty="0"/>
          </a:p>
        </p:txBody>
      </p:sp>
      <p:sp>
        <p:nvSpPr>
          <p:cNvPr id="11" name="Text 8"/>
          <p:cNvSpPr txBox="1"/>
          <p:nvPr/>
        </p:nvSpPr>
        <p:spPr>
          <a:xfrm>
            <a:off x="7863840" y="4572000"/>
            <a:ext cx="3566160" cy="1280160"/>
          </a:xfrm>
          <a:prstGeom prst="rect">
            <a:avLst/>
          </a:prstGeom>
          <a:noFill/>
          <a:ln/>
        </p:spPr>
        <p:txBody>
          <a:bodyPr wrap="square" lIns="0" tIns="0" rIns="0" bIns="0" rtlCol="0" anchor="ctr"/>
          <a:lstStyle/>
          <a:p>
            <a:pPr indent="0" marL="0">
              <a:buNone/>
            </a:pPr>
            <a:r>
              <a:rPr lang="en-US" sz="1150" dirty="0">
                <a:solidFill>
                  <a:srgbClr val="A8B8D0"/>
                </a:solidFill>
                <a:latin typeface="Calibri" pitchFamily="34" charset="0"/>
                <a:ea typeface="Calibri" pitchFamily="34" charset="-122"/>
                <a:cs typeface="Calibri" pitchFamily="34" charset="-120"/>
              </a:rPr>
              <a:t>generated by High Value customers alone — 54.7% of estimated total revenue from just 25% of the base.</a:t>
            </a:r>
            <a:endParaRPr lang="en-US" sz="1150" dirty="0"/>
          </a:p>
        </p:txBody>
      </p:sp>
      <p:sp>
        <p:nvSpPr>
          <p:cNvPr id="12" name="Text 9"/>
          <p:cNvSpPr/>
          <p:nvPr/>
        </p:nvSpPr>
        <p:spPr>
          <a:xfrm>
            <a:off x="457200" y="6528816"/>
            <a:ext cx="7315200" cy="274320"/>
          </a:xfrm>
          <a:prstGeom prst="rect">
            <a:avLst/>
          </a:prstGeom>
          <a:noFill/>
          <a:ln/>
        </p:spPr>
        <p:txBody>
          <a:bodyPr wrap="square" lIns="0" tIns="0" rIns="0" bIns="0" rtlCol="0" anchor="ctr"/>
          <a:lstStyle/>
          <a:p>
            <a:pPr algn="l" indent="0" marL="0">
              <a:buNone/>
            </a:pPr>
            <a:r>
              <a:rPr lang="en-US" sz="900" dirty="0">
                <a:solidFill>
                  <a:srgbClr val="72859E"/>
                </a:solidFill>
                <a:latin typeface="Calibri" pitchFamily="34" charset="0"/>
                <a:ea typeface="Calibri" pitchFamily="34" charset="-122"/>
                <a:cs typeface="Calibri" pitchFamily="34" charset="-120"/>
              </a:rPr>
              <a:t>Online Retail Business · Customer Segmentation</a:t>
            </a:r>
            <a:endParaRPr lang="en-US" sz="900" dirty="0"/>
          </a:p>
        </p:txBody>
      </p:sp>
      <p:sp>
        <p:nvSpPr>
          <p:cNvPr id="13" name="Text 10"/>
          <p:cNvSpPr/>
          <p:nvPr/>
        </p:nvSpPr>
        <p:spPr>
          <a:xfrm>
            <a:off x="11000232" y="6528816"/>
            <a:ext cx="731520" cy="274320"/>
          </a:xfrm>
          <a:prstGeom prst="rect">
            <a:avLst/>
          </a:prstGeom>
          <a:noFill/>
          <a:ln/>
        </p:spPr>
        <p:txBody>
          <a:bodyPr wrap="square" lIns="0" tIns="0" rIns="0" bIns="0" rtlCol="0" anchor="ctr"/>
          <a:lstStyle/>
          <a:p>
            <a:pPr algn="r" indent="0" marL="0">
              <a:buNone/>
            </a:pPr>
            <a:r>
              <a:rPr lang="en-US" sz="900" dirty="0">
                <a:solidFill>
                  <a:srgbClr val="72859E"/>
                </a:solidFill>
                <a:latin typeface="Calibri" pitchFamily="34" charset="0"/>
                <a:ea typeface="Calibri" pitchFamily="34" charset="-122"/>
                <a:cs typeface="Calibri" pitchFamily="34" charset="-120"/>
              </a:rPr>
              <a:t>10 / 18</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B1220"/>
        </a:solidFill>
      </p:bgPr>
    </p:bg>
    <p:spTree>
      <p:nvGrpSpPr>
        <p:cNvPr id="1" name=""/>
        <p:cNvGrpSpPr/>
        <p:nvPr/>
      </p:nvGrpSpPr>
      <p:grpSpPr>
        <a:xfrm>
          <a:off x="0" y="0"/>
          <a:ext cx="0" cy="0"/>
          <a:chOff x="0" y="0"/>
          <a:chExt cx="0" cy="0"/>
        </a:xfrm>
      </p:grpSpPr>
      <p:sp>
        <p:nvSpPr>
          <p:cNvPr id="2" name="Text 0"/>
          <p:cNvSpPr txBox="1"/>
          <p:nvPr/>
        </p:nvSpPr>
        <p:spPr>
          <a:xfrm>
            <a:off x="548640" y="201168"/>
            <a:ext cx="7315200" cy="274320"/>
          </a:xfrm>
          <a:prstGeom prst="rect">
            <a:avLst/>
          </a:prstGeom>
          <a:noFill/>
          <a:ln/>
        </p:spPr>
        <p:txBody>
          <a:bodyPr wrap="square" lIns="0" tIns="0" rIns="0" bIns="0" rtlCol="0" anchor="ctr"/>
          <a:lstStyle/>
          <a:p>
            <a:pPr algn="l" indent="0" marL="0">
              <a:buNone/>
            </a:pPr>
            <a:r>
              <a:rPr lang="en-US" sz="1100" b="1" spc="200" kern="0" dirty="0">
                <a:solidFill>
                  <a:srgbClr val="EF4444"/>
                </a:solidFill>
                <a:latin typeface="Calibri" pitchFamily="34" charset="0"/>
                <a:ea typeface="Calibri" pitchFamily="34" charset="-122"/>
                <a:cs typeface="Calibri" pitchFamily="34" charset="-120"/>
              </a:rPr>
              <a:t>THE HIDDEN TRUTH · DEEP DIVE</a:t>
            </a:r>
            <a:endParaRPr lang="en-US" sz="1100" dirty="0"/>
          </a:p>
        </p:txBody>
      </p:sp>
      <p:sp>
        <p:nvSpPr>
          <p:cNvPr id="3" name="Text 1"/>
          <p:cNvSpPr txBox="1"/>
          <p:nvPr/>
        </p:nvSpPr>
        <p:spPr>
          <a:xfrm>
            <a:off x="548640" y="411480"/>
            <a:ext cx="11064240" cy="685800"/>
          </a:xfrm>
          <a:prstGeom prst="rect">
            <a:avLst/>
          </a:prstGeom>
          <a:noFill/>
          <a:ln/>
        </p:spPr>
        <p:txBody>
          <a:bodyPr wrap="square" lIns="0" tIns="0" rIns="0" bIns="0" rtlCol="0" anchor="ctr"/>
          <a:lstStyle/>
          <a:p>
            <a:pPr algn="l" indent="0" marL="0">
              <a:buNone/>
            </a:pPr>
            <a:r>
              <a:rPr lang="en-US" sz="3000" b="1" dirty="0">
                <a:solidFill>
                  <a:srgbClr val="FFFFFF"/>
                </a:solidFill>
                <a:latin typeface="Cambria" pitchFamily="34" charset="0"/>
                <a:ea typeface="Cambria" pitchFamily="34" charset="-122"/>
                <a:cs typeface="Cambria" pitchFamily="34" charset="-120"/>
              </a:rPr>
              <a:t>At Risk May Not Be a Marketing Problem At All</a:t>
            </a:r>
            <a:endParaRPr lang="en-US" sz="3000" dirty="0"/>
          </a:p>
        </p:txBody>
      </p:sp>
      <p:sp>
        <p:nvSpPr>
          <p:cNvPr id="4" name="Text 2"/>
          <p:cNvSpPr txBox="1"/>
          <p:nvPr/>
        </p:nvSpPr>
        <p:spPr>
          <a:xfrm>
            <a:off x="548640" y="1371600"/>
            <a:ext cx="10789920" cy="777240"/>
          </a:xfrm>
          <a:prstGeom prst="rect">
            <a:avLst/>
          </a:prstGeom>
          <a:noFill/>
          <a:ln/>
        </p:spPr>
        <p:txBody>
          <a:bodyPr wrap="square" lIns="0" tIns="0" rIns="0" bIns="0" rtlCol="0" anchor="ctr"/>
          <a:lstStyle/>
          <a:p>
            <a:pPr indent="0" marL="0">
              <a:buNone/>
            </a:pPr>
            <a:r>
              <a:rPr lang="en-US" sz="1300" dirty="0">
                <a:solidFill>
                  <a:srgbClr val="A8B8D0"/>
                </a:solidFill>
                <a:latin typeface="Calibri" pitchFamily="34" charset="0"/>
                <a:ea typeface="Calibri" pitchFamily="34" charset="-122"/>
                <a:cs typeface="Calibri" pitchFamily="34" charset="-120"/>
              </a:rPr>
              <a:t>A 99.47% cancellation rate is not typical "at risk" churn behavior. Churn looks like declining frequency and rising recency — this looks like payment failures, bot/fraud activity, or a checkout bug affecting this cohort specifically.</a:t>
            </a:r>
            <a:endParaRPr lang="en-US" sz="1300" dirty="0"/>
          </a:p>
        </p:txBody>
      </p:sp>
      <p:sp>
        <p:nvSpPr>
          <p:cNvPr id="5" name="Shape 3"/>
          <p:cNvSpPr/>
          <p:nvPr/>
        </p:nvSpPr>
        <p:spPr>
          <a:xfrm>
            <a:off x="548640" y="2423160"/>
            <a:ext cx="3566160" cy="3291840"/>
          </a:xfrm>
          <a:prstGeom prst="roundRect">
            <a:avLst>
              <a:gd name="adj" fmla="val 3889"/>
            </a:avLst>
          </a:prstGeom>
          <a:solidFill>
            <a:srgbClr val="111F38"/>
          </a:solidFill>
          <a:ln w="11430">
            <a:solidFill>
              <a:srgbClr val="EF4444"/>
            </a:solidFill>
            <a:prstDash val="solid"/>
          </a:ln>
        </p:spPr>
      </p:sp>
      <p:sp>
        <p:nvSpPr>
          <p:cNvPr id="6" name="Shape 4"/>
          <p:cNvSpPr/>
          <p:nvPr/>
        </p:nvSpPr>
        <p:spPr>
          <a:xfrm>
            <a:off x="822960" y="2697480"/>
            <a:ext cx="548640" cy="548640"/>
          </a:xfrm>
          <a:prstGeom prst="ellipse">
            <a:avLst/>
          </a:prstGeom>
          <a:solidFill>
            <a:srgbClr val="EF4444">
              <a:alpha val="18000"/>
            </a:srgbClr>
          </a:solidFill>
          <a:ln w="12700">
            <a:solidFill>
              <a:srgbClr val="EF4444"/>
            </a:solidFill>
            <a:prstDash val="solid"/>
          </a:ln>
        </p:spPr>
      </p:sp>
      <p:sp>
        <p:nvSpPr>
          <p:cNvPr id="7" name="Text 5"/>
          <p:cNvSpPr txBox="1"/>
          <p:nvPr/>
        </p:nvSpPr>
        <p:spPr>
          <a:xfrm>
            <a:off x="822960" y="2679192"/>
            <a:ext cx="548640" cy="548640"/>
          </a:xfrm>
          <a:prstGeom prst="rect">
            <a:avLst/>
          </a:prstGeom>
          <a:noFill/>
          <a:ln/>
        </p:spPr>
        <p:txBody>
          <a:bodyPr wrap="square" lIns="0" tIns="0" rIns="0" bIns="0" rtlCol="0" anchor="ctr"/>
          <a:lstStyle/>
          <a:p>
            <a:pPr algn="ctr" indent="0" marL="0">
              <a:buNone/>
            </a:pPr>
            <a:r>
              <a:rPr lang="en-US" sz="1560" dirty="0">
                <a:solidFill>
                  <a:srgbClr val="EF4444"/>
                </a:solidFill>
                <a:latin typeface="Calibri" pitchFamily="34" charset="0"/>
                <a:ea typeface="Calibri" pitchFamily="34" charset="-122"/>
                <a:cs typeface="Calibri" pitchFamily="34" charset="-120"/>
              </a:rPr>
              <a:t>🔍</a:t>
            </a:r>
            <a:endParaRPr lang="en-US" sz="1560" dirty="0"/>
          </a:p>
        </p:txBody>
      </p:sp>
      <p:sp>
        <p:nvSpPr>
          <p:cNvPr id="8" name="Text 6"/>
          <p:cNvSpPr txBox="1"/>
          <p:nvPr/>
        </p:nvSpPr>
        <p:spPr>
          <a:xfrm>
            <a:off x="822960" y="3429000"/>
            <a:ext cx="3017520" cy="777240"/>
          </a:xfrm>
          <a:prstGeom prst="rect">
            <a:avLst/>
          </a:prstGeom>
          <a:noFill/>
          <a:ln/>
        </p:spPr>
        <p:txBody>
          <a:bodyPr wrap="square" lIns="0" tIns="0" rIns="0" bIns="0" rtlCol="0" anchor="ctr"/>
          <a:lstStyle/>
          <a:p>
            <a:pPr indent="0" marL="0">
              <a:buNone/>
            </a:pPr>
            <a:r>
              <a:rPr lang="en-US" sz="1500" b="1" dirty="0">
                <a:solidFill>
                  <a:srgbClr val="FFFFFF"/>
                </a:solidFill>
                <a:latin typeface="Cambria" pitchFamily="34" charset="0"/>
                <a:ea typeface="Cambria" pitchFamily="34" charset="-122"/>
                <a:cs typeface="Cambria" pitchFamily="34" charset="-120"/>
              </a:rPr>
              <a:t>Audit payment gateway logs</a:t>
            </a:r>
            <a:endParaRPr lang="en-US" sz="1500" dirty="0"/>
          </a:p>
        </p:txBody>
      </p:sp>
      <p:sp>
        <p:nvSpPr>
          <p:cNvPr id="9" name="Text 7"/>
          <p:cNvSpPr txBox="1"/>
          <p:nvPr/>
        </p:nvSpPr>
        <p:spPr>
          <a:xfrm>
            <a:off x="822960" y="4160520"/>
            <a:ext cx="3017520" cy="1371600"/>
          </a:xfrm>
          <a:prstGeom prst="rect">
            <a:avLst/>
          </a:prstGeom>
          <a:noFill/>
          <a:ln/>
        </p:spPr>
        <p:txBody>
          <a:bodyPr wrap="square" lIns="0" tIns="0" rIns="0" bIns="0" rtlCol="0" anchor="ctr"/>
          <a:lstStyle/>
          <a:p>
            <a:pPr indent="0" marL="0">
              <a:buNone/>
            </a:pPr>
            <a:r>
              <a:rPr lang="en-US" sz="1150" dirty="0">
                <a:solidFill>
                  <a:srgbClr val="A8B8D0"/>
                </a:solidFill>
                <a:latin typeface="Calibri" pitchFamily="34" charset="0"/>
                <a:ea typeface="Calibri" pitchFamily="34" charset="-122"/>
                <a:cs typeface="Calibri" pitchFamily="34" charset="-120"/>
              </a:rPr>
              <a:t>Check this segment's transactions specifically for repeated authorization failures.</a:t>
            </a:r>
            <a:endParaRPr lang="en-US" sz="1150" dirty="0"/>
          </a:p>
        </p:txBody>
      </p:sp>
      <p:sp>
        <p:nvSpPr>
          <p:cNvPr id="10" name="Shape 8"/>
          <p:cNvSpPr/>
          <p:nvPr/>
        </p:nvSpPr>
        <p:spPr>
          <a:xfrm>
            <a:off x="4343400" y="2423160"/>
            <a:ext cx="3566160" cy="3291840"/>
          </a:xfrm>
          <a:prstGeom prst="roundRect">
            <a:avLst>
              <a:gd name="adj" fmla="val 3889"/>
            </a:avLst>
          </a:prstGeom>
          <a:solidFill>
            <a:srgbClr val="111F38"/>
          </a:solidFill>
          <a:ln w="11430">
            <a:solidFill>
              <a:srgbClr val="EF4444"/>
            </a:solidFill>
            <a:prstDash val="solid"/>
          </a:ln>
        </p:spPr>
      </p:sp>
      <p:sp>
        <p:nvSpPr>
          <p:cNvPr id="11" name="Shape 9"/>
          <p:cNvSpPr/>
          <p:nvPr/>
        </p:nvSpPr>
        <p:spPr>
          <a:xfrm>
            <a:off x="4617720" y="2697480"/>
            <a:ext cx="548640" cy="548640"/>
          </a:xfrm>
          <a:prstGeom prst="ellipse">
            <a:avLst/>
          </a:prstGeom>
          <a:solidFill>
            <a:srgbClr val="EF4444">
              <a:alpha val="18000"/>
            </a:srgbClr>
          </a:solidFill>
          <a:ln w="12700">
            <a:solidFill>
              <a:srgbClr val="EF4444"/>
            </a:solidFill>
            <a:prstDash val="solid"/>
          </a:ln>
        </p:spPr>
      </p:sp>
      <p:sp>
        <p:nvSpPr>
          <p:cNvPr id="12" name="Text 10"/>
          <p:cNvSpPr txBox="1"/>
          <p:nvPr/>
        </p:nvSpPr>
        <p:spPr>
          <a:xfrm>
            <a:off x="4617720" y="2679192"/>
            <a:ext cx="548640" cy="548640"/>
          </a:xfrm>
          <a:prstGeom prst="rect">
            <a:avLst/>
          </a:prstGeom>
          <a:noFill/>
          <a:ln/>
        </p:spPr>
        <p:txBody>
          <a:bodyPr wrap="square" lIns="0" tIns="0" rIns="0" bIns="0" rtlCol="0" anchor="ctr"/>
          <a:lstStyle/>
          <a:p>
            <a:pPr algn="ctr" indent="0" marL="0">
              <a:buNone/>
            </a:pPr>
            <a:r>
              <a:rPr lang="en-US" sz="1560" dirty="0">
                <a:solidFill>
                  <a:srgbClr val="EF4444"/>
                </a:solidFill>
                <a:latin typeface="Calibri" pitchFamily="34" charset="0"/>
                <a:ea typeface="Calibri" pitchFamily="34" charset="-122"/>
                <a:cs typeface="Calibri" pitchFamily="34" charset="-120"/>
              </a:rPr>
              <a:t>🕵️</a:t>
            </a:r>
            <a:endParaRPr lang="en-US" sz="1560" dirty="0"/>
          </a:p>
        </p:txBody>
      </p:sp>
      <p:sp>
        <p:nvSpPr>
          <p:cNvPr id="13" name="Text 11"/>
          <p:cNvSpPr txBox="1"/>
          <p:nvPr/>
        </p:nvSpPr>
        <p:spPr>
          <a:xfrm>
            <a:off x="4617720" y="3429000"/>
            <a:ext cx="3017520" cy="777240"/>
          </a:xfrm>
          <a:prstGeom prst="rect">
            <a:avLst/>
          </a:prstGeom>
          <a:noFill/>
          <a:ln/>
        </p:spPr>
        <p:txBody>
          <a:bodyPr wrap="square" lIns="0" tIns="0" rIns="0" bIns="0" rtlCol="0" anchor="ctr"/>
          <a:lstStyle/>
          <a:p>
            <a:pPr indent="0" marL="0">
              <a:buNone/>
            </a:pPr>
            <a:r>
              <a:rPr lang="en-US" sz="1500" b="1" dirty="0">
                <a:solidFill>
                  <a:srgbClr val="FFFFFF"/>
                </a:solidFill>
                <a:latin typeface="Cambria" pitchFamily="34" charset="0"/>
                <a:ea typeface="Cambria" pitchFamily="34" charset="-122"/>
                <a:cs typeface="Cambria" pitchFamily="34" charset="-120"/>
              </a:rPr>
              <a:t>Check for fraud signals</a:t>
            </a:r>
            <a:endParaRPr lang="en-US" sz="1500" dirty="0"/>
          </a:p>
        </p:txBody>
      </p:sp>
      <p:sp>
        <p:nvSpPr>
          <p:cNvPr id="14" name="Text 12"/>
          <p:cNvSpPr txBox="1"/>
          <p:nvPr/>
        </p:nvSpPr>
        <p:spPr>
          <a:xfrm>
            <a:off x="4617720" y="4160520"/>
            <a:ext cx="3017520" cy="1371600"/>
          </a:xfrm>
          <a:prstGeom prst="rect">
            <a:avLst/>
          </a:prstGeom>
          <a:noFill/>
          <a:ln/>
        </p:spPr>
        <p:txBody>
          <a:bodyPr wrap="square" lIns="0" tIns="0" rIns="0" bIns="0" rtlCol="0" anchor="ctr"/>
          <a:lstStyle/>
          <a:p>
            <a:pPr indent="0" marL="0">
              <a:buNone/>
            </a:pPr>
            <a:r>
              <a:rPr lang="en-US" sz="1150" dirty="0">
                <a:solidFill>
                  <a:srgbClr val="A8B8D0"/>
                </a:solidFill>
                <a:latin typeface="Calibri" pitchFamily="34" charset="0"/>
                <a:ea typeface="Calibri" pitchFamily="34" charset="-122"/>
                <a:cs typeface="Calibri" pitchFamily="34" charset="-120"/>
              </a:rPr>
              <a:t>Shared IP addresses or device fingerprints across the 63 accounts would confirm bot/fraud activity.</a:t>
            </a:r>
            <a:endParaRPr lang="en-US" sz="1150" dirty="0"/>
          </a:p>
        </p:txBody>
      </p:sp>
      <p:sp>
        <p:nvSpPr>
          <p:cNvPr id="15" name="Shape 13"/>
          <p:cNvSpPr/>
          <p:nvPr/>
        </p:nvSpPr>
        <p:spPr>
          <a:xfrm>
            <a:off x="8138160" y="2423160"/>
            <a:ext cx="3566160" cy="3291840"/>
          </a:xfrm>
          <a:prstGeom prst="roundRect">
            <a:avLst>
              <a:gd name="adj" fmla="val 3889"/>
            </a:avLst>
          </a:prstGeom>
          <a:solidFill>
            <a:srgbClr val="111F38"/>
          </a:solidFill>
          <a:ln w="11430">
            <a:solidFill>
              <a:srgbClr val="EF4444"/>
            </a:solidFill>
            <a:prstDash val="solid"/>
          </a:ln>
        </p:spPr>
      </p:sp>
      <p:sp>
        <p:nvSpPr>
          <p:cNvPr id="16" name="Shape 14"/>
          <p:cNvSpPr/>
          <p:nvPr/>
        </p:nvSpPr>
        <p:spPr>
          <a:xfrm>
            <a:off x="8412480" y="2697480"/>
            <a:ext cx="548640" cy="548640"/>
          </a:xfrm>
          <a:prstGeom prst="ellipse">
            <a:avLst/>
          </a:prstGeom>
          <a:solidFill>
            <a:srgbClr val="EF4444">
              <a:alpha val="18000"/>
            </a:srgbClr>
          </a:solidFill>
          <a:ln w="12700">
            <a:solidFill>
              <a:srgbClr val="EF4444"/>
            </a:solidFill>
            <a:prstDash val="solid"/>
          </a:ln>
        </p:spPr>
      </p:sp>
      <p:sp>
        <p:nvSpPr>
          <p:cNvPr id="17" name="Text 15"/>
          <p:cNvSpPr txBox="1"/>
          <p:nvPr/>
        </p:nvSpPr>
        <p:spPr>
          <a:xfrm>
            <a:off x="8412480" y="2679192"/>
            <a:ext cx="548640" cy="548640"/>
          </a:xfrm>
          <a:prstGeom prst="rect">
            <a:avLst/>
          </a:prstGeom>
          <a:noFill/>
          <a:ln/>
        </p:spPr>
        <p:txBody>
          <a:bodyPr wrap="square" lIns="0" tIns="0" rIns="0" bIns="0" rtlCol="0" anchor="ctr"/>
          <a:lstStyle/>
          <a:p>
            <a:pPr algn="ctr" indent="0" marL="0">
              <a:buNone/>
            </a:pPr>
            <a:r>
              <a:rPr lang="en-US" sz="1560" dirty="0">
                <a:solidFill>
                  <a:srgbClr val="EF4444"/>
                </a:solidFill>
                <a:latin typeface="Calibri" pitchFamily="34" charset="0"/>
                <a:ea typeface="Calibri" pitchFamily="34" charset="-122"/>
                <a:cs typeface="Calibri" pitchFamily="34" charset="-120"/>
              </a:rPr>
              <a:t>🚫</a:t>
            </a:r>
            <a:endParaRPr lang="en-US" sz="1560" dirty="0"/>
          </a:p>
        </p:txBody>
      </p:sp>
      <p:sp>
        <p:nvSpPr>
          <p:cNvPr id="18" name="Text 16"/>
          <p:cNvSpPr txBox="1"/>
          <p:nvPr/>
        </p:nvSpPr>
        <p:spPr>
          <a:xfrm>
            <a:off x="8412480" y="3429000"/>
            <a:ext cx="3017520" cy="777240"/>
          </a:xfrm>
          <a:prstGeom prst="rect">
            <a:avLst/>
          </a:prstGeom>
          <a:noFill/>
          <a:ln/>
        </p:spPr>
        <p:txBody>
          <a:bodyPr wrap="square" lIns="0" tIns="0" rIns="0" bIns="0" rtlCol="0" anchor="ctr"/>
          <a:lstStyle/>
          <a:p>
            <a:pPr indent="0" marL="0">
              <a:buNone/>
            </a:pPr>
            <a:r>
              <a:rPr lang="en-US" sz="1500" b="1" dirty="0">
                <a:solidFill>
                  <a:srgbClr val="FFFFFF"/>
                </a:solidFill>
                <a:latin typeface="Cambria" pitchFamily="34" charset="0"/>
                <a:ea typeface="Cambria" pitchFamily="34" charset="-122"/>
                <a:cs typeface="Cambria" pitchFamily="34" charset="-120"/>
              </a:rPr>
              <a:t>Exclude from retention campaigns</a:t>
            </a:r>
            <a:endParaRPr lang="en-US" sz="1500" dirty="0"/>
          </a:p>
        </p:txBody>
      </p:sp>
      <p:sp>
        <p:nvSpPr>
          <p:cNvPr id="19" name="Text 17"/>
          <p:cNvSpPr txBox="1"/>
          <p:nvPr/>
        </p:nvSpPr>
        <p:spPr>
          <a:xfrm>
            <a:off x="8412480" y="4160520"/>
            <a:ext cx="3017520" cy="1371600"/>
          </a:xfrm>
          <a:prstGeom prst="rect">
            <a:avLst/>
          </a:prstGeom>
          <a:noFill/>
          <a:ln/>
        </p:spPr>
        <p:txBody>
          <a:bodyPr wrap="square" lIns="0" tIns="0" rIns="0" bIns="0" rtlCol="0" anchor="ctr"/>
          <a:lstStyle/>
          <a:p>
            <a:pPr indent="0" marL="0">
              <a:buNone/>
            </a:pPr>
            <a:r>
              <a:rPr lang="en-US" sz="1150" dirty="0">
                <a:solidFill>
                  <a:srgbClr val="A8B8D0"/>
                </a:solidFill>
                <a:latin typeface="Calibri" pitchFamily="34" charset="0"/>
                <a:ea typeface="Calibri" pitchFamily="34" charset="-122"/>
                <a:cs typeface="Calibri" pitchFamily="34" charset="-120"/>
              </a:rPr>
              <a:t>Don't spend win-back budget on this group until the root cause is identified — it won't convert.</a:t>
            </a:r>
            <a:endParaRPr lang="en-US" sz="1150" dirty="0"/>
          </a:p>
        </p:txBody>
      </p:sp>
      <p:sp>
        <p:nvSpPr>
          <p:cNvPr id="20" name="Text 18"/>
          <p:cNvSpPr/>
          <p:nvPr/>
        </p:nvSpPr>
        <p:spPr>
          <a:xfrm>
            <a:off x="457200" y="6528816"/>
            <a:ext cx="7315200" cy="274320"/>
          </a:xfrm>
          <a:prstGeom prst="rect">
            <a:avLst/>
          </a:prstGeom>
          <a:noFill/>
          <a:ln/>
        </p:spPr>
        <p:txBody>
          <a:bodyPr wrap="square" lIns="0" tIns="0" rIns="0" bIns="0" rtlCol="0" anchor="ctr"/>
          <a:lstStyle/>
          <a:p>
            <a:pPr algn="l" indent="0" marL="0">
              <a:buNone/>
            </a:pPr>
            <a:r>
              <a:rPr lang="en-US" sz="900" dirty="0">
                <a:solidFill>
                  <a:srgbClr val="72859E"/>
                </a:solidFill>
                <a:latin typeface="Calibri" pitchFamily="34" charset="0"/>
                <a:ea typeface="Calibri" pitchFamily="34" charset="-122"/>
                <a:cs typeface="Calibri" pitchFamily="34" charset="-120"/>
              </a:rPr>
              <a:t>Online Retail Business · Customer Segmentation</a:t>
            </a:r>
            <a:endParaRPr lang="en-US" sz="900" dirty="0"/>
          </a:p>
        </p:txBody>
      </p:sp>
      <p:sp>
        <p:nvSpPr>
          <p:cNvPr id="21" name="Text 19"/>
          <p:cNvSpPr/>
          <p:nvPr/>
        </p:nvSpPr>
        <p:spPr>
          <a:xfrm>
            <a:off x="11000232" y="6528816"/>
            <a:ext cx="731520" cy="274320"/>
          </a:xfrm>
          <a:prstGeom prst="rect">
            <a:avLst/>
          </a:prstGeom>
          <a:noFill/>
          <a:ln/>
        </p:spPr>
        <p:txBody>
          <a:bodyPr wrap="square" lIns="0" tIns="0" rIns="0" bIns="0" rtlCol="0" anchor="ctr"/>
          <a:lstStyle/>
          <a:p>
            <a:pPr algn="r" indent="0" marL="0">
              <a:buNone/>
            </a:pPr>
            <a:r>
              <a:rPr lang="en-US" sz="900" dirty="0">
                <a:solidFill>
                  <a:srgbClr val="72859E"/>
                </a:solidFill>
                <a:latin typeface="Calibri" pitchFamily="34" charset="0"/>
                <a:ea typeface="Calibri" pitchFamily="34" charset="-122"/>
                <a:cs typeface="Calibri" pitchFamily="34" charset="-120"/>
              </a:rPr>
              <a:t>11 / 18</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0B1220"/>
        </a:solidFill>
      </p:bgPr>
    </p:bg>
    <p:spTree>
      <p:nvGrpSpPr>
        <p:cNvPr id="1" name=""/>
        <p:cNvGrpSpPr/>
        <p:nvPr/>
      </p:nvGrpSpPr>
      <p:grpSpPr>
        <a:xfrm>
          <a:off x="0" y="0"/>
          <a:ext cx="0" cy="0"/>
          <a:chOff x="0" y="0"/>
          <a:chExt cx="0" cy="0"/>
        </a:xfrm>
      </p:grpSpPr>
      <p:sp>
        <p:nvSpPr>
          <p:cNvPr id="2" name="Text 0"/>
          <p:cNvSpPr txBox="1"/>
          <p:nvPr/>
        </p:nvSpPr>
        <p:spPr>
          <a:xfrm>
            <a:off x="548640" y="201168"/>
            <a:ext cx="7315200" cy="274320"/>
          </a:xfrm>
          <a:prstGeom prst="rect">
            <a:avLst/>
          </a:prstGeom>
          <a:noFill/>
          <a:ln/>
        </p:spPr>
        <p:txBody>
          <a:bodyPr wrap="square" lIns="0" tIns="0" rIns="0" bIns="0" rtlCol="0" anchor="ctr"/>
          <a:lstStyle/>
          <a:p>
            <a:pPr algn="l" indent="0" marL="0">
              <a:buNone/>
            </a:pPr>
            <a:r>
              <a:rPr lang="en-US" sz="1100" b="1" spc="200" kern="0" dirty="0">
                <a:solidFill>
                  <a:srgbClr val="14B8A6"/>
                </a:solidFill>
                <a:latin typeface="Calibri" pitchFamily="34" charset="0"/>
                <a:ea typeface="Calibri" pitchFamily="34" charset="-122"/>
                <a:cs typeface="Calibri" pitchFamily="34" charset="-120"/>
              </a:rPr>
              <a:t>THE GROWTH GAP</a:t>
            </a:r>
            <a:endParaRPr lang="en-US" sz="1100" dirty="0"/>
          </a:p>
        </p:txBody>
      </p:sp>
      <p:sp>
        <p:nvSpPr>
          <p:cNvPr id="3" name="Text 1"/>
          <p:cNvSpPr txBox="1"/>
          <p:nvPr/>
        </p:nvSpPr>
        <p:spPr>
          <a:xfrm>
            <a:off x="548640" y="411480"/>
            <a:ext cx="11064240" cy="685800"/>
          </a:xfrm>
          <a:prstGeom prst="rect">
            <a:avLst/>
          </a:prstGeom>
          <a:noFill/>
          <a:ln/>
        </p:spPr>
        <p:txBody>
          <a:bodyPr wrap="square" lIns="0" tIns="0" rIns="0" bIns="0" rtlCol="0" anchor="ctr"/>
          <a:lstStyle/>
          <a:p>
            <a:pPr algn="l" indent="0" marL="0">
              <a:buNone/>
            </a:pPr>
            <a:r>
              <a:rPr lang="en-US" sz="3000" b="1" dirty="0">
                <a:solidFill>
                  <a:srgbClr val="FFFFFF"/>
                </a:solidFill>
                <a:latin typeface="Cambria" pitchFamily="34" charset="0"/>
                <a:ea typeface="Cambria" pitchFamily="34" charset="-122"/>
                <a:cs typeface="Cambria" pitchFamily="34" charset="-120"/>
              </a:rPr>
              <a:t>Turning Regular Into High Value</a:t>
            </a:r>
            <a:endParaRPr lang="en-US" sz="3000" dirty="0"/>
          </a:p>
        </p:txBody>
      </p:sp>
      <p:sp>
        <p:nvSpPr>
          <p:cNvPr id="4" name="Text 2"/>
          <p:cNvSpPr txBox="1"/>
          <p:nvPr/>
        </p:nvSpPr>
        <p:spPr>
          <a:xfrm>
            <a:off x="548640" y="1325880"/>
            <a:ext cx="10789920" cy="640080"/>
          </a:xfrm>
          <a:prstGeom prst="rect">
            <a:avLst/>
          </a:prstGeom>
          <a:noFill/>
          <a:ln/>
        </p:spPr>
        <p:txBody>
          <a:bodyPr wrap="square" lIns="0" tIns="0" rIns="0" bIns="0" rtlCol="0" anchor="ctr"/>
          <a:lstStyle/>
          <a:p>
            <a:pPr indent="0" marL="0">
              <a:buNone/>
            </a:pPr>
            <a:r>
              <a:rPr lang="en-US" sz="1300" dirty="0">
                <a:solidFill>
                  <a:srgbClr val="A8B8D0"/>
                </a:solidFill>
                <a:latin typeface="Calibri" pitchFamily="34" charset="0"/>
                <a:ea typeface="Calibri" pitchFamily="34" charset="-122"/>
                <a:cs typeface="Calibri" pitchFamily="34" charset="-120"/>
              </a:rPr>
              <a:t>High Value customers buy 2.8x more often, spend 3.3x more, and engage with 60% more unique products than Regular customers. Closing even a slice of that gap compounds fast across 619 people.</a:t>
            </a:r>
            <a:endParaRPr lang="en-US" sz="1300" dirty="0"/>
          </a:p>
        </p:txBody>
      </p:sp>
      <p:graphicFrame>
        <p:nvGraphicFramePr>
          <p:cNvPr id="5" name="Chart 0" descr=""/>
          <p:cNvGraphicFramePr/>
          <p:nvPr/>
        </p:nvGraphicFramePr>
        <p:xfrm>
          <a:off x="548640" y="2148840"/>
          <a:ext cx="6766560" cy="3886200"/>
        </p:xfrm>
        <a:graphic xmlns:a="http://schemas.openxmlformats.org/drawingml/2006/main">
          <a:graphicData uri="http://schemas.openxmlformats.org/drawingml/2006/chart">
            <c:chart xmlns:c="http://schemas.openxmlformats.org/drawingml/2006/chart" r:id="rId1"/>
          </a:graphicData>
        </a:graphic>
      </p:graphicFrame>
      <p:sp>
        <p:nvSpPr>
          <p:cNvPr id="6" name="Shape 3"/>
          <p:cNvSpPr/>
          <p:nvPr/>
        </p:nvSpPr>
        <p:spPr>
          <a:xfrm>
            <a:off x="7589520" y="2148840"/>
            <a:ext cx="4023360" cy="1737360"/>
          </a:xfrm>
          <a:prstGeom prst="roundRect">
            <a:avLst>
              <a:gd name="adj" fmla="val 7368"/>
            </a:avLst>
          </a:prstGeom>
          <a:solidFill>
            <a:srgbClr val="0F1B30"/>
          </a:solidFill>
          <a:ln w="15875">
            <a:solidFill>
              <a:srgbClr val="14B8A6"/>
            </a:solidFill>
            <a:prstDash val="solid"/>
          </a:ln>
        </p:spPr>
      </p:sp>
      <p:sp>
        <p:nvSpPr>
          <p:cNvPr id="7" name="Text 4"/>
          <p:cNvSpPr txBox="1"/>
          <p:nvPr/>
        </p:nvSpPr>
        <p:spPr>
          <a:xfrm>
            <a:off x="7772400" y="2267712"/>
            <a:ext cx="3657600" cy="731520"/>
          </a:xfrm>
          <a:prstGeom prst="rect">
            <a:avLst/>
          </a:prstGeom>
          <a:noFill/>
          <a:ln/>
        </p:spPr>
        <p:txBody>
          <a:bodyPr wrap="square" lIns="0" tIns="0" rIns="0" bIns="0" rtlCol="0" anchor="ctr"/>
          <a:lstStyle/>
          <a:p>
            <a:pPr indent="0" marL="0">
              <a:buNone/>
            </a:pPr>
            <a:r>
              <a:rPr lang="en-US" sz="3600" b="1" dirty="0">
                <a:solidFill>
                  <a:srgbClr val="14B8A6"/>
                </a:solidFill>
                <a:latin typeface="Cambria" pitchFamily="34" charset="0"/>
                <a:ea typeface="Cambria" pitchFamily="34" charset="-122"/>
                <a:cs typeface="Cambria" pitchFamily="34" charset="-120"/>
              </a:rPr>
              <a:t>$886</a:t>
            </a:r>
            <a:endParaRPr lang="en-US" sz="3600" dirty="0"/>
          </a:p>
        </p:txBody>
      </p:sp>
      <p:sp>
        <p:nvSpPr>
          <p:cNvPr id="8" name="Text 5"/>
          <p:cNvSpPr txBox="1"/>
          <p:nvPr/>
        </p:nvSpPr>
        <p:spPr>
          <a:xfrm>
            <a:off x="7772400" y="2971800"/>
            <a:ext cx="3657600" cy="822960"/>
          </a:xfrm>
          <a:prstGeom prst="rect">
            <a:avLst/>
          </a:prstGeom>
          <a:noFill/>
          <a:ln/>
        </p:spPr>
        <p:txBody>
          <a:bodyPr wrap="square" lIns="0" tIns="0" rIns="0" bIns="0" rtlCol="0" anchor="ctr"/>
          <a:lstStyle/>
          <a:p>
            <a:pPr indent="0" marL="0">
              <a:buNone/>
            </a:pPr>
            <a:r>
              <a:rPr lang="en-US" sz="1150" dirty="0">
                <a:solidFill>
                  <a:srgbClr val="A8B8D0"/>
                </a:solidFill>
                <a:latin typeface="Calibri" pitchFamily="34" charset="0"/>
                <a:ea typeface="Calibri" pitchFamily="34" charset="-122"/>
                <a:cs typeface="Calibri" pitchFamily="34" charset="-120"/>
              </a:rPr>
              <a:t>average monetary gap per customer (High Value − Regular)</a:t>
            </a:r>
            <a:endParaRPr lang="en-US" sz="1150" dirty="0"/>
          </a:p>
        </p:txBody>
      </p:sp>
      <p:sp>
        <p:nvSpPr>
          <p:cNvPr id="9" name="Shape 6"/>
          <p:cNvSpPr/>
          <p:nvPr/>
        </p:nvSpPr>
        <p:spPr>
          <a:xfrm>
            <a:off x="7589520" y="4069080"/>
            <a:ext cx="4023360" cy="1920240"/>
          </a:xfrm>
          <a:prstGeom prst="roundRect">
            <a:avLst>
              <a:gd name="adj" fmla="val 6667"/>
            </a:avLst>
          </a:prstGeom>
          <a:solidFill>
            <a:srgbClr val="111F38"/>
          </a:solidFill>
          <a:ln w="9525">
            <a:solidFill>
              <a:srgbClr val="24314E"/>
            </a:solidFill>
            <a:prstDash val="solid"/>
          </a:ln>
        </p:spPr>
      </p:sp>
      <p:sp>
        <p:nvSpPr>
          <p:cNvPr id="10" name="Text 7"/>
          <p:cNvSpPr txBox="1"/>
          <p:nvPr/>
        </p:nvSpPr>
        <p:spPr>
          <a:xfrm>
            <a:off x="7772400" y="4187952"/>
            <a:ext cx="3657600" cy="548640"/>
          </a:xfrm>
          <a:prstGeom prst="rect">
            <a:avLst/>
          </a:prstGeom>
          <a:noFill/>
          <a:ln/>
        </p:spPr>
        <p:txBody>
          <a:bodyPr wrap="square" lIns="0" tIns="0" rIns="0" bIns="0" rtlCol="0" anchor="ctr"/>
          <a:lstStyle/>
          <a:p>
            <a:pPr indent="0" marL="0">
              <a:buNone/>
            </a:pPr>
            <a:r>
              <a:rPr lang="en-US" sz="2400" b="1" dirty="0">
                <a:solidFill>
                  <a:srgbClr val="22C55E"/>
                </a:solidFill>
                <a:latin typeface="Cambria" pitchFamily="34" charset="0"/>
                <a:ea typeface="Cambria" pitchFamily="34" charset="-122"/>
                <a:cs typeface="Cambria" pitchFamily="34" charset="-120"/>
              </a:rPr>
              <a:t>+$54,800</a:t>
            </a:r>
            <a:endParaRPr lang="en-US" sz="2400" dirty="0"/>
          </a:p>
        </p:txBody>
      </p:sp>
      <p:sp>
        <p:nvSpPr>
          <p:cNvPr id="11" name="Text 8"/>
          <p:cNvSpPr txBox="1"/>
          <p:nvPr/>
        </p:nvSpPr>
        <p:spPr>
          <a:xfrm>
            <a:off x="7772400" y="4754880"/>
            <a:ext cx="3657600" cy="1143000"/>
          </a:xfrm>
          <a:prstGeom prst="rect">
            <a:avLst/>
          </a:prstGeom>
          <a:noFill/>
          <a:ln/>
        </p:spPr>
        <p:txBody>
          <a:bodyPr wrap="square" lIns="0" tIns="0" rIns="0" bIns="0" rtlCol="0" anchor="ctr"/>
          <a:lstStyle/>
          <a:p>
            <a:pPr indent="0" marL="0">
              <a:buNone/>
            </a:pPr>
            <a:r>
              <a:rPr lang="en-US" sz="1150" dirty="0">
                <a:solidFill>
                  <a:srgbClr val="A8B8D0"/>
                </a:solidFill>
                <a:latin typeface="Calibri" pitchFamily="34" charset="0"/>
                <a:ea typeface="Calibri" pitchFamily="34" charset="-122"/>
                <a:cs typeface="Calibri" pitchFamily="34" charset="-120"/>
              </a:rPr>
              <a:t>estimated revenue from closing just 10% of this gap across all 619 Regular customers — with zero new acquisition spend.</a:t>
            </a:r>
            <a:endParaRPr lang="en-US" sz="1150" dirty="0"/>
          </a:p>
        </p:txBody>
      </p:sp>
      <p:sp>
        <p:nvSpPr>
          <p:cNvPr id="12" name="Text 9"/>
          <p:cNvSpPr/>
          <p:nvPr/>
        </p:nvSpPr>
        <p:spPr>
          <a:xfrm>
            <a:off x="457200" y="6528816"/>
            <a:ext cx="7315200" cy="274320"/>
          </a:xfrm>
          <a:prstGeom prst="rect">
            <a:avLst/>
          </a:prstGeom>
          <a:noFill/>
          <a:ln/>
        </p:spPr>
        <p:txBody>
          <a:bodyPr wrap="square" lIns="0" tIns="0" rIns="0" bIns="0" rtlCol="0" anchor="ctr"/>
          <a:lstStyle/>
          <a:p>
            <a:pPr algn="l" indent="0" marL="0">
              <a:buNone/>
            </a:pPr>
            <a:r>
              <a:rPr lang="en-US" sz="900" dirty="0">
                <a:solidFill>
                  <a:srgbClr val="72859E"/>
                </a:solidFill>
                <a:latin typeface="Calibri" pitchFamily="34" charset="0"/>
                <a:ea typeface="Calibri" pitchFamily="34" charset="-122"/>
                <a:cs typeface="Calibri" pitchFamily="34" charset="-120"/>
              </a:rPr>
              <a:t>Online Retail Business · Customer Segmentation</a:t>
            </a:r>
            <a:endParaRPr lang="en-US" sz="900" dirty="0"/>
          </a:p>
        </p:txBody>
      </p:sp>
      <p:sp>
        <p:nvSpPr>
          <p:cNvPr id="13" name="Text 10"/>
          <p:cNvSpPr/>
          <p:nvPr/>
        </p:nvSpPr>
        <p:spPr>
          <a:xfrm>
            <a:off x="11000232" y="6528816"/>
            <a:ext cx="731520" cy="274320"/>
          </a:xfrm>
          <a:prstGeom prst="rect">
            <a:avLst/>
          </a:prstGeom>
          <a:noFill/>
          <a:ln/>
        </p:spPr>
        <p:txBody>
          <a:bodyPr wrap="square" lIns="0" tIns="0" rIns="0" bIns="0" rtlCol="0" anchor="ctr"/>
          <a:lstStyle/>
          <a:p>
            <a:pPr algn="r" indent="0" marL="0">
              <a:buNone/>
            </a:pPr>
            <a:r>
              <a:rPr lang="en-US" sz="900" dirty="0">
                <a:solidFill>
                  <a:srgbClr val="72859E"/>
                </a:solidFill>
                <a:latin typeface="Calibri" pitchFamily="34" charset="0"/>
                <a:ea typeface="Calibri" pitchFamily="34" charset="-122"/>
                <a:cs typeface="Calibri" pitchFamily="34" charset="-120"/>
              </a:rPr>
              <a:t>12 / 18</a:t>
            </a:r>
            <a:endParaRPr lang="en-US" sz="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0B1220"/>
        </a:solidFill>
      </p:bgPr>
    </p:bg>
    <p:spTree>
      <p:nvGrpSpPr>
        <p:cNvPr id="1" name=""/>
        <p:cNvGrpSpPr/>
        <p:nvPr/>
      </p:nvGrpSpPr>
      <p:grpSpPr>
        <a:xfrm>
          <a:off x="0" y="0"/>
          <a:ext cx="0" cy="0"/>
          <a:chOff x="0" y="0"/>
          <a:chExt cx="0" cy="0"/>
        </a:xfrm>
      </p:grpSpPr>
      <p:sp>
        <p:nvSpPr>
          <p:cNvPr id="2" name="Text 0"/>
          <p:cNvSpPr txBox="1"/>
          <p:nvPr/>
        </p:nvSpPr>
        <p:spPr>
          <a:xfrm>
            <a:off x="548640" y="201168"/>
            <a:ext cx="7315200" cy="274320"/>
          </a:xfrm>
          <a:prstGeom prst="rect">
            <a:avLst/>
          </a:prstGeom>
          <a:noFill/>
          <a:ln/>
        </p:spPr>
        <p:txBody>
          <a:bodyPr wrap="square" lIns="0" tIns="0" rIns="0" bIns="0" rtlCol="0" anchor="ctr"/>
          <a:lstStyle/>
          <a:p>
            <a:pPr algn="l" indent="0" marL="0">
              <a:buNone/>
            </a:pPr>
            <a:r>
              <a:rPr lang="en-US" sz="1100" b="1" spc="200" kern="0" dirty="0">
                <a:solidFill>
                  <a:srgbClr val="F0B429"/>
                </a:solidFill>
                <a:latin typeface="Calibri" pitchFamily="34" charset="0"/>
                <a:ea typeface="Calibri" pitchFamily="34" charset="-122"/>
                <a:cs typeface="Calibri" pitchFamily="34" charset="-120"/>
              </a:rPr>
              <a:t>BUSINESS ANALYSIS</a:t>
            </a:r>
            <a:endParaRPr lang="en-US" sz="1100" dirty="0"/>
          </a:p>
        </p:txBody>
      </p:sp>
      <p:sp>
        <p:nvSpPr>
          <p:cNvPr id="3" name="Text 1"/>
          <p:cNvSpPr txBox="1"/>
          <p:nvPr/>
        </p:nvSpPr>
        <p:spPr>
          <a:xfrm>
            <a:off x="548640" y="411480"/>
            <a:ext cx="11064240" cy="685800"/>
          </a:xfrm>
          <a:prstGeom prst="rect">
            <a:avLst/>
          </a:prstGeom>
          <a:noFill/>
          <a:ln/>
        </p:spPr>
        <p:txBody>
          <a:bodyPr wrap="square" lIns="0" tIns="0" rIns="0" bIns="0" rtlCol="0" anchor="ctr"/>
          <a:lstStyle/>
          <a:p>
            <a:pPr algn="l" indent="0" marL="0">
              <a:buNone/>
            </a:pPr>
            <a:r>
              <a:rPr lang="en-US" sz="3000" b="1" dirty="0">
                <a:solidFill>
                  <a:srgbClr val="FFFFFF"/>
                </a:solidFill>
                <a:latin typeface="Cambria" pitchFamily="34" charset="0"/>
                <a:ea typeface="Cambria" pitchFamily="34" charset="-122"/>
                <a:cs typeface="Cambria" pitchFamily="34" charset="-120"/>
              </a:rPr>
              <a:t>Problems, Root Causes &amp; Solutions</a:t>
            </a:r>
            <a:endParaRPr lang="en-US" sz="3000" dirty="0"/>
          </a:p>
        </p:txBody>
      </p:sp>
      <p:sp>
        <p:nvSpPr>
          <p:cNvPr id="4" name="Text 2"/>
          <p:cNvSpPr txBox="1"/>
          <p:nvPr/>
        </p:nvSpPr>
        <p:spPr>
          <a:xfrm>
            <a:off x="548640" y="1298448"/>
            <a:ext cx="10789920" cy="365760"/>
          </a:xfrm>
          <a:prstGeom prst="rect">
            <a:avLst/>
          </a:prstGeom>
          <a:noFill/>
          <a:ln/>
        </p:spPr>
        <p:txBody>
          <a:bodyPr wrap="square" lIns="0" tIns="0" rIns="0" bIns="0" rtlCol="0" anchor="ctr"/>
          <a:lstStyle/>
          <a:p>
            <a:pPr indent="0" marL="0">
              <a:buNone/>
            </a:pPr>
            <a:r>
              <a:rPr lang="en-US" sz="1250" dirty="0">
                <a:solidFill>
                  <a:srgbClr val="A8B8D0"/>
                </a:solidFill>
                <a:latin typeface="Calibri" pitchFamily="34" charset="0"/>
                <a:ea typeface="Calibri" pitchFamily="34" charset="-122"/>
                <a:cs typeface="Calibri" pitchFamily="34" charset="-120"/>
              </a:rPr>
              <a:t>Turning the findings above into a structured business-analyst view before we get to the roadmap.</a:t>
            </a:r>
            <a:endParaRPr lang="en-US" sz="1250" dirty="0"/>
          </a:p>
        </p:txBody>
      </p:sp>
      <p:graphicFrame>
        <p:nvGraphicFramePr>
          <p:cNvPr id="14" name="Table 0"/>
          <p:cNvGraphicFramePr>
            <a:graphicFrameLocks noGrp="1"/>
          </p:cNvGraphicFramePr>
          <p:nvPr>
            <p:extLst>
              <p:ext uri="{D42A27DB-BD31-4B8C-83A1-F6EECF244321}">
                <p14:modId xmlns:p14="http://schemas.microsoft.com/office/powerpoint/2010/main" val="1579011935"/>
              </p:ext>
            </p:extLst>
          </p:nvPr>
        </p:nvGraphicFramePr>
        <p:xfrm>
          <a:off x="548640" y="1828800"/>
          <a:ext cx="11064240" cy="4480560"/>
        </p:xfrm>
        <a:graphic>
          <a:graphicData uri="http://schemas.openxmlformats.org/drawingml/2006/table">
            <a:tbl>
              <a:tblPr/>
              <a:tblGrid>
                <a:gridCol w="2834640"/>
                <a:gridCol w="2834640"/>
                <a:gridCol w="2834640"/>
                <a:gridCol w="2560320"/>
              </a:tblGrid>
              <a:tr h="896112">
                <a:tc>
                  <a:txBody>
                    <a:bodyPr/>
                    <a:lstStyle/>
                    <a:p>
                      <a:pPr indent="0" marL="0">
                        <a:buNone/>
                      </a:pPr>
                      <a:r>
                        <a:rPr lang="en-US" sz="970" b="1" dirty="0">
                          <a:solidFill>
                            <a:srgbClr val="72859E"/>
                          </a:solidFill>
                          <a:latin typeface="Calibri" pitchFamily="34" charset="0"/>
                          <a:ea typeface="Calibri" pitchFamily="34" charset="-122"/>
                          <a:cs typeface="Calibri" pitchFamily="34" charset="-120"/>
                        </a:rPr>
                        <a:t>Problem</a:t>
                      </a:r>
                      <a:endParaRPr lang="en-US" sz="970" dirty="0">
                        <a:latin typeface="Calibri" charset="0"/>
                        <a:ea typeface="Calibri" charset="0"/>
                        <a:cs typeface="Calibri" charset="0"/>
                      </a:endParaRPr>
                    </a:p>
                  </a:txBody>
                  <a:tcPr marL="91440" marR="91440" marT="45720" marB="45720" anchor="ctr">
                    <a:lnL w="9525" cap="flat" cmpd="sng" algn="ctr">
                      <a:solidFill>
                        <a:srgbClr val="24314E"/>
                      </a:solidFill>
                      <a:prstDash val="solid"/>
                      <a:round/>
                      <a:headEnd type="none" w="med" len="med"/>
                      <a:tailEnd type="none" w="med" len="med"/>
                    </a:lnL>
                    <a:lnR w="9525" cap="flat" cmpd="sng" algn="ctr">
                      <a:solidFill>
                        <a:srgbClr val="24314E"/>
                      </a:solidFill>
                      <a:prstDash val="solid"/>
                      <a:round/>
                      <a:headEnd type="none" w="med" len="med"/>
                      <a:tailEnd type="none" w="med" len="med"/>
                    </a:lnR>
                    <a:lnT w="9525" cap="flat" cmpd="sng" algn="ctr">
                      <a:solidFill>
                        <a:srgbClr val="24314E"/>
                      </a:solidFill>
                      <a:prstDash val="solid"/>
                      <a:round/>
                      <a:headEnd type="none" w="med" len="med"/>
                      <a:tailEnd type="none" w="med" len="med"/>
                    </a:lnT>
                    <a:lnB w="9525" cap="flat" cmpd="sng" algn="ctr">
                      <a:solidFill>
                        <a:srgbClr val="24314E"/>
                      </a:solidFill>
                      <a:prstDash val="solid"/>
                      <a:round/>
                      <a:headEnd type="none" w="med" len="med"/>
                      <a:tailEnd type="none" w="med" len="med"/>
                    </a:lnB>
                    <a:solidFill>
                      <a:srgbClr val="111F38"/>
                    </a:solidFill>
                  </a:tcPr>
                </a:tc>
                <a:tc>
                  <a:txBody>
                    <a:bodyPr/>
                    <a:lstStyle/>
                    <a:p>
                      <a:pPr indent="0" marL="0">
                        <a:buNone/>
                      </a:pPr>
                      <a:r>
                        <a:rPr lang="en-US" sz="970" b="1" dirty="0">
                          <a:solidFill>
                            <a:srgbClr val="72859E"/>
                          </a:solidFill>
                          <a:latin typeface="Calibri" pitchFamily="34" charset="0"/>
                          <a:ea typeface="Calibri" pitchFamily="34" charset="-122"/>
                          <a:cs typeface="Calibri" pitchFamily="34" charset="-120"/>
                        </a:rPr>
                        <a:t>Business Impact</a:t>
                      </a:r>
                      <a:endParaRPr lang="en-US" sz="970" dirty="0">
                        <a:latin typeface="Calibri" charset="0"/>
                        <a:ea typeface="Calibri" charset="0"/>
                        <a:cs typeface="Calibri" charset="0"/>
                      </a:endParaRPr>
                    </a:p>
                  </a:txBody>
                  <a:tcPr marL="91440" marR="91440" marT="45720" marB="45720" anchor="ctr">
                    <a:lnL w="9525" cap="flat" cmpd="sng" algn="ctr">
                      <a:solidFill>
                        <a:srgbClr val="24314E"/>
                      </a:solidFill>
                      <a:prstDash val="solid"/>
                      <a:round/>
                      <a:headEnd type="none" w="med" len="med"/>
                      <a:tailEnd type="none" w="med" len="med"/>
                    </a:lnL>
                    <a:lnR w="9525" cap="flat" cmpd="sng" algn="ctr">
                      <a:solidFill>
                        <a:srgbClr val="24314E"/>
                      </a:solidFill>
                      <a:prstDash val="solid"/>
                      <a:round/>
                      <a:headEnd type="none" w="med" len="med"/>
                      <a:tailEnd type="none" w="med" len="med"/>
                    </a:lnR>
                    <a:lnT w="9525" cap="flat" cmpd="sng" algn="ctr">
                      <a:solidFill>
                        <a:srgbClr val="24314E"/>
                      </a:solidFill>
                      <a:prstDash val="solid"/>
                      <a:round/>
                      <a:headEnd type="none" w="med" len="med"/>
                      <a:tailEnd type="none" w="med" len="med"/>
                    </a:lnT>
                    <a:lnB w="9525" cap="flat" cmpd="sng" algn="ctr">
                      <a:solidFill>
                        <a:srgbClr val="24314E"/>
                      </a:solidFill>
                      <a:prstDash val="solid"/>
                      <a:round/>
                      <a:headEnd type="none" w="med" len="med"/>
                      <a:tailEnd type="none" w="med" len="med"/>
                    </a:lnB>
                    <a:solidFill>
                      <a:srgbClr val="111F38"/>
                    </a:solidFill>
                  </a:tcPr>
                </a:tc>
                <a:tc>
                  <a:txBody>
                    <a:bodyPr/>
                    <a:lstStyle/>
                    <a:p>
                      <a:pPr indent="0" marL="0">
                        <a:buNone/>
                      </a:pPr>
                      <a:r>
                        <a:rPr lang="en-US" sz="970" b="1" dirty="0">
                          <a:solidFill>
                            <a:srgbClr val="72859E"/>
                          </a:solidFill>
                          <a:latin typeface="Calibri" pitchFamily="34" charset="0"/>
                          <a:ea typeface="Calibri" pitchFamily="34" charset="-122"/>
                          <a:cs typeface="Calibri" pitchFamily="34" charset="-120"/>
                        </a:rPr>
                        <a:t>Recommended Solution</a:t>
                      </a:r>
                      <a:endParaRPr lang="en-US" sz="970" dirty="0">
                        <a:latin typeface="Calibri" charset="0"/>
                        <a:ea typeface="Calibri" charset="0"/>
                        <a:cs typeface="Calibri" charset="0"/>
                      </a:endParaRPr>
                    </a:p>
                  </a:txBody>
                  <a:tcPr marL="91440" marR="91440" marT="45720" marB="45720" anchor="ctr">
                    <a:lnL w="9525" cap="flat" cmpd="sng" algn="ctr">
                      <a:solidFill>
                        <a:srgbClr val="24314E"/>
                      </a:solidFill>
                      <a:prstDash val="solid"/>
                      <a:round/>
                      <a:headEnd type="none" w="med" len="med"/>
                      <a:tailEnd type="none" w="med" len="med"/>
                    </a:lnL>
                    <a:lnR w="9525" cap="flat" cmpd="sng" algn="ctr">
                      <a:solidFill>
                        <a:srgbClr val="24314E"/>
                      </a:solidFill>
                      <a:prstDash val="solid"/>
                      <a:round/>
                      <a:headEnd type="none" w="med" len="med"/>
                      <a:tailEnd type="none" w="med" len="med"/>
                    </a:lnR>
                    <a:lnT w="9525" cap="flat" cmpd="sng" algn="ctr">
                      <a:solidFill>
                        <a:srgbClr val="24314E"/>
                      </a:solidFill>
                      <a:prstDash val="solid"/>
                      <a:round/>
                      <a:headEnd type="none" w="med" len="med"/>
                      <a:tailEnd type="none" w="med" len="med"/>
                    </a:lnT>
                    <a:lnB w="9525" cap="flat" cmpd="sng" algn="ctr">
                      <a:solidFill>
                        <a:srgbClr val="24314E"/>
                      </a:solidFill>
                      <a:prstDash val="solid"/>
                      <a:round/>
                      <a:headEnd type="none" w="med" len="med"/>
                      <a:tailEnd type="none" w="med" len="med"/>
                    </a:lnB>
                    <a:solidFill>
                      <a:srgbClr val="111F38"/>
                    </a:solidFill>
                  </a:tcPr>
                </a:tc>
                <a:tc>
                  <a:txBody>
                    <a:bodyPr/>
                    <a:lstStyle/>
                    <a:p>
                      <a:pPr indent="0" marL="0">
                        <a:buNone/>
                      </a:pPr>
                      <a:r>
                        <a:rPr lang="en-US" sz="970" b="1" dirty="0">
                          <a:solidFill>
                            <a:srgbClr val="72859E"/>
                          </a:solidFill>
                          <a:latin typeface="Calibri" pitchFamily="34" charset="0"/>
                          <a:ea typeface="Calibri" pitchFamily="34" charset="-122"/>
                          <a:cs typeface="Calibri" pitchFamily="34" charset="-120"/>
                        </a:rPr>
                        <a:t>Expected Outcome</a:t>
                      </a:r>
                      <a:endParaRPr lang="en-US" sz="970" dirty="0">
                        <a:latin typeface="Calibri" charset="0"/>
                        <a:ea typeface="Calibri" charset="0"/>
                        <a:cs typeface="Calibri" charset="0"/>
                      </a:endParaRPr>
                    </a:p>
                  </a:txBody>
                  <a:tcPr marL="91440" marR="91440" marT="45720" marB="45720" anchor="ctr">
                    <a:lnL w="9525" cap="flat" cmpd="sng" algn="ctr">
                      <a:solidFill>
                        <a:srgbClr val="24314E"/>
                      </a:solidFill>
                      <a:prstDash val="solid"/>
                      <a:round/>
                      <a:headEnd type="none" w="med" len="med"/>
                      <a:tailEnd type="none" w="med" len="med"/>
                    </a:lnL>
                    <a:lnR w="9525" cap="flat" cmpd="sng" algn="ctr">
                      <a:solidFill>
                        <a:srgbClr val="24314E"/>
                      </a:solidFill>
                      <a:prstDash val="solid"/>
                      <a:round/>
                      <a:headEnd type="none" w="med" len="med"/>
                      <a:tailEnd type="none" w="med" len="med"/>
                    </a:lnR>
                    <a:lnT w="9525" cap="flat" cmpd="sng" algn="ctr">
                      <a:solidFill>
                        <a:srgbClr val="24314E"/>
                      </a:solidFill>
                      <a:prstDash val="solid"/>
                      <a:round/>
                      <a:headEnd type="none" w="med" len="med"/>
                      <a:tailEnd type="none" w="med" len="med"/>
                    </a:lnT>
                    <a:lnB w="9525" cap="flat" cmpd="sng" algn="ctr">
                      <a:solidFill>
                        <a:srgbClr val="24314E"/>
                      </a:solidFill>
                      <a:prstDash val="solid"/>
                      <a:round/>
                      <a:headEnd type="none" w="med" len="med"/>
                      <a:tailEnd type="none" w="med" len="med"/>
                    </a:lnB>
                    <a:solidFill>
                      <a:srgbClr val="111F38"/>
                    </a:solidFill>
                  </a:tcPr>
                </a:tc>
              </a:tr>
              <a:tr h="896112">
                <a:tc>
                  <a:txBody>
                    <a:bodyPr/>
                    <a:lstStyle/>
                    <a:p>
                      <a:pPr indent="0" marL="0">
                        <a:buNone/>
                      </a:pPr>
                      <a:r>
                        <a:rPr lang="en-US" sz="970" b="1" dirty="0">
                          <a:solidFill>
                            <a:srgbClr val="EF4444"/>
                          </a:solidFill>
                          <a:latin typeface="Calibri" pitchFamily="34" charset="0"/>
                          <a:ea typeface="Calibri" pitchFamily="34" charset="-122"/>
                          <a:cs typeface="Calibri" pitchFamily="34" charset="-120"/>
                        </a:rPr>
                        <a:t>At Risk: 99.47% cancellation rate</a:t>
                      </a:r>
                      <a:endParaRPr lang="en-US" sz="970" dirty="0">
                        <a:latin typeface="Calibri" charset="0"/>
                        <a:ea typeface="Calibri" charset="0"/>
                        <a:cs typeface="Calibri" charset="0"/>
                      </a:endParaRPr>
                    </a:p>
                    <a:p>
                      <a:pPr indent="0" marL="0">
                        <a:buNone/>
                      </a:pPr>
                      <a:r>
                        <a:rPr lang="en-US" sz="970" b="1" dirty="0">
                          <a:solidFill>
                            <a:srgbClr val="EF4444"/>
                          </a:solidFill>
                          <a:latin typeface="Calibri" pitchFamily="34" charset="0"/>
                          <a:ea typeface="Calibri" pitchFamily="34" charset="-122"/>
                          <a:cs typeface="Calibri" pitchFamily="34" charset="-120"/>
                        </a:rPr>
                        <a:t>(likely fraud / payment / checkout bug, not churn)</a:t>
                      </a:r>
                      <a:endParaRPr lang="en-US" sz="970" dirty="0">
                        <a:latin typeface="Calibri" charset="0"/>
                        <a:ea typeface="Calibri" charset="0"/>
                        <a:cs typeface="Calibri" charset="0"/>
                      </a:endParaRPr>
                    </a:p>
                  </a:txBody>
                  <a:tcPr marL="91440" marR="91440" marT="45720" marB="45720" anchor="ctr">
                    <a:lnL w="9525" cap="flat" cmpd="sng" algn="ctr">
                      <a:solidFill>
                        <a:srgbClr val="24314E"/>
                      </a:solidFill>
                      <a:prstDash val="solid"/>
                      <a:round/>
                      <a:headEnd type="none" w="med" len="med"/>
                      <a:tailEnd type="none" w="med" len="med"/>
                    </a:lnL>
                    <a:lnR w="9525" cap="flat" cmpd="sng" algn="ctr">
                      <a:solidFill>
                        <a:srgbClr val="24314E"/>
                      </a:solidFill>
                      <a:prstDash val="solid"/>
                      <a:round/>
                      <a:headEnd type="none" w="med" len="med"/>
                      <a:tailEnd type="none" w="med" len="med"/>
                    </a:lnR>
                    <a:lnT w="9525" cap="flat" cmpd="sng" algn="ctr">
                      <a:solidFill>
                        <a:srgbClr val="24314E"/>
                      </a:solidFill>
                      <a:prstDash val="solid"/>
                      <a:round/>
                      <a:headEnd type="none" w="med" len="med"/>
                      <a:tailEnd type="none" w="med" len="med"/>
                    </a:lnT>
                    <a:lnB w="9525" cap="flat" cmpd="sng" algn="ctr">
                      <a:solidFill>
                        <a:srgbClr val="24314E"/>
                      </a:solidFill>
                      <a:prstDash val="solid"/>
                      <a:round/>
                      <a:headEnd type="none" w="med" len="med"/>
                      <a:tailEnd type="none" w="med" len="med"/>
                    </a:lnB>
                    <a:solidFill>
                      <a:srgbClr val="111F38"/>
                    </a:solidFill>
                  </a:tcPr>
                </a:tc>
                <a:tc>
                  <a:txBody>
                    <a:bodyPr/>
                    <a:lstStyle/>
                    <a:p>
                      <a:pPr indent="0" marL="0">
                        <a:buNone/>
                      </a:pPr>
                      <a:r>
                        <a:rPr lang="en-US" sz="970" dirty="0">
                          <a:solidFill>
                            <a:srgbClr val="E8EDF5"/>
                          </a:solidFill>
                          <a:latin typeface="Calibri" pitchFamily="34" charset="0"/>
                          <a:ea typeface="Calibri" pitchFamily="34" charset="-122"/>
                          <a:cs typeface="Calibri" pitchFamily="34" charset="-120"/>
                        </a:rPr>
                        <a:t>$0.20 avg. value from 63 customers (6.9% of base) — inflates headcount health metrics while contributing ~$0 real revenue</a:t>
                      </a:r>
                      <a:endParaRPr lang="en-US" sz="970" dirty="0">
                        <a:latin typeface="Calibri" charset="0"/>
                        <a:ea typeface="Calibri" charset="0"/>
                        <a:cs typeface="Calibri" charset="0"/>
                      </a:endParaRPr>
                    </a:p>
                  </a:txBody>
                  <a:tcPr marL="91440" marR="91440" marT="45720" marB="45720" anchor="ctr">
                    <a:lnL w="9525" cap="flat" cmpd="sng" algn="ctr">
                      <a:solidFill>
                        <a:srgbClr val="24314E"/>
                      </a:solidFill>
                      <a:prstDash val="solid"/>
                      <a:round/>
                      <a:headEnd type="none" w="med" len="med"/>
                      <a:tailEnd type="none" w="med" len="med"/>
                    </a:lnL>
                    <a:lnR w="9525" cap="flat" cmpd="sng" algn="ctr">
                      <a:solidFill>
                        <a:srgbClr val="24314E"/>
                      </a:solidFill>
                      <a:prstDash val="solid"/>
                      <a:round/>
                      <a:headEnd type="none" w="med" len="med"/>
                      <a:tailEnd type="none" w="med" len="med"/>
                    </a:lnR>
                    <a:lnT w="9525" cap="flat" cmpd="sng" algn="ctr">
                      <a:solidFill>
                        <a:srgbClr val="24314E"/>
                      </a:solidFill>
                      <a:prstDash val="solid"/>
                      <a:round/>
                      <a:headEnd type="none" w="med" len="med"/>
                      <a:tailEnd type="none" w="med" len="med"/>
                    </a:lnT>
                    <a:lnB w="9525" cap="flat" cmpd="sng" algn="ctr">
                      <a:solidFill>
                        <a:srgbClr val="24314E"/>
                      </a:solidFill>
                      <a:prstDash val="solid"/>
                      <a:round/>
                      <a:headEnd type="none" w="med" len="med"/>
                      <a:tailEnd type="none" w="med" len="med"/>
                    </a:lnB>
                    <a:solidFill>
                      <a:srgbClr val="111F38"/>
                    </a:solidFill>
                  </a:tcPr>
                </a:tc>
                <a:tc>
                  <a:txBody>
                    <a:bodyPr/>
                    <a:lstStyle/>
                    <a:p>
                      <a:pPr indent="0" marL="0">
                        <a:buNone/>
                      </a:pPr>
                      <a:r>
                        <a:rPr lang="en-US" sz="970" dirty="0">
                          <a:solidFill>
                            <a:srgbClr val="E8EDF5"/>
                          </a:solidFill>
                          <a:latin typeface="Calibri" pitchFamily="34" charset="0"/>
                          <a:ea typeface="Calibri" pitchFamily="34" charset="-122"/>
                          <a:cs typeface="Calibri" pitchFamily="34" charset="-120"/>
                        </a:rPr>
                        <a:t>Audit payment gateway logs &amp; device/IP fingerprints; exclude from retention spend until root cause is confirmed</a:t>
                      </a:r>
                      <a:endParaRPr lang="en-US" sz="970" dirty="0">
                        <a:latin typeface="Calibri" charset="0"/>
                        <a:ea typeface="Calibri" charset="0"/>
                        <a:cs typeface="Calibri" charset="0"/>
                      </a:endParaRPr>
                    </a:p>
                  </a:txBody>
                  <a:tcPr marL="91440" marR="91440" marT="45720" marB="45720" anchor="ctr">
                    <a:lnL w="9525" cap="flat" cmpd="sng" algn="ctr">
                      <a:solidFill>
                        <a:srgbClr val="24314E"/>
                      </a:solidFill>
                      <a:prstDash val="solid"/>
                      <a:round/>
                      <a:headEnd type="none" w="med" len="med"/>
                      <a:tailEnd type="none" w="med" len="med"/>
                    </a:lnL>
                    <a:lnR w="9525" cap="flat" cmpd="sng" algn="ctr">
                      <a:solidFill>
                        <a:srgbClr val="24314E"/>
                      </a:solidFill>
                      <a:prstDash val="solid"/>
                      <a:round/>
                      <a:headEnd type="none" w="med" len="med"/>
                      <a:tailEnd type="none" w="med" len="med"/>
                    </a:lnR>
                    <a:lnT w="9525" cap="flat" cmpd="sng" algn="ctr">
                      <a:solidFill>
                        <a:srgbClr val="24314E"/>
                      </a:solidFill>
                      <a:prstDash val="solid"/>
                      <a:round/>
                      <a:headEnd type="none" w="med" len="med"/>
                      <a:tailEnd type="none" w="med" len="med"/>
                    </a:lnT>
                    <a:lnB w="9525" cap="flat" cmpd="sng" algn="ctr">
                      <a:solidFill>
                        <a:srgbClr val="24314E"/>
                      </a:solidFill>
                      <a:prstDash val="solid"/>
                      <a:round/>
                      <a:headEnd type="none" w="med" len="med"/>
                      <a:tailEnd type="none" w="med" len="med"/>
                    </a:lnB>
                    <a:solidFill>
                      <a:srgbClr val="111F38"/>
                    </a:solidFill>
                  </a:tcPr>
                </a:tc>
                <a:tc>
                  <a:txBody>
                    <a:bodyPr/>
                    <a:lstStyle/>
                    <a:p>
                      <a:pPr indent="0" marL="0">
                        <a:buNone/>
                      </a:pPr>
                      <a:r>
                        <a:rPr lang="en-US" sz="970" dirty="0">
                          <a:solidFill>
                            <a:srgbClr val="E8EDF5"/>
                          </a:solidFill>
                          <a:latin typeface="Calibri" pitchFamily="34" charset="0"/>
                          <a:ea typeface="Calibri" pitchFamily="34" charset="-122"/>
                          <a:cs typeface="Calibri" pitchFamily="34" charset="-120"/>
                        </a:rPr>
                        <a:t>Recover $12K–$25K/yr if fixable, or cleanly write off and stop wasting marketing budget on it</a:t>
                      </a:r>
                      <a:endParaRPr lang="en-US" sz="970" dirty="0">
                        <a:latin typeface="Calibri" charset="0"/>
                        <a:ea typeface="Calibri" charset="0"/>
                        <a:cs typeface="Calibri" charset="0"/>
                      </a:endParaRPr>
                    </a:p>
                  </a:txBody>
                  <a:tcPr marL="91440" marR="91440" marT="45720" marB="45720" anchor="ctr">
                    <a:lnL w="9525" cap="flat" cmpd="sng" algn="ctr">
                      <a:solidFill>
                        <a:srgbClr val="24314E"/>
                      </a:solidFill>
                      <a:prstDash val="solid"/>
                      <a:round/>
                      <a:headEnd type="none" w="med" len="med"/>
                      <a:tailEnd type="none" w="med" len="med"/>
                    </a:lnL>
                    <a:lnR w="9525" cap="flat" cmpd="sng" algn="ctr">
                      <a:solidFill>
                        <a:srgbClr val="24314E"/>
                      </a:solidFill>
                      <a:prstDash val="solid"/>
                      <a:round/>
                      <a:headEnd type="none" w="med" len="med"/>
                      <a:tailEnd type="none" w="med" len="med"/>
                    </a:lnR>
                    <a:lnT w="9525" cap="flat" cmpd="sng" algn="ctr">
                      <a:solidFill>
                        <a:srgbClr val="24314E"/>
                      </a:solidFill>
                      <a:prstDash val="solid"/>
                      <a:round/>
                      <a:headEnd type="none" w="med" len="med"/>
                      <a:tailEnd type="none" w="med" len="med"/>
                    </a:lnT>
                    <a:lnB w="9525" cap="flat" cmpd="sng" algn="ctr">
                      <a:solidFill>
                        <a:srgbClr val="24314E"/>
                      </a:solidFill>
                      <a:prstDash val="solid"/>
                      <a:round/>
                      <a:headEnd type="none" w="med" len="med"/>
                      <a:tailEnd type="none" w="med" len="med"/>
                    </a:lnB>
                    <a:solidFill>
                      <a:srgbClr val="111F38"/>
                    </a:solidFill>
                  </a:tcPr>
                </a:tc>
              </a:tr>
              <a:tr h="896112">
                <a:tc>
                  <a:txBody>
                    <a:bodyPr/>
                    <a:lstStyle/>
                    <a:p>
                      <a:pPr indent="0" marL="0">
                        <a:buNone/>
                      </a:pPr>
                      <a:r>
                        <a:rPr lang="en-US" sz="970" b="1" dirty="0">
                          <a:solidFill>
                            <a:srgbClr val="3B82F6"/>
                          </a:solidFill>
                          <a:latin typeface="Calibri" pitchFamily="34" charset="0"/>
                          <a:ea typeface="Calibri" pitchFamily="34" charset="-122"/>
                          <a:cs typeface="Calibri" pitchFamily="34" charset="-120"/>
                        </a:rPr>
                        <a:t>Regular segment under-converts</a:t>
                      </a:r>
                      <a:endParaRPr lang="en-US" sz="970" dirty="0">
                        <a:latin typeface="Calibri" charset="0"/>
                        <a:ea typeface="Calibri" charset="0"/>
                        <a:cs typeface="Calibri" charset="0"/>
                      </a:endParaRPr>
                    </a:p>
                    <a:p>
                      <a:pPr indent="0" marL="0">
                        <a:buNone/>
                      </a:pPr>
                      <a:r>
                        <a:rPr lang="en-US" sz="970" b="1" dirty="0">
                          <a:solidFill>
                            <a:srgbClr val="3B82F6"/>
                          </a:solidFill>
                          <a:latin typeface="Calibri" pitchFamily="34" charset="0"/>
                          <a:ea typeface="Calibri" pitchFamily="34" charset="-122"/>
                          <a:cs typeface="Calibri" pitchFamily="34" charset="-120"/>
                        </a:rPr>
                        <a:t>vs. High Value (3.3x spend gap)</a:t>
                      </a:r>
                      <a:endParaRPr lang="en-US" sz="970" dirty="0">
                        <a:latin typeface="Calibri" charset="0"/>
                        <a:ea typeface="Calibri" charset="0"/>
                        <a:cs typeface="Calibri" charset="0"/>
                      </a:endParaRPr>
                    </a:p>
                  </a:txBody>
                  <a:tcPr marL="91440" marR="91440" marT="45720" marB="45720" anchor="ctr">
                    <a:lnL w="9525" cap="flat" cmpd="sng" algn="ctr">
                      <a:solidFill>
                        <a:srgbClr val="24314E"/>
                      </a:solidFill>
                      <a:prstDash val="solid"/>
                      <a:round/>
                      <a:headEnd type="none" w="med" len="med"/>
                      <a:tailEnd type="none" w="med" len="med"/>
                    </a:lnL>
                    <a:lnR w="9525" cap="flat" cmpd="sng" algn="ctr">
                      <a:solidFill>
                        <a:srgbClr val="24314E"/>
                      </a:solidFill>
                      <a:prstDash val="solid"/>
                      <a:round/>
                      <a:headEnd type="none" w="med" len="med"/>
                      <a:tailEnd type="none" w="med" len="med"/>
                    </a:lnR>
                    <a:lnT w="9525" cap="flat" cmpd="sng" algn="ctr">
                      <a:solidFill>
                        <a:srgbClr val="24314E"/>
                      </a:solidFill>
                      <a:prstDash val="solid"/>
                      <a:round/>
                      <a:headEnd type="none" w="med" len="med"/>
                      <a:tailEnd type="none" w="med" len="med"/>
                    </a:lnT>
                    <a:lnB w="9525" cap="flat" cmpd="sng" algn="ctr">
                      <a:solidFill>
                        <a:srgbClr val="24314E"/>
                      </a:solidFill>
                      <a:prstDash val="solid"/>
                      <a:round/>
                      <a:headEnd type="none" w="med" len="med"/>
                      <a:tailEnd type="none" w="med" len="med"/>
                    </a:lnB>
                    <a:solidFill>
                      <a:srgbClr val="111F38"/>
                    </a:solidFill>
                  </a:tcPr>
                </a:tc>
                <a:tc>
                  <a:txBody>
                    <a:bodyPr/>
                    <a:lstStyle/>
                    <a:p>
                      <a:pPr indent="0" marL="0">
                        <a:buNone/>
                      </a:pPr>
                      <a:r>
                        <a:rPr lang="en-US" sz="970" dirty="0">
                          <a:solidFill>
                            <a:srgbClr val="E8EDF5"/>
                          </a:solidFill>
                          <a:latin typeface="Calibri" pitchFamily="34" charset="0"/>
                          <a:ea typeface="Calibri" pitchFamily="34" charset="-122"/>
                          <a:cs typeface="Calibri" pitchFamily="34" charset="-120"/>
                        </a:rPr>
                        <a:t>68.1% of customers generate only 45.3% of revenue — the largest pool of customers is also the most under-monetized</a:t>
                      </a:r>
                      <a:endParaRPr lang="en-US" sz="970" dirty="0">
                        <a:latin typeface="Calibri" charset="0"/>
                        <a:ea typeface="Calibri" charset="0"/>
                        <a:cs typeface="Calibri" charset="0"/>
                      </a:endParaRPr>
                    </a:p>
                  </a:txBody>
                  <a:tcPr marL="91440" marR="91440" marT="45720" marB="45720" anchor="ctr">
                    <a:lnL w="9525" cap="flat" cmpd="sng" algn="ctr">
                      <a:solidFill>
                        <a:srgbClr val="24314E"/>
                      </a:solidFill>
                      <a:prstDash val="solid"/>
                      <a:round/>
                      <a:headEnd type="none" w="med" len="med"/>
                      <a:tailEnd type="none" w="med" len="med"/>
                    </a:lnL>
                    <a:lnR w="9525" cap="flat" cmpd="sng" algn="ctr">
                      <a:solidFill>
                        <a:srgbClr val="24314E"/>
                      </a:solidFill>
                      <a:prstDash val="solid"/>
                      <a:round/>
                      <a:headEnd type="none" w="med" len="med"/>
                      <a:tailEnd type="none" w="med" len="med"/>
                    </a:lnR>
                    <a:lnT w="9525" cap="flat" cmpd="sng" algn="ctr">
                      <a:solidFill>
                        <a:srgbClr val="24314E"/>
                      </a:solidFill>
                      <a:prstDash val="solid"/>
                      <a:round/>
                      <a:headEnd type="none" w="med" len="med"/>
                      <a:tailEnd type="none" w="med" len="med"/>
                    </a:lnT>
                    <a:lnB w="9525" cap="flat" cmpd="sng" algn="ctr">
                      <a:solidFill>
                        <a:srgbClr val="24314E"/>
                      </a:solidFill>
                      <a:prstDash val="solid"/>
                      <a:round/>
                      <a:headEnd type="none" w="med" len="med"/>
                      <a:tailEnd type="none" w="med" len="med"/>
                    </a:lnB>
                    <a:solidFill>
                      <a:srgbClr val="111F38"/>
                    </a:solidFill>
                  </a:tcPr>
                </a:tc>
                <a:tc>
                  <a:txBody>
                    <a:bodyPr/>
                    <a:lstStyle/>
                    <a:p>
                      <a:pPr indent="0" marL="0">
                        <a:buNone/>
                      </a:pPr>
                      <a:r>
                        <a:rPr lang="en-US" sz="970" dirty="0">
                          <a:solidFill>
                            <a:srgbClr val="E8EDF5"/>
                          </a:solidFill>
                          <a:latin typeface="Calibri" pitchFamily="34" charset="0"/>
                          <a:ea typeface="Calibri" pitchFamily="34" charset="-122"/>
                          <a:cs typeface="Calibri" pitchFamily="34" charset="-120"/>
                        </a:rPr>
                        <a:t>Targeted nurture track: bundles, loyalty points, 3rd/4th-order incentives for above-median-frequency Regulars</a:t>
                      </a:r>
                      <a:endParaRPr lang="en-US" sz="970" dirty="0">
                        <a:latin typeface="Calibri" charset="0"/>
                        <a:ea typeface="Calibri" charset="0"/>
                        <a:cs typeface="Calibri" charset="0"/>
                      </a:endParaRPr>
                    </a:p>
                  </a:txBody>
                  <a:tcPr marL="91440" marR="91440" marT="45720" marB="45720" anchor="ctr">
                    <a:lnL w="9525" cap="flat" cmpd="sng" algn="ctr">
                      <a:solidFill>
                        <a:srgbClr val="24314E"/>
                      </a:solidFill>
                      <a:prstDash val="solid"/>
                      <a:round/>
                      <a:headEnd type="none" w="med" len="med"/>
                      <a:tailEnd type="none" w="med" len="med"/>
                    </a:lnL>
                    <a:lnR w="9525" cap="flat" cmpd="sng" algn="ctr">
                      <a:solidFill>
                        <a:srgbClr val="24314E"/>
                      </a:solidFill>
                      <a:prstDash val="solid"/>
                      <a:round/>
                      <a:headEnd type="none" w="med" len="med"/>
                      <a:tailEnd type="none" w="med" len="med"/>
                    </a:lnR>
                    <a:lnT w="9525" cap="flat" cmpd="sng" algn="ctr">
                      <a:solidFill>
                        <a:srgbClr val="24314E"/>
                      </a:solidFill>
                      <a:prstDash val="solid"/>
                      <a:round/>
                      <a:headEnd type="none" w="med" len="med"/>
                      <a:tailEnd type="none" w="med" len="med"/>
                    </a:lnT>
                    <a:lnB w="9525" cap="flat" cmpd="sng" algn="ctr">
                      <a:solidFill>
                        <a:srgbClr val="24314E"/>
                      </a:solidFill>
                      <a:prstDash val="solid"/>
                      <a:round/>
                      <a:headEnd type="none" w="med" len="med"/>
                      <a:tailEnd type="none" w="med" len="med"/>
                    </a:lnB>
                    <a:solidFill>
                      <a:srgbClr val="111F38"/>
                    </a:solidFill>
                  </a:tcPr>
                </a:tc>
                <a:tc>
                  <a:txBody>
                    <a:bodyPr/>
                    <a:lstStyle/>
                    <a:p>
                      <a:pPr indent="0" marL="0">
                        <a:buNone/>
                      </a:pPr>
                      <a:r>
                        <a:rPr lang="en-US" sz="970" dirty="0">
                          <a:solidFill>
                            <a:srgbClr val="E8EDF5"/>
                          </a:solidFill>
                          <a:latin typeface="Calibri" pitchFamily="34" charset="0"/>
                          <a:ea typeface="Calibri" pitchFamily="34" charset="-122"/>
                          <a:cs typeface="Calibri" pitchFamily="34" charset="-120"/>
                        </a:rPr>
                        <a:t>+$55K–$90K/yr from shifting 10–15% of Regular spend toward High Value behavior</a:t>
                      </a:r>
                      <a:endParaRPr lang="en-US" sz="970" dirty="0">
                        <a:latin typeface="Calibri" charset="0"/>
                        <a:ea typeface="Calibri" charset="0"/>
                        <a:cs typeface="Calibri" charset="0"/>
                      </a:endParaRPr>
                    </a:p>
                  </a:txBody>
                  <a:tcPr marL="91440" marR="91440" marT="45720" marB="45720" anchor="ctr">
                    <a:lnL w="9525" cap="flat" cmpd="sng" algn="ctr">
                      <a:solidFill>
                        <a:srgbClr val="24314E"/>
                      </a:solidFill>
                      <a:prstDash val="solid"/>
                      <a:round/>
                      <a:headEnd type="none" w="med" len="med"/>
                      <a:tailEnd type="none" w="med" len="med"/>
                    </a:lnL>
                    <a:lnR w="9525" cap="flat" cmpd="sng" algn="ctr">
                      <a:solidFill>
                        <a:srgbClr val="24314E"/>
                      </a:solidFill>
                      <a:prstDash val="solid"/>
                      <a:round/>
                      <a:headEnd type="none" w="med" len="med"/>
                      <a:tailEnd type="none" w="med" len="med"/>
                    </a:lnR>
                    <a:lnT w="9525" cap="flat" cmpd="sng" algn="ctr">
                      <a:solidFill>
                        <a:srgbClr val="24314E"/>
                      </a:solidFill>
                      <a:prstDash val="solid"/>
                      <a:round/>
                      <a:headEnd type="none" w="med" len="med"/>
                      <a:tailEnd type="none" w="med" len="med"/>
                    </a:lnT>
                    <a:lnB w="9525" cap="flat" cmpd="sng" algn="ctr">
                      <a:solidFill>
                        <a:srgbClr val="24314E"/>
                      </a:solidFill>
                      <a:prstDash val="solid"/>
                      <a:round/>
                      <a:headEnd type="none" w="med" len="med"/>
                      <a:tailEnd type="none" w="med" len="med"/>
                    </a:lnB>
                    <a:solidFill>
                      <a:srgbClr val="111F38"/>
                    </a:solidFill>
                  </a:tcPr>
                </a:tc>
              </a:tr>
              <a:tr h="896112">
                <a:tc>
                  <a:txBody>
                    <a:bodyPr/>
                    <a:lstStyle/>
                    <a:p>
                      <a:pPr indent="0" marL="0">
                        <a:buNone/>
                      </a:pPr>
                      <a:r>
                        <a:rPr lang="en-US" sz="970" b="1" dirty="0">
                          <a:solidFill>
                            <a:srgbClr val="F0B429"/>
                          </a:solidFill>
                          <a:latin typeface="Calibri" pitchFamily="34" charset="0"/>
                          <a:ea typeface="Calibri" pitchFamily="34" charset="-122"/>
                          <a:cs typeface="Calibri" pitchFamily="34" charset="-120"/>
                        </a:rPr>
                        <a:t>34.5% of raw transactions have</a:t>
                      </a:r>
                      <a:endParaRPr lang="en-US" sz="970" dirty="0">
                        <a:latin typeface="Calibri" charset="0"/>
                        <a:ea typeface="Calibri" charset="0"/>
                        <a:cs typeface="Calibri" charset="0"/>
                      </a:endParaRPr>
                    </a:p>
                    <a:p>
                      <a:pPr indent="0" marL="0">
                        <a:buNone/>
                      </a:pPr>
                      <a:r>
                        <a:rPr lang="en-US" sz="970" b="1" dirty="0">
                          <a:solidFill>
                            <a:srgbClr val="F0B429"/>
                          </a:solidFill>
                          <a:latin typeface="Calibri" pitchFamily="34" charset="0"/>
                          <a:ea typeface="Calibri" pitchFamily="34" charset="-122"/>
                          <a:cs typeface="Calibri" pitchFamily="34" charset="-120"/>
                        </a:rPr>
                        <a:t>no CustomerID (guest/unlinked orders)</a:t>
                      </a:r>
                      <a:endParaRPr lang="en-US" sz="970" dirty="0">
                        <a:latin typeface="Calibri" charset="0"/>
                        <a:ea typeface="Calibri" charset="0"/>
                        <a:cs typeface="Calibri" charset="0"/>
                      </a:endParaRPr>
                    </a:p>
                  </a:txBody>
                  <a:tcPr marL="91440" marR="91440" marT="45720" marB="45720" anchor="ctr">
                    <a:lnL w="9525" cap="flat" cmpd="sng" algn="ctr">
                      <a:solidFill>
                        <a:srgbClr val="24314E"/>
                      </a:solidFill>
                      <a:prstDash val="solid"/>
                      <a:round/>
                      <a:headEnd type="none" w="med" len="med"/>
                      <a:tailEnd type="none" w="med" len="med"/>
                    </a:lnL>
                    <a:lnR w="9525" cap="flat" cmpd="sng" algn="ctr">
                      <a:solidFill>
                        <a:srgbClr val="24314E"/>
                      </a:solidFill>
                      <a:prstDash val="solid"/>
                      <a:round/>
                      <a:headEnd type="none" w="med" len="med"/>
                      <a:tailEnd type="none" w="med" len="med"/>
                    </a:lnR>
                    <a:lnT w="9525" cap="flat" cmpd="sng" algn="ctr">
                      <a:solidFill>
                        <a:srgbClr val="24314E"/>
                      </a:solidFill>
                      <a:prstDash val="solid"/>
                      <a:round/>
                      <a:headEnd type="none" w="med" len="med"/>
                      <a:tailEnd type="none" w="med" len="med"/>
                    </a:lnT>
                    <a:lnB w="9525" cap="flat" cmpd="sng" algn="ctr">
                      <a:solidFill>
                        <a:srgbClr val="24314E"/>
                      </a:solidFill>
                      <a:prstDash val="solid"/>
                      <a:round/>
                      <a:headEnd type="none" w="med" len="med"/>
                      <a:tailEnd type="none" w="med" len="med"/>
                    </a:lnB>
                    <a:solidFill>
                      <a:srgbClr val="111F38"/>
                    </a:solidFill>
                  </a:tcPr>
                </a:tc>
                <a:tc>
                  <a:txBody>
                    <a:bodyPr/>
                    <a:lstStyle/>
                    <a:p>
                      <a:pPr indent="0" marL="0">
                        <a:buNone/>
                      </a:pPr>
                      <a:r>
                        <a:rPr lang="en-US" sz="970" dirty="0">
                          <a:solidFill>
                            <a:srgbClr val="E8EDF5"/>
                          </a:solidFill>
                          <a:latin typeface="Calibri" pitchFamily="34" charset="0"/>
                          <a:ea typeface="Calibri" pitchFamily="34" charset="-122"/>
                          <a:cs typeface="Calibri" pitchFamily="34" charset="-120"/>
                        </a:rPr>
                        <a:t>Real customer value is likely understated — these transactions are invisible to any customer-level model, this one included</a:t>
                      </a:r>
                      <a:endParaRPr lang="en-US" sz="970" dirty="0">
                        <a:latin typeface="Calibri" charset="0"/>
                        <a:ea typeface="Calibri" charset="0"/>
                        <a:cs typeface="Calibri" charset="0"/>
                      </a:endParaRPr>
                    </a:p>
                  </a:txBody>
                  <a:tcPr marL="91440" marR="91440" marT="45720" marB="45720" anchor="ctr">
                    <a:lnL w="9525" cap="flat" cmpd="sng" algn="ctr">
                      <a:solidFill>
                        <a:srgbClr val="24314E"/>
                      </a:solidFill>
                      <a:prstDash val="solid"/>
                      <a:round/>
                      <a:headEnd type="none" w="med" len="med"/>
                      <a:tailEnd type="none" w="med" len="med"/>
                    </a:lnL>
                    <a:lnR w="9525" cap="flat" cmpd="sng" algn="ctr">
                      <a:solidFill>
                        <a:srgbClr val="24314E"/>
                      </a:solidFill>
                      <a:prstDash val="solid"/>
                      <a:round/>
                      <a:headEnd type="none" w="med" len="med"/>
                      <a:tailEnd type="none" w="med" len="med"/>
                    </a:lnR>
                    <a:lnT w="9525" cap="flat" cmpd="sng" algn="ctr">
                      <a:solidFill>
                        <a:srgbClr val="24314E"/>
                      </a:solidFill>
                      <a:prstDash val="solid"/>
                      <a:round/>
                      <a:headEnd type="none" w="med" len="med"/>
                      <a:tailEnd type="none" w="med" len="med"/>
                    </a:lnT>
                    <a:lnB w="9525" cap="flat" cmpd="sng" algn="ctr">
                      <a:solidFill>
                        <a:srgbClr val="24314E"/>
                      </a:solidFill>
                      <a:prstDash val="solid"/>
                      <a:round/>
                      <a:headEnd type="none" w="med" len="med"/>
                      <a:tailEnd type="none" w="med" len="med"/>
                    </a:lnB>
                    <a:solidFill>
                      <a:srgbClr val="111F38"/>
                    </a:solidFill>
                  </a:tcPr>
                </a:tc>
                <a:tc>
                  <a:txBody>
                    <a:bodyPr/>
                    <a:lstStyle/>
                    <a:p>
                      <a:pPr indent="0" marL="0">
                        <a:buNone/>
                      </a:pPr>
                      <a:r>
                        <a:rPr lang="en-US" sz="970" dirty="0">
                          <a:solidFill>
                            <a:srgbClr val="E8EDF5"/>
                          </a:solidFill>
                          <a:latin typeface="Calibri" pitchFamily="34" charset="0"/>
                          <a:ea typeface="Calibri" pitchFamily="34" charset="-122"/>
                          <a:cs typeface="Calibri" pitchFamily="34" charset="-120"/>
                        </a:rPr>
                        <a:t>Incentivize account creation / loyalty sign-up at checkout; tighten CustomerID capture in POS &amp; e-commerce flow</a:t>
                      </a:r>
                      <a:endParaRPr lang="en-US" sz="970" dirty="0">
                        <a:latin typeface="Calibri" charset="0"/>
                        <a:ea typeface="Calibri" charset="0"/>
                        <a:cs typeface="Calibri" charset="0"/>
                      </a:endParaRPr>
                    </a:p>
                  </a:txBody>
                  <a:tcPr marL="91440" marR="91440" marT="45720" marB="45720" anchor="ctr">
                    <a:lnL w="9525" cap="flat" cmpd="sng" algn="ctr">
                      <a:solidFill>
                        <a:srgbClr val="24314E"/>
                      </a:solidFill>
                      <a:prstDash val="solid"/>
                      <a:round/>
                      <a:headEnd type="none" w="med" len="med"/>
                      <a:tailEnd type="none" w="med" len="med"/>
                    </a:lnL>
                    <a:lnR w="9525" cap="flat" cmpd="sng" algn="ctr">
                      <a:solidFill>
                        <a:srgbClr val="24314E"/>
                      </a:solidFill>
                      <a:prstDash val="solid"/>
                      <a:round/>
                      <a:headEnd type="none" w="med" len="med"/>
                      <a:tailEnd type="none" w="med" len="med"/>
                    </a:lnR>
                    <a:lnT w="9525" cap="flat" cmpd="sng" algn="ctr">
                      <a:solidFill>
                        <a:srgbClr val="24314E"/>
                      </a:solidFill>
                      <a:prstDash val="solid"/>
                      <a:round/>
                      <a:headEnd type="none" w="med" len="med"/>
                      <a:tailEnd type="none" w="med" len="med"/>
                    </a:lnT>
                    <a:lnB w="9525" cap="flat" cmpd="sng" algn="ctr">
                      <a:solidFill>
                        <a:srgbClr val="24314E"/>
                      </a:solidFill>
                      <a:prstDash val="solid"/>
                      <a:round/>
                      <a:headEnd type="none" w="med" len="med"/>
                      <a:tailEnd type="none" w="med" len="med"/>
                    </a:lnB>
                    <a:solidFill>
                      <a:srgbClr val="111F38"/>
                    </a:solidFill>
                  </a:tcPr>
                </a:tc>
                <a:tc>
                  <a:txBody>
                    <a:bodyPr/>
                    <a:lstStyle/>
                    <a:p>
                      <a:pPr indent="0" marL="0">
                        <a:buNone/>
                      </a:pPr>
                      <a:r>
                        <a:rPr lang="en-US" sz="970" dirty="0">
                          <a:solidFill>
                            <a:srgbClr val="E8EDF5"/>
                          </a:solidFill>
                          <a:latin typeface="Calibri" pitchFamily="34" charset="0"/>
                          <a:ea typeface="Calibri" pitchFamily="34" charset="-122"/>
                          <a:cs typeface="Calibri" pitchFamily="34" charset="-120"/>
                        </a:rPr>
                        <a:t>More complete future models, more accurate segment sizing and revenue attribution</a:t>
                      </a:r>
                      <a:endParaRPr lang="en-US" sz="970" dirty="0">
                        <a:latin typeface="Calibri" charset="0"/>
                        <a:ea typeface="Calibri" charset="0"/>
                        <a:cs typeface="Calibri" charset="0"/>
                      </a:endParaRPr>
                    </a:p>
                  </a:txBody>
                  <a:tcPr marL="91440" marR="91440" marT="45720" marB="45720" anchor="ctr">
                    <a:lnL w="9525" cap="flat" cmpd="sng" algn="ctr">
                      <a:solidFill>
                        <a:srgbClr val="24314E"/>
                      </a:solidFill>
                      <a:prstDash val="solid"/>
                      <a:round/>
                      <a:headEnd type="none" w="med" len="med"/>
                      <a:tailEnd type="none" w="med" len="med"/>
                    </a:lnL>
                    <a:lnR w="9525" cap="flat" cmpd="sng" algn="ctr">
                      <a:solidFill>
                        <a:srgbClr val="24314E"/>
                      </a:solidFill>
                      <a:prstDash val="solid"/>
                      <a:round/>
                      <a:headEnd type="none" w="med" len="med"/>
                      <a:tailEnd type="none" w="med" len="med"/>
                    </a:lnR>
                    <a:lnT w="9525" cap="flat" cmpd="sng" algn="ctr">
                      <a:solidFill>
                        <a:srgbClr val="24314E"/>
                      </a:solidFill>
                      <a:prstDash val="solid"/>
                      <a:round/>
                      <a:headEnd type="none" w="med" len="med"/>
                      <a:tailEnd type="none" w="med" len="med"/>
                    </a:lnT>
                    <a:lnB w="9525" cap="flat" cmpd="sng" algn="ctr">
                      <a:solidFill>
                        <a:srgbClr val="24314E"/>
                      </a:solidFill>
                      <a:prstDash val="solid"/>
                      <a:round/>
                      <a:headEnd type="none" w="med" len="med"/>
                      <a:tailEnd type="none" w="med" len="med"/>
                    </a:lnB>
                    <a:solidFill>
                      <a:srgbClr val="111F38"/>
                    </a:solidFill>
                  </a:tcPr>
                </a:tc>
              </a:tr>
              <a:tr h="896112">
                <a:tc>
                  <a:txBody>
                    <a:bodyPr/>
                    <a:lstStyle/>
                    <a:p>
                      <a:pPr indent="0" marL="0">
                        <a:buNone/>
                      </a:pPr>
                      <a:r>
                        <a:rPr lang="en-US" sz="970" b="1" dirty="0">
                          <a:solidFill>
                            <a:srgbClr val="14B8A6"/>
                          </a:solidFill>
                          <a:latin typeface="Calibri" pitchFamily="34" charset="0"/>
                          <a:ea typeface="Calibri" pitchFamily="34" charset="-122"/>
                          <a:cs typeface="Calibri" pitchFamily="34" charset="-120"/>
                        </a:rPr>
                        <a:t>Segmentation is a single snapshot</a:t>
                      </a:r>
                      <a:endParaRPr lang="en-US" sz="970" dirty="0">
                        <a:latin typeface="Calibri" charset="0"/>
                        <a:ea typeface="Calibri" charset="0"/>
                        <a:cs typeface="Calibri" charset="0"/>
                      </a:endParaRPr>
                    </a:p>
                    <a:p>
                      <a:pPr indent="0" marL="0">
                        <a:buNone/>
                      </a:pPr>
                      <a:r>
                        <a:rPr lang="en-US" sz="970" b="1" dirty="0">
                          <a:solidFill>
                            <a:srgbClr val="14B8A6"/>
                          </a:solidFill>
                          <a:latin typeface="Calibri" pitchFamily="34" charset="0"/>
                          <a:ea typeface="Calibri" pitchFamily="34" charset="-122"/>
                          <a:cs typeface="Calibri" pitchFamily="34" charset="-120"/>
                        </a:rPr>
                        <a:t>(will drift as behavior changes)</a:t>
                      </a:r>
                      <a:endParaRPr lang="en-US" sz="970" dirty="0">
                        <a:latin typeface="Calibri" charset="0"/>
                        <a:ea typeface="Calibri" charset="0"/>
                        <a:cs typeface="Calibri" charset="0"/>
                      </a:endParaRPr>
                    </a:p>
                  </a:txBody>
                  <a:tcPr marL="91440" marR="91440" marT="45720" marB="45720" anchor="ctr">
                    <a:lnL w="9525" cap="flat" cmpd="sng" algn="ctr">
                      <a:solidFill>
                        <a:srgbClr val="24314E"/>
                      </a:solidFill>
                      <a:prstDash val="solid"/>
                      <a:round/>
                      <a:headEnd type="none" w="med" len="med"/>
                      <a:tailEnd type="none" w="med" len="med"/>
                    </a:lnL>
                    <a:lnR w="9525" cap="flat" cmpd="sng" algn="ctr">
                      <a:solidFill>
                        <a:srgbClr val="24314E"/>
                      </a:solidFill>
                      <a:prstDash val="solid"/>
                      <a:round/>
                      <a:headEnd type="none" w="med" len="med"/>
                      <a:tailEnd type="none" w="med" len="med"/>
                    </a:lnR>
                    <a:lnT w="9525" cap="flat" cmpd="sng" algn="ctr">
                      <a:solidFill>
                        <a:srgbClr val="24314E"/>
                      </a:solidFill>
                      <a:prstDash val="solid"/>
                      <a:round/>
                      <a:headEnd type="none" w="med" len="med"/>
                      <a:tailEnd type="none" w="med" len="med"/>
                    </a:lnT>
                    <a:lnB w="9525" cap="flat" cmpd="sng" algn="ctr">
                      <a:solidFill>
                        <a:srgbClr val="24314E"/>
                      </a:solidFill>
                      <a:prstDash val="solid"/>
                      <a:round/>
                      <a:headEnd type="none" w="med" len="med"/>
                      <a:tailEnd type="none" w="med" len="med"/>
                    </a:lnB>
                    <a:solidFill>
                      <a:srgbClr val="111F38"/>
                    </a:solidFill>
                  </a:tcPr>
                </a:tc>
                <a:tc>
                  <a:txBody>
                    <a:bodyPr/>
                    <a:lstStyle/>
                    <a:p>
                      <a:pPr indent="0" marL="0">
                        <a:buNone/>
                      </a:pPr>
                      <a:r>
                        <a:rPr lang="en-US" sz="970" dirty="0">
                          <a:solidFill>
                            <a:srgbClr val="E8EDF5"/>
                          </a:solidFill>
                          <a:latin typeface="Calibri" pitchFamily="34" charset="0"/>
                          <a:ea typeface="Calibri" pitchFamily="34" charset="-122"/>
                          <a:cs typeface="Calibri" pitchFamily="34" charset="-120"/>
                        </a:rPr>
                        <a:t>Campaigns risk targeting stale segments within 1–2 quarters as customers migrate between groups</a:t>
                      </a:r>
                      <a:endParaRPr lang="en-US" sz="970" dirty="0">
                        <a:latin typeface="Calibri" charset="0"/>
                        <a:ea typeface="Calibri" charset="0"/>
                        <a:cs typeface="Calibri" charset="0"/>
                      </a:endParaRPr>
                    </a:p>
                  </a:txBody>
                  <a:tcPr marL="91440" marR="91440" marT="45720" marB="45720" anchor="ctr">
                    <a:lnL w="9525" cap="flat" cmpd="sng" algn="ctr">
                      <a:solidFill>
                        <a:srgbClr val="24314E"/>
                      </a:solidFill>
                      <a:prstDash val="solid"/>
                      <a:round/>
                      <a:headEnd type="none" w="med" len="med"/>
                      <a:tailEnd type="none" w="med" len="med"/>
                    </a:lnL>
                    <a:lnR w="9525" cap="flat" cmpd="sng" algn="ctr">
                      <a:solidFill>
                        <a:srgbClr val="24314E"/>
                      </a:solidFill>
                      <a:prstDash val="solid"/>
                      <a:round/>
                      <a:headEnd type="none" w="med" len="med"/>
                      <a:tailEnd type="none" w="med" len="med"/>
                    </a:lnR>
                    <a:lnT w="9525" cap="flat" cmpd="sng" algn="ctr">
                      <a:solidFill>
                        <a:srgbClr val="24314E"/>
                      </a:solidFill>
                      <a:prstDash val="solid"/>
                      <a:round/>
                      <a:headEnd type="none" w="med" len="med"/>
                      <a:tailEnd type="none" w="med" len="med"/>
                    </a:lnT>
                    <a:lnB w="9525" cap="flat" cmpd="sng" algn="ctr">
                      <a:solidFill>
                        <a:srgbClr val="24314E"/>
                      </a:solidFill>
                      <a:prstDash val="solid"/>
                      <a:round/>
                      <a:headEnd type="none" w="med" len="med"/>
                      <a:tailEnd type="none" w="med" len="med"/>
                    </a:lnB>
                    <a:solidFill>
                      <a:srgbClr val="111F38"/>
                    </a:solidFill>
                  </a:tcPr>
                </a:tc>
                <a:tc>
                  <a:txBody>
                    <a:bodyPr/>
                    <a:lstStyle/>
                    <a:p>
                      <a:pPr indent="0" marL="0">
                        <a:buNone/>
                      </a:pPr>
                      <a:r>
                        <a:rPr lang="en-US" sz="970" dirty="0">
                          <a:solidFill>
                            <a:srgbClr val="E8EDF5"/>
                          </a:solidFill>
                          <a:latin typeface="Calibri" pitchFamily="34" charset="0"/>
                          <a:ea typeface="Calibri" pitchFamily="34" charset="-122"/>
                          <a:cs typeface="Calibri" pitchFamily="34" charset="-120"/>
                        </a:rPr>
                        <a:t>Re-run clustering quarterly on the same 13 features; track segment migration as a health metric</a:t>
                      </a:r>
                      <a:endParaRPr lang="en-US" sz="970" dirty="0">
                        <a:latin typeface="Calibri" charset="0"/>
                        <a:ea typeface="Calibri" charset="0"/>
                        <a:cs typeface="Calibri" charset="0"/>
                      </a:endParaRPr>
                    </a:p>
                  </a:txBody>
                  <a:tcPr marL="91440" marR="91440" marT="45720" marB="45720" anchor="ctr">
                    <a:lnL w="9525" cap="flat" cmpd="sng" algn="ctr">
                      <a:solidFill>
                        <a:srgbClr val="24314E"/>
                      </a:solidFill>
                      <a:prstDash val="solid"/>
                      <a:round/>
                      <a:headEnd type="none" w="med" len="med"/>
                      <a:tailEnd type="none" w="med" len="med"/>
                    </a:lnL>
                    <a:lnR w="9525" cap="flat" cmpd="sng" algn="ctr">
                      <a:solidFill>
                        <a:srgbClr val="24314E"/>
                      </a:solidFill>
                      <a:prstDash val="solid"/>
                      <a:round/>
                      <a:headEnd type="none" w="med" len="med"/>
                      <a:tailEnd type="none" w="med" len="med"/>
                    </a:lnR>
                    <a:lnT w="9525" cap="flat" cmpd="sng" algn="ctr">
                      <a:solidFill>
                        <a:srgbClr val="24314E"/>
                      </a:solidFill>
                      <a:prstDash val="solid"/>
                      <a:round/>
                      <a:headEnd type="none" w="med" len="med"/>
                      <a:tailEnd type="none" w="med" len="med"/>
                    </a:lnT>
                    <a:lnB w="9525" cap="flat" cmpd="sng" algn="ctr">
                      <a:solidFill>
                        <a:srgbClr val="24314E"/>
                      </a:solidFill>
                      <a:prstDash val="solid"/>
                      <a:round/>
                      <a:headEnd type="none" w="med" len="med"/>
                      <a:tailEnd type="none" w="med" len="med"/>
                    </a:lnB>
                    <a:solidFill>
                      <a:srgbClr val="111F38"/>
                    </a:solidFill>
                  </a:tcPr>
                </a:tc>
                <a:tc>
                  <a:txBody>
                    <a:bodyPr/>
                    <a:lstStyle/>
                    <a:p>
                      <a:pPr indent="0" marL="0">
                        <a:buNone/>
                      </a:pPr>
                      <a:r>
                        <a:rPr lang="en-US" sz="970" dirty="0">
                          <a:solidFill>
                            <a:srgbClr val="E8EDF5"/>
                          </a:solidFill>
                          <a:latin typeface="Calibri" pitchFamily="34" charset="0"/>
                          <a:ea typeface="Calibri" pitchFamily="34" charset="-122"/>
                          <a:cs typeface="Calibri" pitchFamily="34" charset="-120"/>
                        </a:rPr>
                        <a:t>Sustained targeting accuracy and early detection of decline before it shows up in revenue</a:t>
                      </a:r>
                      <a:endParaRPr lang="en-US" sz="970" dirty="0">
                        <a:latin typeface="Calibri" charset="0"/>
                        <a:ea typeface="Calibri" charset="0"/>
                        <a:cs typeface="Calibri" charset="0"/>
                      </a:endParaRPr>
                    </a:p>
                  </a:txBody>
                  <a:tcPr marL="91440" marR="91440" marT="45720" marB="45720" anchor="ctr">
                    <a:lnL w="9525" cap="flat" cmpd="sng" algn="ctr">
                      <a:solidFill>
                        <a:srgbClr val="24314E"/>
                      </a:solidFill>
                      <a:prstDash val="solid"/>
                      <a:round/>
                      <a:headEnd type="none" w="med" len="med"/>
                      <a:tailEnd type="none" w="med" len="med"/>
                    </a:lnL>
                    <a:lnR w="9525" cap="flat" cmpd="sng" algn="ctr">
                      <a:solidFill>
                        <a:srgbClr val="24314E"/>
                      </a:solidFill>
                      <a:prstDash val="solid"/>
                      <a:round/>
                      <a:headEnd type="none" w="med" len="med"/>
                      <a:tailEnd type="none" w="med" len="med"/>
                    </a:lnR>
                    <a:lnT w="9525" cap="flat" cmpd="sng" algn="ctr">
                      <a:solidFill>
                        <a:srgbClr val="24314E"/>
                      </a:solidFill>
                      <a:prstDash val="solid"/>
                      <a:round/>
                      <a:headEnd type="none" w="med" len="med"/>
                      <a:tailEnd type="none" w="med" len="med"/>
                    </a:lnT>
                    <a:lnB w="9525" cap="flat" cmpd="sng" algn="ctr">
                      <a:solidFill>
                        <a:srgbClr val="24314E"/>
                      </a:solidFill>
                      <a:prstDash val="solid"/>
                      <a:round/>
                      <a:headEnd type="none" w="med" len="med"/>
                      <a:tailEnd type="none" w="med" len="med"/>
                    </a:lnB>
                    <a:solidFill>
                      <a:srgbClr val="111F38"/>
                    </a:solidFill>
                  </a:tcPr>
                </a:tc>
              </a:tr>
            </a:tbl>
          </a:graphicData>
        </a:graphic>
      </p:graphicFrame>
      <p:sp>
        <p:nvSpPr>
          <p:cNvPr id="6" name="Text 3"/>
          <p:cNvSpPr/>
          <p:nvPr/>
        </p:nvSpPr>
        <p:spPr>
          <a:xfrm>
            <a:off x="457200" y="6528816"/>
            <a:ext cx="7315200" cy="274320"/>
          </a:xfrm>
          <a:prstGeom prst="rect">
            <a:avLst/>
          </a:prstGeom>
          <a:noFill/>
          <a:ln/>
        </p:spPr>
        <p:txBody>
          <a:bodyPr wrap="square" lIns="0" tIns="0" rIns="0" bIns="0" rtlCol="0" anchor="ctr"/>
          <a:lstStyle/>
          <a:p>
            <a:pPr algn="l" indent="0" marL="0">
              <a:buNone/>
            </a:pPr>
            <a:r>
              <a:rPr lang="en-US" sz="900" dirty="0">
                <a:solidFill>
                  <a:srgbClr val="72859E"/>
                </a:solidFill>
                <a:latin typeface="Calibri" pitchFamily="34" charset="0"/>
                <a:ea typeface="Calibri" pitchFamily="34" charset="-122"/>
                <a:cs typeface="Calibri" pitchFamily="34" charset="-120"/>
              </a:rPr>
              <a:t>Online Retail Business · Customer Segmentation</a:t>
            </a:r>
            <a:endParaRPr lang="en-US" sz="900" dirty="0"/>
          </a:p>
        </p:txBody>
      </p:sp>
      <p:sp>
        <p:nvSpPr>
          <p:cNvPr id="7" name="Text 4"/>
          <p:cNvSpPr/>
          <p:nvPr/>
        </p:nvSpPr>
        <p:spPr>
          <a:xfrm>
            <a:off x="11000232" y="6528816"/>
            <a:ext cx="731520" cy="274320"/>
          </a:xfrm>
          <a:prstGeom prst="rect">
            <a:avLst/>
          </a:prstGeom>
          <a:noFill/>
          <a:ln/>
        </p:spPr>
        <p:txBody>
          <a:bodyPr wrap="square" lIns="0" tIns="0" rIns="0" bIns="0" rtlCol="0" anchor="ctr"/>
          <a:lstStyle/>
          <a:p>
            <a:pPr algn="r" indent="0" marL="0">
              <a:buNone/>
            </a:pPr>
            <a:r>
              <a:rPr lang="en-US" sz="900" dirty="0">
                <a:solidFill>
                  <a:srgbClr val="72859E"/>
                </a:solidFill>
                <a:latin typeface="Calibri" pitchFamily="34" charset="0"/>
                <a:ea typeface="Calibri" pitchFamily="34" charset="-122"/>
                <a:cs typeface="Calibri" pitchFamily="34" charset="-120"/>
              </a:rPr>
              <a:t>13 / 18</a:t>
            </a:r>
            <a:endParaRPr lang="en-US" sz="9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0B1220"/>
        </a:solidFill>
      </p:bgPr>
    </p:bg>
    <p:spTree>
      <p:nvGrpSpPr>
        <p:cNvPr id="1" name=""/>
        <p:cNvGrpSpPr/>
        <p:nvPr/>
      </p:nvGrpSpPr>
      <p:grpSpPr>
        <a:xfrm>
          <a:off x="0" y="0"/>
          <a:ext cx="0" cy="0"/>
          <a:chOff x="0" y="0"/>
          <a:chExt cx="0" cy="0"/>
        </a:xfrm>
      </p:grpSpPr>
      <p:sp>
        <p:nvSpPr>
          <p:cNvPr id="2" name="Text 0"/>
          <p:cNvSpPr txBox="1"/>
          <p:nvPr/>
        </p:nvSpPr>
        <p:spPr>
          <a:xfrm>
            <a:off x="548640" y="201168"/>
            <a:ext cx="7315200" cy="274320"/>
          </a:xfrm>
          <a:prstGeom prst="rect">
            <a:avLst/>
          </a:prstGeom>
          <a:noFill/>
          <a:ln/>
        </p:spPr>
        <p:txBody>
          <a:bodyPr wrap="square" lIns="0" tIns="0" rIns="0" bIns="0" rtlCol="0" anchor="ctr"/>
          <a:lstStyle/>
          <a:p>
            <a:pPr algn="l" indent="0" marL="0">
              <a:buNone/>
            </a:pPr>
            <a:r>
              <a:rPr lang="en-US" sz="1100" b="1" spc="200" kern="0" dirty="0">
                <a:solidFill>
                  <a:srgbClr val="22C55E"/>
                </a:solidFill>
                <a:latin typeface="Calibri" pitchFamily="34" charset="0"/>
                <a:ea typeface="Calibri" pitchFamily="34" charset="-122"/>
                <a:cs typeface="Calibri" pitchFamily="34" charset="-120"/>
              </a:rPr>
              <a:t>ROADMAP</a:t>
            </a:r>
            <a:endParaRPr lang="en-US" sz="1100" dirty="0"/>
          </a:p>
        </p:txBody>
      </p:sp>
      <p:sp>
        <p:nvSpPr>
          <p:cNvPr id="3" name="Text 1"/>
          <p:cNvSpPr txBox="1"/>
          <p:nvPr/>
        </p:nvSpPr>
        <p:spPr>
          <a:xfrm>
            <a:off x="548640" y="411480"/>
            <a:ext cx="11064240" cy="685800"/>
          </a:xfrm>
          <a:prstGeom prst="rect">
            <a:avLst/>
          </a:prstGeom>
          <a:noFill/>
          <a:ln/>
        </p:spPr>
        <p:txBody>
          <a:bodyPr wrap="square" lIns="0" tIns="0" rIns="0" bIns="0" rtlCol="0" anchor="ctr"/>
          <a:lstStyle/>
          <a:p>
            <a:pPr algn="l" indent="0" marL="0">
              <a:buNone/>
            </a:pPr>
            <a:r>
              <a:rPr lang="en-US" sz="3000" b="1" dirty="0">
                <a:solidFill>
                  <a:srgbClr val="FFFFFF"/>
                </a:solidFill>
                <a:latin typeface="Cambria" pitchFamily="34" charset="0"/>
                <a:ea typeface="Cambria" pitchFamily="34" charset="-122"/>
                <a:cs typeface="Cambria" pitchFamily="34" charset="-120"/>
              </a:rPr>
              <a:t>From Insight to Action — Four Priorities</a:t>
            </a:r>
            <a:endParaRPr lang="en-US" sz="3000" dirty="0"/>
          </a:p>
        </p:txBody>
      </p:sp>
      <p:sp>
        <p:nvSpPr>
          <p:cNvPr id="4" name="Shape 2"/>
          <p:cNvSpPr/>
          <p:nvPr/>
        </p:nvSpPr>
        <p:spPr>
          <a:xfrm>
            <a:off x="548640" y="1691640"/>
            <a:ext cx="5440680" cy="2011680"/>
          </a:xfrm>
          <a:prstGeom prst="roundRect">
            <a:avLst>
              <a:gd name="adj" fmla="val 6364"/>
            </a:avLst>
          </a:prstGeom>
          <a:solidFill>
            <a:srgbClr val="111F38"/>
          </a:solidFill>
          <a:ln w="9525">
            <a:solidFill>
              <a:srgbClr val="24314E"/>
            </a:solidFill>
            <a:prstDash val="solid"/>
          </a:ln>
        </p:spPr>
      </p:sp>
      <p:sp>
        <p:nvSpPr>
          <p:cNvPr id="5" name="Shape 3"/>
          <p:cNvSpPr/>
          <p:nvPr/>
        </p:nvSpPr>
        <p:spPr>
          <a:xfrm>
            <a:off x="777240" y="1920240"/>
            <a:ext cx="502920" cy="502920"/>
          </a:xfrm>
          <a:prstGeom prst="ellipse">
            <a:avLst/>
          </a:prstGeom>
          <a:solidFill>
            <a:srgbClr val="EF4444">
              <a:alpha val="18000"/>
            </a:srgbClr>
          </a:solidFill>
          <a:ln w="12700">
            <a:solidFill>
              <a:srgbClr val="EF4444"/>
            </a:solidFill>
            <a:prstDash val="solid"/>
          </a:ln>
        </p:spPr>
      </p:sp>
      <p:sp>
        <p:nvSpPr>
          <p:cNvPr id="6" name="Text 4"/>
          <p:cNvSpPr txBox="1"/>
          <p:nvPr/>
        </p:nvSpPr>
        <p:spPr>
          <a:xfrm>
            <a:off x="777240" y="1901952"/>
            <a:ext cx="502920" cy="502920"/>
          </a:xfrm>
          <a:prstGeom prst="rect">
            <a:avLst/>
          </a:prstGeom>
          <a:noFill/>
          <a:ln/>
        </p:spPr>
        <p:txBody>
          <a:bodyPr wrap="square" lIns="0" tIns="0" rIns="0" bIns="0" rtlCol="0" anchor="ctr"/>
          <a:lstStyle/>
          <a:p>
            <a:pPr algn="ctr" indent="0" marL="0">
              <a:buNone/>
            </a:pPr>
            <a:r>
              <a:rPr lang="en-US" sz="1430" dirty="0">
                <a:solidFill>
                  <a:srgbClr val="EF4444"/>
                </a:solidFill>
                <a:latin typeface="Calibri" pitchFamily="34" charset="0"/>
                <a:ea typeface="Calibri" pitchFamily="34" charset="-122"/>
                <a:cs typeface="Calibri" pitchFamily="34" charset="-120"/>
              </a:rPr>
              <a:t>🚨</a:t>
            </a:r>
            <a:endParaRPr lang="en-US" sz="1430" dirty="0"/>
          </a:p>
        </p:txBody>
      </p:sp>
      <p:sp>
        <p:nvSpPr>
          <p:cNvPr id="7" name="Text 5"/>
          <p:cNvSpPr txBox="1"/>
          <p:nvPr/>
        </p:nvSpPr>
        <p:spPr>
          <a:xfrm>
            <a:off x="1463040" y="1892808"/>
            <a:ext cx="4343400" cy="411480"/>
          </a:xfrm>
          <a:prstGeom prst="rect">
            <a:avLst/>
          </a:prstGeom>
          <a:noFill/>
          <a:ln/>
        </p:spPr>
        <p:txBody>
          <a:bodyPr wrap="square" lIns="0" tIns="0" rIns="0" bIns="0" rtlCol="0" anchor="ctr"/>
          <a:lstStyle/>
          <a:p>
            <a:pPr indent="0" marL="0">
              <a:buNone/>
            </a:pPr>
            <a:r>
              <a:rPr lang="en-US" sz="1500" b="1" dirty="0">
                <a:solidFill>
                  <a:srgbClr val="FFFFFF"/>
                </a:solidFill>
                <a:latin typeface="Cambria" pitchFamily="34" charset="0"/>
                <a:ea typeface="Cambria" pitchFamily="34" charset="-122"/>
                <a:cs typeface="Cambria" pitchFamily="34" charset="-120"/>
              </a:rPr>
              <a:t>Investigate At Risk</a:t>
            </a:r>
            <a:endParaRPr lang="en-US" sz="1500" dirty="0"/>
          </a:p>
        </p:txBody>
      </p:sp>
      <p:sp>
        <p:nvSpPr>
          <p:cNvPr id="8" name="Text 6"/>
          <p:cNvSpPr txBox="1"/>
          <p:nvPr/>
        </p:nvSpPr>
        <p:spPr>
          <a:xfrm>
            <a:off x="804672" y="2496312"/>
            <a:ext cx="4928616" cy="777240"/>
          </a:xfrm>
          <a:prstGeom prst="rect">
            <a:avLst/>
          </a:prstGeom>
          <a:noFill/>
          <a:ln/>
        </p:spPr>
        <p:txBody>
          <a:bodyPr wrap="square" lIns="0" tIns="0" rIns="0" bIns="0" rtlCol="0" anchor="ctr"/>
          <a:lstStyle/>
          <a:p>
            <a:pPr indent="0" marL="0">
              <a:buNone/>
            </a:pPr>
            <a:r>
              <a:rPr lang="en-US" sz="1100" dirty="0">
                <a:solidFill>
                  <a:srgbClr val="A8B8D0"/>
                </a:solidFill>
                <a:latin typeface="Calibri" pitchFamily="34" charset="0"/>
                <a:ea typeface="Calibri" pitchFamily="34" charset="-122"/>
                <a:cs typeface="Calibri" pitchFamily="34" charset="-120"/>
              </a:rPr>
              <a:t>Root-cause the 99.47% cancellation rate before treating it as a marketing segment.</a:t>
            </a:r>
            <a:endParaRPr lang="en-US" sz="1100" dirty="0"/>
          </a:p>
        </p:txBody>
      </p:sp>
      <p:sp>
        <p:nvSpPr>
          <p:cNvPr id="9" name="Text 7"/>
          <p:cNvSpPr txBox="1"/>
          <p:nvPr/>
        </p:nvSpPr>
        <p:spPr>
          <a:xfrm>
            <a:off x="804672" y="3319272"/>
            <a:ext cx="4928616" cy="292608"/>
          </a:xfrm>
          <a:prstGeom prst="rect">
            <a:avLst/>
          </a:prstGeom>
          <a:noFill/>
          <a:ln/>
        </p:spPr>
        <p:txBody>
          <a:bodyPr wrap="square" lIns="0" tIns="0" rIns="0" bIns="0" rtlCol="0" anchor="ctr"/>
          <a:lstStyle/>
          <a:p>
            <a:pPr indent="0" marL="0">
              <a:buNone/>
            </a:pPr>
            <a:r>
              <a:rPr lang="en-US" sz="950" b="1" dirty="0">
                <a:solidFill>
                  <a:srgbClr val="EF4444"/>
                </a:solidFill>
                <a:latin typeface="Calibri" pitchFamily="34" charset="0"/>
                <a:ea typeface="Calibri" pitchFamily="34" charset="-122"/>
                <a:cs typeface="Calibri" pitchFamily="34" charset="-120"/>
              </a:rPr>
              <a:t>Owner: Payments / Fraud</a:t>
            </a:r>
            <a:endParaRPr lang="en-US" sz="950" dirty="0"/>
          </a:p>
        </p:txBody>
      </p:sp>
      <p:sp>
        <p:nvSpPr>
          <p:cNvPr id="10" name="Shape 8"/>
          <p:cNvSpPr/>
          <p:nvPr/>
        </p:nvSpPr>
        <p:spPr>
          <a:xfrm>
            <a:off x="6172200" y="1691640"/>
            <a:ext cx="5440680" cy="2011680"/>
          </a:xfrm>
          <a:prstGeom prst="roundRect">
            <a:avLst>
              <a:gd name="adj" fmla="val 6364"/>
            </a:avLst>
          </a:prstGeom>
          <a:solidFill>
            <a:srgbClr val="111F38"/>
          </a:solidFill>
          <a:ln w="9525">
            <a:solidFill>
              <a:srgbClr val="24314E"/>
            </a:solidFill>
            <a:prstDash val="solid"/>
          </a:ln>
        </p:spPr>
      </p:sp>
      <p:sp>
        <p:nvSpPr>
          <p:cNvPr id="11" name="Shape 9"/>
          <p:cNvSpPr/>
          <p:nvPr/>
        </p:nvSpPr>
        <p:spPr>
          <a:xfrm>
            <a:off x="6400800" y="1920240"/>
            <a:ext cx="502920" cy="502920"/>
          </a:xfrm>
          <a:prstGeom prst="ellipse">
            <a:avLst/>
          </a:prstGeom>
          <a:solidFill>
            <a:srgbClr val="F0B429">
              <a:alpha val="18000"/>
            </a:srgbClr>
          </a:solidFill>
          <a:ln w="12700">
            <a:solidFill>
              <a:srgbClr val="F0B429"/>
            </a:solidFill>
            <a:prstDash val="solid"/>
          </a:ln>
        </p:spPr>
      </p:sp>
      <p:sp>
        <p:nvSpPr>
          <p:cNvPr id="12" name="Text 10"/>
          <p:cNvSpPr txBox="1"/>
          <p:nvPr/>
        </p:nvSpPr>
        <p:spPr>
          <a:xfrm>
            <a:off x="6400800" y="1901952"/>
            <a:ext cx="502920" cy="502920"/>
          </a:xfrm>
          <a:prstGeom prst="rect">
            <a:avLst/>
          </a:prstGeom>
          <a:noFill/>
          <a:ln/>
        </p:spPr>
        <p:txBody>
          <a:bodyPr wrap="square" lIns="0" tIns="0" rIns="0" bIns="0" rtlCol="0" anchor="ctr"/>
          <a:lstStyle/>
          <a:p>
            <a:pPr algn="ctr" indent="0" marL="0">
              <a:buNone/>
            </a:pPr>
            <a:r>
              <a:rPr lang="en-US" sz="1430" dirty="0">
                <a:solidFill>
                  <a:srgbClr val="F0B429"/>
                </a:solidFill>
                <a:latin typeface="Calibri" pitchFamily="34" charset="0"/>
                <a:ea typeface="Calibri" pitchFamily="34" charset="-122"/>
                <a:cs typeface="Calibri" pitchFamily="34" charset="-120"/>
              </a:rPr>
              <a:t>⭐</a:t>
            </a:r>
            <a:endParaRPr lang="en-US" sz="1430" dirty="0"/>
          </a:p>
        </p:txBody>
      </p:sp>
      <p:sp>
        <p:nvSpPr>
          <p:cNvPr id="13" name="Text 11"/>
          <p:cNvSpPr txBox="1"/>
          <p:nvPr/>
        </p:nvSpPr>
        <p:spPr>
          <a:xfrm>
            <a:off x="7086600" y="1892808"/>
            <a:ext cx="4343400" cy="411480"/>
          </a:xfrm>
          <a:prstGeom prst="rect">
            <a:avLst/>
          </a:prstGeom>
          <a:noFill/>
          <a:ln/>
        </p:spPr>
        <p:txBody>
          <a:bodyPr wrap="square" lIns="0" tIns="0" rIns="0" bIns="0" rtlCol="0" anchor="ctr"/>
          <a:lstStyle/>
          <a:p>
            <a:pPr indent="0" marL="0">
              <a:buNone/>
            </a:pPr>
            <a:r>
              <a:rPr lang="en-US" sz="1500" b="1" dirty="0">
                <a:solidFill>
                  <a:srgbClr val="FFFFFF"/>
                </a:solidFill>
                <a:latin typeface="Cambria" pitchFamily="34" charset="0"/>
                <a:ea typeface="Cambria" pitchFamily="34" charset="-122"/>
                <a:cs typeface="Cambria" pitchFamily="34" charset="-120"/>
              </a:rPr>
              <a:t>Protect High Value</a:t>
            </a:r>
            <a:endParaRPr lang="en-US" sz="1500" dirty="0"/>
          </a:p>
        </p:txBody>
      </p:sp>
      <p:sp>
        <p:nvSpPr>
          <p:cNvPr id="14" name="Text 12"/>
          <p:cNvSpPr txBox="1"/>
          <p:nvPr/>
        </p:nvSpPr>
        <p:spPr>
          <a:xfrm>
            <a:off x="6428232" y="2496312"/>
            <a:ext cx="4928616" cy="777240"/>
          </a:xfrm>
          <a:prstGeom prst="rect">
            <a:avLst/>
          </a:prstGeom>
          <a:noFill/>
          <a:ln/>
        </p:spPr>
        <p:txBody>
          <a:bodyPr wrap="square" lIns="0" tIns="0" rIns="0" bIns="0" rtlCol="0" anchor="ctr"/>
          <a:lstStyle/>
          <a:p>
            <a:pPr indent="0" marL="0">
              <a:buNone/>
            </a:pPr>
            <a:r>
              <a:rPr lang="en-US" sz="1100" dirty="0">
                <a:solidFill>
                  <a:srgbClr val="A8B8D0"/>
                </a:solidFill>
                <a:latin typeface="Calibri" pitchFamily="34" charset="0"/>
                <a:ea typeface="Calibri" pitchFamily="34" charset="-122"/>
                <a:cs typeface="Calibri" pitchFamily="34" charset="-120"/>
              </a:rPr>
              <a:t>227 customers drive 54.7% of revenue on a 3.5% cancellation rate — the healthiest segment by far.</a:t>
            </a:r>
            <a:endParaRPr lang="en-US" sz="1100" dirty="0"/>
          </a:p>
        </p:txBody>
      </p:sp>
      <p:sp>
        <p:nvSpPr>
          <p:cNvPr id="15" name="Text 13"/>
          <p:cNvSpPr txBox="1"/>
          <p:nvPr/>
        </p:nvSpPr>
        <p:spPr>
          <a:xfrm>
            <a:off x="6428232" y="3319272"/>
            <a:ext cx="4928616" cy="292608"/>
          </a:xfrm>
          <a:prstGeom prst="rect">
            <a:avLst/>
          </a:prstGeom>
          <a:noFill/>
          <a:ln/>
        </p:spPr>
        <p:txBody>
          <a:bodyPr wrap="square" lIns="0" tIns="0" rIns="0" bIns="0" rtlCol="0" anchor="ctr"/>
          <a:lstStyle/>
          <a:p>
            <a:pPr indent="0" marL="0">
              <a:buNone/>
            </a:pPr>
            <a:r>
              <a:rPr lang="en-US" sz="950" b="1" dirty="0">
                <a:solidFill>
                  <a:srgbClr val="F0B429"/>
                </a:solidFill>
                <a:latin typeface="Calibri" pitchFamily="34" charset="0"/>
                <a:ea typeface="Calibri" pitchFamily="34" charset="-122"/>
                <a:cs typeface="Calibri" pitchFamily="34" charset="-120"/>
              </a:rPr>
              <a:t>Owner: CRM / VIP Program</a:t>
            </a:r>
            <a:endParaRPr lang="en-US" sz="950" dirty="0"/>
          </a:p>
        </p:txBody>
      </p:sp>
      <p:sp>
        <p:nvSpPr>
          <p:cNvPr id="16" name="Shape 14"/>
          <p:cNvSpPr/>
          <p:nvPr/>
        </p:nvSpPr>
        <p:spPr>
          <a:xfrm>
            <a:off x="548640" y="3886200"/>
            <a:ext cx="5440680" cy="2011680"/>
          </a:xfrm>
          <a:prstGeom prst="roundRect">
            <a:avLst>
              <a:gd name="adj" fmla="val 6364"/>
            </a:avLst>
          </a:prstGeom>
          <a:solidFill>
            <a:srgbClr val="111F38"/>
          </a:solidFill>
          <a:ln w="9525">
            <a:solidFill>
              <a:srgbClr val="24314E"/>
            </a:solidFill>
            <a:prstDash val="solid"/>
          </a:ln>
        </p:spPr>
      </p:sp>
      <p:sp>
        <p:nvSpPr>
          <p:cNvPr id="17" name="Shape 15"/>
          <p:cNvSpPr/>
          <p:nvPr/>
        </p:nvSpPr>
        <p:spPr>
          <a:xfrm>
            <a:off x="777240" y="4114800"/>
            <a:ext cx="502920" cy="502920"/>
          </a:xfrm>
          <a:prstGeom prst="ellipse">
            <a:avLst/>
          </a:prstGeom>
          <a:solidFill>
            <a:srgbClr val="3B82F6">
              <a:alpha val="18000"/>
            </a:srgbClr>
          </a:solidFill>
          <a:ln w="12700">
            <a:solidFill>
              <a:srgbClr val="3B82F6"/>
            </a:solidFill>
            <a:prstDash val="solid"/>
          </a:ln>
        </p:spPr>
      </p:sp>
      <p:sp>
        <p:nvSpPr>
          <p:cNvPr id="18" name="Text 16"/>
          <p:cNvSpPr txBox="1"/>
          <p:nvPr/>
        </p:nvSpPr>
        <p:spPr>
          <a:xfrm>
            <a:off x="777240" y="4096512"/>
            <a:ext cx="502920" cy="502920"/>
          </a:xfrm>
          <a:prstGeom prst="rect">
            <a:avLst/>
          </a:prstGeom>
          <a:noFill/>
          <a:ln/>
        </p:spPr>
        <p:txBody>
          <a:bodyPr wrap="square" lIns="0" tIns="0" rIns="0" bIns="0" rtlCol="0" anchor="ctr"/>
          <a:lstStyle/>
          <a:p>
            <a:pPr algn="ctr" indent="0" marL="0">
              <a:buNone/>
            </a:pPr>
            <a:r>
              <a:rPr lang="en-US" sz="1430" dirty="0">
                <a:solidFill>
                  <a:srgbClr val="3B82F6"/>
                </a:solidFill>
                <a:latin typeface="Calibri" pitchFamily="34" charset="0"/>
                <a:ea typeface="Calibri" pitchFamily="34" charset="-122"/>
                <a:cs typeface="Calibri" pitchFamily="34" charset="-120"/>
              </a:rPr>
              <a:t>📈</a:t>
            </a:r>
            <a:endParaRPr lang="en-US" sz="1430" dirty="0"/>
          </a:p>
        </p:txBody>
      </p:sp>
      <p:sp>
        <p:nvSpPr>
          <p:cNvPr id="19" name="Text 17"/>
          <p:cNvSpPr txBox="1"/>
          <p:nvPr/>
        </p:nvSpPr>
        <p:spPr>
          <a:xfrm>
            <a:off x="1463040" y="4087368"/>
            <a:ext cx="4343400" cy="411480"/>
          </a:xfrm>
          <a:prstGeom prst="rect">
            <a:avLst/>
          </a:prstGeom>
          <a:noFill/>
          <a:ln/>
        </p:spPr>
        <p:txBody>
          <a:bodyPr wrap="square" lIns="0" tIns="0" rIns="0" bIns="0" rtlCol="0" anchor="ctr"/>
          <a:lstStyle/>
          <a:p>
            <a:pPr indent="0" marL="0">
              <a:buNone/>
            </a:pPr>
            <a:r>
              <a:rPr lang="en-US" sz="1500" b="1" dirty="0">
                <a:solidFill>
                  <a:srgbClr val="FFFFFF"/>
                </a:solidFill>
                <a:latin typeface="Cambria" pitchFamily="34" charset="0"/>
                <a:ea typeface="Cambria" pitchFamily="34" charset="-122"/>
                <a:cs typeface="Cambria" pitchFamily="34" charset="-120"/>
              </a:rPr>
              <a:t>Nurture Regular to High Value</a:t>
            </a:r>
            <a:endParaRPr lang="en-US" sz="1500" dirty="0"/>
          </a:p>
        </p:txBody>
      </p:sp>
      <p:sp>
        <p:nvSpPr>
          <p:cNvPr id="20" name="Text 18"/>
          <p:cNvSpPr txBox="1"/>
          <p:nvPr/>
        </p:nvSpPr>
        <p:spPr>
          <a:xfrm>
            <a:off x="804672" y="4690872"/>
            <a:ext cx="4928616" cy="777240"/>
          </a:xfrm>
          <a:prstGeom prst="rect">
            <a:avLst/>
          </a:prstGeom>
          <a:noFill/>
          <a:ln/>
        </p:spPr>
        <p:txBody>
          <a:bodyPr wrap="square" lIns="0" tIns="0" rIns="0" bIns="0" rtlCol="0" anchor="ctr"/>
          <a:lstStyle/>
          <a:p>
            <a:pPr indent="0" marL="0">
              <a:buNone/>
            </a:pPr>
            <a:r>
              <a:rPr lang="en-US" sz="1100" dirty="0">
                <a:solidFill>
                  <a:srgbClr val="A8B8D0"/>
                </a:solidFill>
                <a:latin typeface="Calibri" pitchFamily="34" charset="0"/>
                <a:ea typeface="Calibri" pitchFamily="34" charset="-122"/>
                <a:cs typeface="Calibri" pitchFamily="34" charset="-120"/>
              </a:rPr>
              <a:t>Target above-median-frequency Regular customers with bundles, loyalty points, and 3rd/4th-order incentives.</a:t>
            </a:r>
            <a:endParaRPr lang="en-US" sz="1100" dirty="0"/>
          </a:p>
        </p:txBody>
      </p:sp>
      <p:sp>
        <p:nvSpPr>
          <p:cNvPr id="21" name="Text 19"/>
          <p:cNvSpPr txBox="1"/>
          <p:nvPr/>
        </p:nvSpPr>
        <p:spPr>
          <a:xfrm>
            <a:off x="804672" y="5513832"/>
            <a:ext cx="4928616" cy="292608"/>
          </a:xfrm>
          <a:prstGeom prst="rect">
            <a:avLst/>
          </a:prstGeom>
          <a:noFill/>
          <a:ln/>
        </p:spPr>
        <p:txBody>
          <a:bodyPr wrap="square" lIns="0" tIns="0" rIns="0" bIns="0" rtlCol="0" anchor="ctr"/>
          <a:lstStyle/>
          <a:p>
            <a:pPr indent="0" marL="0">
              <a:buNone/>
            </a:pPr>
            <a:r>
              <a:rPr lang="en-US" sz="950" b="1" dirty="0">
                <a:solidFill>
                  <a:srgbClr val="3B82F6"/>
                </a:solidFill>
                <a:latin typeface="Calibri" pitchFamily="34" charset="0"/>
                <a:ea typeface="Calibri" pitchFamily="34" charset="-122"/>
                <a:cs typeface="Calibri" pitchFamily="34" charset="-120"/>
              </a:rPr>
              <a:t>Owner: Lifecycle Marketing</a:t>
            </a:r>
            <a:endParaRPr lang="en-US" sz="950" dirty="0"/>
          </a:p>
        </p:txBody>
      </p:sp>
      <p:sp>
        <p:nvSpPr>
          <p:cNvPr id="22" name="Shape 20"/>
          <p:cNvSpPr/>
          <p:nvPr/>
        </p:nvSpPr>
        <p:spPr>
          <a:xfrm>
            <a:off x="6172200" y="3886200"/>
            <a:ext cx="5440680" cy="2011680"/>
          </a:xfrm>
          <a:prstGeom prst="roundRect">
            <a:avLst>
              <a:gd name="adj" fmla="val 6364"/>
            </a:avLst>
          </a:prstGeom>
          <a:solidFill>
            <a:srgbClr val="111F38"/>
          </a:solidFill>
          <a:ln w="9525">
            <a:solidFill>
              <a:srgbClr val="24314E"/>
            </a:solidFill>
            <a:prstDash val="solid"/>
          </a:ln>
        </p:spPr>
      </p:sp>
      <p:sp>
        <p:nvSpPr>
          <p:cNvPr id="23" name="Shape 21"/>
          <p:cNvSpPr/>
          <p:nvPr/>
        </p:nvSpPr>
        <p:spPr>
          <a:xfrm>
            <a:off x="6400800" y="4114800"/>
            <a:ext cx="502920" cy="502920"/>
          </a:xfrm>
          <a:prstGeom prst="ellipse">
            <a:avLst/>
          </a:prstGeom>
          <a:solidFill>
            <a:srgbClr val="14B8A6">
              <a:alpha val="18000"/>
            </a:srgbClr>
          </a:solidFill>
          <a:ln w="12700">
            <a:solidFill>
              <a:srgbClr val="14B8A6"/>
            </a:solidFill>
            <a:prstDash val="solid"/>
          </a:ln>
        </p:spPr>
      </p:sp>
      <p:sp>
        <p:nvSpPr>
          <p:cNvPr id="24" name="Text 22"/>
          <p:cNvSpPr txBox="1"/>
          <p:nvPr/>
        </p:nvSpPr>
        <p:spPr>
          <a:xfrm>
            <a:off x="6400800" y="4096512"/>
            <a:ext cx="502920" cy="502920"/>
          </a:xfrm>
          <a:prstGeom prst="rect">
            <a:avLst/>
          </a:prstGeom>
          <a:noFill/>
          <a:ln/>
        </p:spPr>
        <p:txBody>
          <a:bodyPr wrap="square" lIns="0" tIns="0" rIns="0" bIns="0" rtlCol="0" anchor="ctr"/>
          <a:lstStyle/>
          <a:p>
            <a:pPr algn="ctr" indent="0" marL="0">
              <a:buNone/>
            </a:pPr>
            <a:r>
              <a:rPr lang="en-US" sz="1430" dirty="0">
                <a:solidFill>
                  <a:srgbClr val="14B8A6"/>
                </a:solidFill>
                <a:latin typeface="Calibri" pitchFamily="34" charset="0"/>
                <a:ea typeface="Calibri" pitchFamily="34" charset="-122"/>
                <a:cs typeface="Calibri" pitchFamily="34" charset="-120"/>
              </a:rPr>
              <a:t>🔁</a:t>
            </a:r>
            <a:endParaRPr lang="en-US" sz="1430" dirty="0"/>
          </a:p>
        </p:txBody>
      </p:sp>
      <p:sp>
        <p:nvSpPr>
          <p:cNvPr id="25" name="Text 23"/>
          <p:cNvSpPr txBox="1"/>
          <p:nvPr/>
        </p:nvSpPr>
        <p:spPr>
          <a:xfrm>
            <a:off x="7086600" y="4087368"/>
            <a:ext cx="4343400" cy="411480"/>
          </a:xfrm>
          <a:prstGeom prst="rect">
            <a:avLst/>
          </a:prstGeom>
          <a:noFill/>
          <a:ln/>
        </p:spPr>
        <p:txBody>
          <a:bodyPr wrap="square" lIns="0" tIns="0" rIns="0" bIns="0" rtlCol="0" anchor="ctr"/>
          <a:lstStyle/>
          <a:p>
            <a:pPr indent="0" marL="0">
              <a:buNone/>
            </a:pPr>
            <a:r>
              <a:rPr lang="en-US" sz="1500" b="1" dirty="0">
                <a:solidFill>
                  <a:srgbClr val="FFFFFF"/>
                </a:solidFill>
                <a:latin typeface="Cambria" pitchFamily="34" charset="0"/>
                <a:ea typeface="Cambria" pitchFamily="34" charset="-122"/>
                <a:cs typeface="Cambria" pitchFamily="34" charset="-120"/>
              </a:rPr>
              <a:t>Re-run Segmentation Quarterly</a:t>
            </a:r>
            <a:endParaRPr lang="en-US" sz="1500" dirty="0"/>
          </a:p>
        </p:txBody>
      </p:sp>
      <p:sp>
        <p:nvSpPr>
          <p:cNvPr id="26" name="Text 24"/>
          <p:cNvSpPr txBox="1"/>
          <p:nvPr/>
        </p:nvSpPr>
        <p:spPr>
          <a:xfrm>
            <a:off x="6428232" y="4690872"/>
            <a:ext cx="4928616" cy="777240"/>
          </a:xfrm>
          <a:prstGeom prst="rect">
            <a:avLst/>
          </a:prstGeom>
          <a:noFill/>
          <a:ln/>
        </p:spPr>
        <p:txBody>
          <a:bodyPr wrap="square" lIns="0" tIns="0" rIns="0" bIns="0" rtlCol="0" anchor="ctr"/>
          <a:lstStyle/>
          <a:p>
            <a:pPr indent="0" marL="0">
              <a:buNone/>
            </a:pPr>
            <a:r>
              <a:rPr lang="en-US" sz="1100" dirty="0">
                <a:solidFill>
                  <a:srgbClr val="A8B8D0"/>
                </a:solidFill>
                <a:latin typeface="Calibri" pitchFamily="34" charset="0"/>
                <a:ea typeface="Calibri" pitchFamily="34" charset="-122"/>
                <a:cs typeface="Calibri" pitchFamily="34" charset="-120"/>
              </a:rPr>
              <a:t>Behavior shifts seasonally — refresh the model and track segment migration as a health indicator.</a:t>
            </a:r>
            <a:endParaRPr lang="en-US" sz="1100" dirty="0"/>
          </a:p>
        </p:txBody>
      </p:sp>
      <p:sp>
        <p:nvSpPr>
          <p:cNvPr id="27" name="Text 25"/>
          <p:cNvSpPr txBox="1"/>
          <p:nvPr/>
        </p:nvSpPr>
        <p:spPr>
          <a:xfrm>
            <a:off x="6428232" y="5513832"/>
            <a:ext cx="4928616" cy="292608"/>
          </a:xfrm>
          <a:prstGeom prst="rect">
            <a:avLst/>
          </a:prstGeom>
          <a:noFill/>
          <a:ln/>
        </p:spPr>
        <p:txBody>
          <a:bodyPr wrap="square" lIns="0" tIns="0" rIns="0" bIns="0" rtlCol="0" anchor="ctr"/>
          <a:lstStyle/>
          <a:p>
            <a:pPr indent="0" marL="0">
              <a:buNone/>
            </a:pPr>
            <a:r>
              <a:rPr lang="en-US" sz="950" b="1" dirty="0">
                <a:solidFill>
                  <a:srgbClr val="14B8A6"/>
                </a:solidFill>
                <a:latin typeface="Calibri" pitchFamily="34" charset="0"/>
                <a:ea typeface="Calibri" pitchFamily="34" charset="-122"/>
                <a:cs typeface="Calibri" pitchFamily="34" charset="-120"/>
              </a:rPr>
              <a:t>Owner: Data / Analytics</a:t>
            </a:r>
            <a:endParaRPr lang="en-US" sz="950" dirty="0"/>
          </a:p>
        </p:txBody>
      </p:sp>
      <p:sp>
        <p:nvSpPr>
          <p:cNvPr id="28" name="Text 26"/>
          <p:cNvSpPr/>
          <p:nvPr/>
        </p:nvSpPr>
        <p:spPr>
          <a:xfrm>
            <a:off x="457200" y="6528816"/>
            <a:ext cx="7315200" cy="274320"/>
          </a:xfrm>
          <a:prstGeom prst="rect">
            <a:avLst/>
          </a:prstGeom>
          <a:noFill/>
          <a:ln/>
        </p:spPr>
        <p:txBody>
          <a:bodyPr wrap="square" lIns="0" tIns="0" rIns="0" bIns="0" rtlCol="0" anchor="ctr"/>
          <a:lstStyle/>
          <a:p>
            <a:pPr algn="l" indent="0" marL="0">
              <a:buNone/>
            </a:pPr>
            <a:r>
              <a:rPr lang="en-US" sz="900" dirty="0">
                <a:solidFill>
                  <a:srgbClr val="72859E"/>
                </a:solidFill>
                <a:latin typeface="Calibri" pitchFamily="34" charset="0"/>
                <a:ea typeface="Calibri" pitchFamily="34" charset="-122"/>
                <a:cs typeface="Calibri" pitchFamily="34" charset="-120"/>
              </a:rPr>
              <a:t>Online Retail Business · Customer Segmentation</a:t>
            </a:r>
            <a:endParaRPr lang="en-US" sz="900" dirty="0"/>
          </a:p>
        </p:txBody>
      </p:sp>
      <p:sp>
        <p:nvSpPr>
          <p:cNvPr id="29" name="Text 27"/>
          <p:cNvSpPr/>
          <p:nvPr/>
        </p:nvSpPr>
        <p:spPr>
          <a:xfrm>
            <a:off x="11000232" y="6528816"/>
            <a:ext cx="731520" cy="274320"/>
          </a:xfrm>
          <a:prstGeom prst="rect">
            <a:avLst/>
          </a:prstGeom>
          <a:noFill/>
          <a:ln/>
        </p:spPr>
        <p:txBody>
          <a:bodyPr wrap="square" lIns="0" tIns="0" rIns="0" bIns="0" rtlCol="0" anchor="ctr"/>
          <a:lstStyle/>
          <a:p>
            <a:pPr algn="r" indent="0" marL="0">
              <a:buNone/>
            </a:pPr>
            <a:r>
              <a:rPr lang="en-US" sz="900" dirty="0">
                <a:solidFill>
                  <a:srgbClr val="72859E"/>
                </a:solidFill>
                <a:latin typeface="Calibri" pitchFamily="34" charset="0"/>
                <a:ea typeface="Calibri" pitchFamily="34" charset="-122"/>
                <a:cs typeface="Calibri" pitchFamily="34" charset="-120"/>
              </a:rPr>
              <a:t>14 / 18</a:t>
            </a:r>
            <a:endParaRPr lang="en-US" sz="9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0B1220"/>
        </a:solidFill>
      </p:bgPr>
    </p:bg>
    <p:spTree>
      <p:nvGrpSpPr>
        <p:cNvPr id="1" name=""/>
        <p:cNvGrpSpPr/>
        <p:nvPr/>
      </p:nvGrpSpPr>
      <p:grpSpPr>
        <a:xfrm>
          <a:off x="0" y="0"/>
          <a:ext cx="0" cy="0"/>
          <a:chOff x="0" y="0"/>
          <a:chExt cx="0" cy="0"/>
        </a:xfrm>
      </p:grpSpPr>
      <p:sp>
        <p:nvSpPr>
          <p:cNvPr id="2" name="Text 0"/>
          <p:cNvSpPr txBox="1"/>
          <p:nvPr/>
        </p:nvSpPr>
        <p:spPr>
          <a:xfrm>
            <a:off x="548640" y="201168"/>
            <a:ext cx="7315200" cy="274320"/>
          </a:xfrm>
          <a:prstGeom prst="rect">
            <a:avLst/>
          </a:prstGeom>
          <a:noFill/>
          <a:ln/>
        </p:spPr>
        <p:txBody>
          <a:bodyPr wrap="square" lIns="0" tIns="0" rIns="0" bIns="0" rtlCol="0" anchor="ctr"/>
          <a:lstStyle/>
          <a:p>
            <a:pPr algn="l" indent="0" marL="0">
              <a:buNone/>
            </a:pPr>
            <a:r>
              <a:rPr lang="en-US" sz="1100" b="1" spc="200" kern="0" dirty="0">
                <a:solidFill>
                  <a:srgbClr val="F0B429"/>
                </a:solidFill>
                <a:latin typeface="Calibri" pitchFamily="34" charset="0"/>
                <a:ea typeface="Calibri" pitchFamily="34" charset="-122"/>
                <a:cs typeface="Calibri" pitchFamily="34" charset="-120"/>
              </a:rPr>
              <a:t>BUSINESS PLAN</a:t>
            </a:r>
            <a:endParaRPr lang="en-US" sz="1100" dirty="0"/>
          </a:p>
        </p:txBody>
      </p:sp>
      <p:sp>
        <p:nvSpPr>
          <p:cNvPr id="3" name="Text 1"/>
          <p:cNvSpPr txBox="1"/>
          <p:nvPr/>
        </p:nvSpPr>
        <p:spPr>
          <a:xfrm>
            <a:off x="548640" y="411480"/>
            <a:ext cx="11064240" cy="685800"/>
          </a:xfrm>
          <a:prstGeom prst="rect">
            <a:avLst/>
          </a:prstGeom>
          <a:noFill/>
          <a:ln/>
        </p:spPr>
        <p:txBody>
          <a:bodyPr wrap="square" lIns="0" tIns="0" rIns="0" bIns="0" rtlCol="0" anchor="ctr"/>
          <a:lstStyle/>
          <a:p>
            <a:pPr algn="l" indent="0" marL="0">
              <a:buNone/>
            </a:pPr>
            <a:r>
              <a:rPr lang="en-US" sz="3000" b="1" dirty="0">
                <a:solidFill>
                  <a:srgbClr val="FFFFFF"/>
                </a:solidFill>
                <a:latin typeface="Cambria" pitchFamily="34" charset="0"/>
                <a:ea typeface="Cambria" pitchFamily="34" charset="-122"/>
                <a:cs typeface="Cambria" pitchFamily="34" charset="-120"/>
              </a:rPr>
              <a:t>Turning the Roadmap Into a Quarterly Plan</a:t>
            </a:r>
            <a:endParaRPr lang="en-US" sz="3000" dirty="0"/>
          </a:p>
        </p:txBody>
      </p:sp>
      <p:sp>
        <p:nvSpPr>
          <p:cNvPr id="4" name="Text 2"/>
          <p:cNvSpPr txBox="1"/>
          <p:nvPr/>
        </p:nvSpPr>
        <p:spPr>
          <a:xfrm>
            <a:off x="548640" y="1298448"/>
            <a:ext cx="10789920" cy="365760"/>
          </a:xfrm>
          <a:prstGeom prst="rect">
            <a:avLst/>
          </a:prstGeom>
          <a:noFill/>
          <a:ln/>
        </p:spPr>
        <p:txBody>
          <a:bodyPr wrap="square" lIns="0" tIns="0" rIns="0" bIns="0" rtlCol="0" anchor="ctr"/>
          <a:lstStyle/>
          <a:p>
            <a:pPr indent="0" marL="0">
              <a:buNone/>
            </a:pPr>
            <a:r>
              <a:rPr lang="en-US" sz="1250" dirty="0">
                <a:solidFill>
                  <a:srgbClr val="A8B8D0"/>
                </a:solidFill>
                <a:latin typeface="Calibri" pitchFamily="34" charset="0"/>
                <a:ea typeface="Calibri" pitchFamily="34" charset="-122"/>
                <a:cs typeface="Calibri" pitchFamily="34" charset="-120"/>
              </a:rPr>
              <a:t>Each priority gets an owner, a concrete target, and a quarter to hit it by — not just a suggestion.</a:t>
            </a:r>
            <a:endParaRPr lang="en-US" sz="1250" dirty="0"/>
          </a:p>
        </p:txBody>
      </p:sp>
      <p:sp>
        <p:nvSpPr>
          <p:cNvPr id="5" name="Shape 3"/>
          <p:cNvSpPr/>
          <p:nvPr/>
        </p:nvSpPr>
        <p:spPr>
          <a:xfrm>
            <a:off x="548640" y="1965960"/>
            <a:ext cx="2697480" cy="4160520"/>
          </a:xfrm>
          <a:prstGeom prst="roundRect">
            <a:avLst>
              <a:gd name="adj" fmla="val 4746"/>
            </a:avLst>
          </a:prstGeom>
          <a:solidFill>
            <a:srgbClr val="111F38"/>
          </a:solidFill>
          <a:ln w="12700">
            <a:solidFill>
              <a:srgbClr val="EF4444"/>
            </a:solidFill>
            <a:prstDash val="solid"/>
          </a:ln>
        </p:spPr>
      </p:sp>
      <p:sp>
        <p:nvSpPr>
          <p:cNvPr id="6" name="Shape 4"/>
          <p:cNvSpPr/>
          <p:nvPr/>
        </p:nvSpPr>
        <p:spPr>
          <a:xfrm>
            <a:off x="548640" y="1965960"/>
            <a:ext cx="2697480" cy="502920"/>
          </a:xfrm>
          <a:prstGeom prst="roundRect">
            <a:avLst>
              <a:gd name="adj" fmla="val 25455"/>
            </a:avLst>
          </a:prstGeom>
          <a:solidFill>
            <a:srgbClr val="EF4444">
              <a:alpha val="18000"/>
            </a:srgbClr>
          </a:solidFill>
          <a:ln/>
        </p:spPr>
      </p:sp>
      <p:sp>
        <p:nvSpPr>
          <p:cNvPr id="7" name="Text 5"/>
          <p:cNvSpPr txBox="1"/>
          <p:nvPr/>
        </p:nvSpPr>
        <p:spPr>
          <a:xfrm>
            <a:off x="731520" y="1965960"/>
            <a:ext cx="2331720" cy="502920"/>
          </a:xfrm>
          <a:prstGeom prst="rect">
            <a:avLst/>
          </a:prstGeom>
          <a:noFill/>
          <a:ln/>
        </p:spPr>
        <p:txBody>
          <a:bodyPr wrap="square" lIns="0" tIns="0" rIns="0" bIns="0" rtlCol="0" anchor="ctr"/>
          <a:lstStyle/>
          <a:p>
            <a:pPr indent="0" marL="0">
              <a:buNone/>
            </a:pPr>
            <a:r>
              <a:rPr lang="en-US" sz="1600" b="1" dirty="0">
                <a:solidFill>
                  <a:srgbClr val="EF4444"/>
                </a:solidFill>
                <a:latin typeface="Cambria" pitchFamily="34" charset="0"/>
                <a:ea typeface="Cambria" pitchFamily="34" charset="-122"/>
                <a:cs typeface="Cambria" pitchFamily="34" charset="-120"/>
              </a:rPr>
              <a:t>Q1</a:t>
            </a:r>
            <a:endParaRPr lang="en-US" sz="1600" dirty="0"/>
          </a:p>
        </p:txBody>
      </p:sp>
      <p:sp>
        <p:nvSpPr>
          <p:cNvPr id="8" name="Text 6"/>
          <p:cNvSpPr txBox="1"/>
          <p:nvPr/>
        </p:nvSpPr>
        <p:spPr>
          <a:xfrm>
            <a:off x="731520" y="2606040"/>
            <a:ext cx="2331720" cy="502920"/>
          </a:xfrm>
          <a:prstGeom prst="rect">
            <a:avLst/>
          </a:prstGeom>
          <a:noFill/>
          <a:ln/>
        </p:spPr>
        <p:txBody>
          <a:bodyPr wrap="square" lIns="0" tIns="0" rIns="0" bIns="0" rtlCol="0" anchor="ctr"/>
          <a:lstStyle/>
          <a:p>
            <a:pPr indent="0" marL="0">
              <a:buNone/>
            </a:pPr>
            <a:r>
              <a:rPr lang="en-US" sz="1350" b="1" dirty="0">
                <a:solidFill>
                  <a:srgbClr val="FFFFFF"/>
                </a:solidFill>
                <a:latin typeface="Cambria" pitchFamily="34" charset="0"/>
                <a:ea typeface="Cambria" pitchFamily="34" charset="-122"/>
                <a:cs typeface="Cambria" pitchFamily="34" charset="-120"/>
              </a:rPr>
              <a:t>Stop the Bleeding</a:t>
            </a:r>
            <a:endParaRPr lang="en-US" sz="1350" dirty="0"/>
          </a:p>
        </p:txBody>
      </p:sp>
      <p:sp>
        <p:nvSpPr>
          <p:cNvPr id="9" name="Text 7"/>
          <p:cNvSpPr txBox="1"/>
          <p:nvPr/>
        </p:nvSpPr>
        <p:spPr>
          <a:xfrm>
            <a:off x="731520" y="3127248"/>
            <a:ext cx="2331720" cy="1051560"/>
          </a:xfrm>
          <a:prstGeom prst="rect">
            <a:avLst/>
          </a:prstGeom>
          <a:noFill/>
          <a:ln/>
        </p:spPr>
        <p:txBody>
          <a:bodyPr wrap="square" lIns="0" tIns="0" rIns="0" bIns="0" rtlCol="0" anchor="t"/>
          <a:lstStyle/>
          <a:p>
            <a:pPr marL="152400" indent="-152400">
              <a:spcAft>
                <a:spcPts val="600"/>
              </a:spcAft>
              <a:buSzPct val="100000"/>
              <a:buChar char="●"/>
            </a:pPr>
            <a:r>
              <a:rPr lang="en-US" sz="1000" dirty="0">
                <a:solidFill>
                  <a:srgbClr val="A8B8D0"/>
                </a:solidFill>
                <a:latin typeface="Calibri" pitchFamily="34" charset="0"/>
                <a:ea typeface="Calibri" pitchFamily="34" charset="-122"/>
                <a:cs typeface="Calibri" pitchFamily="34" charset="-120"/>
              </a:rPr>
              <a:t>Audit At Risk payment/fraud logs</a:t>
            </a:r>
            <a:endParaRPr lang="en-US" sz="1000" dirty="0"/>
          </a:p>
          <a:p>
            <a:pPr marL="152400" indent="-152400">
              <a:spcAft>
                <a:spcPts val="600"/>
              </a:spcAft>
              <a:buSzPct val="100000"/>
              <a:buChar char="●"/>
            </a:pPr>
            <a:r>
              <a:rPr lang="en-US" sz="1000" dirty="0">
                <a:solidFill>
                  <a:srgbClr val="A8B8D0"/>
                </a:solidFill>
                <a:latin typeface="Calibri" pitchFamily="34" charset="0"/>
                <a:ea typeface="Calibri" pitchFamily="34" charset="-122"/>
                <a:cs typeface="Calibri" pitchFamily="34" charset="-120"/>
              </a:rPr>
              <a:t>Exclude At Risk from retention spend</a:t>
            </a:r>
            <a:endParaRPr lang="en-US" sz="1000" dirty="0"/>
          </a:p>
        </p:txBody>
      </p:sp>
      <p:sp>
        <p:nvSpPr>
          <p:cNvPr id="10" name="Shape 8"/>
          <p:cNvSpPr/>
          <p:nvPr/>
        </p:nvSpPr>
        <p:spPr>
          <a:xfrm>
            <a:off x="731520" y="4187952"/>
            <a:ext cx="2331720" cy="0"/>
          </a:xfrm>
          <a:prstGeom prst="line">
            <a:avLst/>
          </a:prstGeom>
          <a:noFill/>
          <a:ln w="9525">
            <a:solidFill>
              <a:srgbClr val="24314E"/>
            </a:solidFill>
            <a:prstDash val="solid"/>
          </a:ln>
        </p:spPr>
      </p:sp>
      <p:sp>
        <p:nvSpPr>
          <p:cNvPr id="11" name="Text 9"/>
          <p:cNvSpPr txBox="1"/>
          <p:nvPr/>
        </p:nvSpPr>
        <p:spPr>
          <a:xfrm>
            <a:off x="731520" y="4279392"/>
            <a:ext cx="2331720" cy="1234440"/>
          </a:xfrm>
          <a:prstGeom prst="rect">
            <a:avLst/>
          </a:prstGeom>
          <a:noFill/>
          <a:ln/>
        </p:spPr>
        <p:txBody>
          <a:bodyPr wrap="square" lIns="0" tIns="0" rIns="0" bIns="0" rtlCol="0" anchor="t"/>
          <a:lstStyle/>
          <a:p>
            <a:pPr indent="0" marL="0">
              <a:buNone/>
            </a:pPr>
            <a:r>
              <a:rPr lang="en-US" sz="1000" b="1" dirty="0">
                <a:solidFill>
                  <a:srgbClr val="EF4444"/>
                </a:solidFill>
                <a:latin typeface="Calibri" pitchFamily="34" charset="0"/>
                <a:ea typeface="Calibri" pitchFamily="34" charset="-122"/>
                <a:cs typeface="Calibri" pitchFamily="34" charset="-120"/>
              </a:rPr>
              <a:t>Target: cancellation rate &lt; 15% or root cause confirmed &amp; written off</a:t>
            </a:r>
            <a:endParaRPr lang="en-US" sz="1000" dirty="0"/>
          </a:p>
        </p:txBody>
      </p:sp>
      <p:sp>
        <p:nvSpPr>
          <p:cNvPr id="12" name="Text 10"/>
          <p:cNvSpPr txBox="1"/>
          <p:nvPr/>
        </p:nvSpPr>
        <p:spPr>
          <a:xfrm>
            <a:off x="731520" y="5806440"/>
            <a:ext cx="2331720" cy="274320"/>
          </a:xfrm>
          <a:prstGeom prst="rect">
            <a:avLst/>
          </a:prstGeom>
          <a:noFill/>
          <a:ln/>
        </p:spPr>
        <p:txBody>
          <a:bodyPr wrap="square" lIns="0" tIns="0" rIns="0" bIns="0" rtlCol="0" anchor="ctr"/>
          <a:lstStyle/>
          <a:p>
            <a:pPr indent="0" marL="0">
              <a:buNone/>
            </a:pPr>
            <a:r>
              <a:rPr lang="en-US" sz="900" dirty="0">
                <a:solidFill>
                  <a:srgbClr val="72859E"/>
                </a:solidFill>
                <a:latin typeface="Calibri" pitchFamily="34" charset="0"/>
                <a:ea typeface="Calibri" pitchFamily="34" charset="-122"/>
                <a:cs typeface="Calibri" pitchFamily="34" charset="-120"/>
              </a:rPr>
              <a:t>Owner: Payments / Fraud</a:t>
            </a:r>
            <a:endParaRPr lang="en-US" sz="900" dirty="0"/>
          </a:p>
        </p:txBody>
      </p:sp>
      <p:sp>
        <p:nvSpPr>
          <p:cNvPr id="13" name="Shape 11"/>
          <p:cNvSpPr/>
          <p:nvPr/>
        </p:nvSpPr>
        <p:spPr>
          <a:xfrm>
            <a:off x="3383280" y="1965960"/>
            <a:ext cx="2697480" cy="4160520"/>
          </a:xfrm>
          <a:prstGeom prst="roundRect">
            <a:avLst>
              <a:gd name="adj" fmla="val 4746"/>
            </a:avLst>
          </a:prstGeom>
          <a:solidFill>
            <a:srgbClr val="111F38"/>
          </a:solidFill>
          <a:ln w="12700">
            <a:solidFill>
              <a:srgbClr val="3B82F6"/>
            </a:solidFill>
            <a:prstDash val="solid"/>
          </a:ln>
        </p:spPr>
      </p:sp>
      <p:sp>
        <p:nvSpPr>
          <p:cNvPr id="14" name="Shape 12"/>
          <p:cNvSpPr/>
          <p:nvPr/>
        </p:nvSpPr>
        <p:spPr>
          <a:xfrm>
            <a:off x="3383280" y="1965960"/>
            <a:ext cx="2697480" cy="502920"/>
          </a:xfrm>
          <a:prstGeom prst="roundRect">
            <a:avLst>
              <a:gd name="adj" fmla="val 25455"/>
            </a:avLst>
          </a:prstGeom>
          <a:solidFill>
            <a:srgbClr val="3B82F6">
              <a:alpha val="18000"/>
            </a:srgbClr>
          </a:solidFill>
          <a:ln/>
        </p:spPr>
      </p:sp>
      <p:sp>
        <p:nvSpPr>
          <p:cNvPr id="15" name="Text 13"/>
          <p:cNvSpPr txBox="1"/>
          <p:nvPr/>
        </p:nvSpPr>
        <p:spPr>
          <a:xfrm>
            <a:off x="3566160" y="1965960"/>
            <a:ext cx="2331720" cy="502920"/>
          </a:xfrm>
          <a:prstGeom prst="rect">
            <a:avLst/>
          </a:prstGeom>
          <a:noFill/>
          <a:ln/>
        </p:spPr>
        <p:txBody>
          <a:bodyPr wrap="square" lIns="0" tIns="0" rIns="0" bIns="0" rtlCol="0" anchor="ctr"/>
          <a:lstStyle/>
          <a:p>
            <a:pPr indent="0" marL="0">
              <a:buNone/>
            </a:pPr>
            <a:r>
              <a:rPr lang="en-US" sz="1600" b="1" dirty="0">
                <a:solidFill>
                  <a:srgbClr val="3B82F6"/>
                </a:solidFill>
                <a:latin typeface="Cambria" pitchFamily="34" charset="0"/>
                <a:ea typeface="Cambria" pitchFamily="34" charset="-122"/>
                <a:cs typeface="Cambria" pitchFamily="34" charset="-120"/>
              </a:rPr>
              <a:t>Q1–Q2</a:t>
            </a:r>
            <a:endParaRPr lang="en-US" sz="1600" dirty="0"/>
          </a:p>
        </p:txBody>
      </p:sp>
      <p:sp>
        <p:nvSpPr>
          <p:cNvPr id="16" name="Text 14"/>
          <p:cNvSpPr txBox="1"/>
          <p:nvPr/>
        </p:nvSpPr>
        <p:spPr>
          <a:xfrm>
            <a:off x="3566160" y="2606040"/>
            <a:ext cx="2331720" cy="502920"/>
          </a:xfrm>
          <a:prstGeom prst="rect">
            <a:avLst/>
          </a:prstGeom>
          <a:noFill/>
          <a:ln/>
        </p:spPr>
        <p:txBody>
          <a:bodyPr wrap="square" lIns="0" tIns="0" rIns="0" bIns="0" rtlCol="0" anchor="ctr"/>
          <a:lstStyle/>
          <a:p>
            <a:pPr indent="0" marL="0">
              <a:buNone/>
            </a:pPr>
            <a:r>
              <a:rPr lang="en-US" sz="1350" b="1" dirty="0">
                <a:solidFill>
                  <a:srgbClr val="FFFFFF"/>
                </a:solidFill>
                <a:latin typeface="Cambria" pitchFamily="34" charset="0"/>
                <a:ea typeface="Cambria" pitchFamily="34" charset="-122"/>
                <a:cs typeface="Cambria" pitchFamily="34" charset="-120"/>
              </a:rPr>
              <a:t>Pilot the Nurture Track</a:t>
            </a:r>
            <a:endParaRPr lang="en-US" sz="1350" dirty="0"/>
          </a:p>
        </p:txBody>
      </p:sp>
      <p:sp>
        <p:nvSpPr>
          <p:cNvPr id="17" name="Text 15"/>
          <p:cNvSpPr txBox="1"/>
          <p:nvPr/>
        </p:nvSpPr>
        <p:spPr>
          <a:xfrm>
            <a:off x="3566160" y="3127248"/>
            <a:ext cx="2331720" cy="1051560"/>
          </a:xfrm>
          <a:prstGeom prst="rect">
            <a:avLst/>
          </a:prstGeom>
          <a:noFill/>
          <a:ln/>
        </p:spPr>
        <p:txBody>
          <a:bodyPr wrap="square" lIns="0" tIns="0" rIns="0" bIns="0" rtlCol="0" anchor="t"/>
          <a:lstStyle/>
          <a:p>
            <a:pPr marL="152400" indent="-152400">
              <a:spcAft>
                <a:spcPts val="600"/>
              </a:spcAft>
              <a:buSzPct val="100000"/>
              <a:buChar char="●"/>
            </a:pPr>
            <a:r>
              <a:rPr lang="en-US" sz="1000" dirty="0">
                <a:solidFill>
                  <a:srgbClr val="A8B8D0"/>
                </a:solidFill>
                <a:latin typeface="Calibri" pitchFamily="34" charset="0"/>
                <a:ea typeface="Calibri" pitchFamily="34" charset="-122"/>
                <a:cs typeface="Calibri" pitchFamily="34" charset="-120"/>
              </a:rPr>
              <a:t>Launch bundles &amp; loyalty incentives</a:t>
            </a:r>
            <a:endParaRPr lang="en-US" sz="1000" dirty="0"/>
          </a:p>
          <a:p>
            <a:pPr marL="152400" indent="-152400">
              <a:spcAft>
                <a:spcPts val="600"/>
              </a:spcAft>
              <a:buSzPct val="100000"/>
              <a:buChar char="●"/>
            </a:pPr>
            <a:r>
              <a:rPr lang="en-US" sz="1000" dirty="0">
                <a:solidFill>
                  <a:srgbClr val="A8B8D0"/>
                </a:solidFill>
                <a:latin typeface="Calibri" pitchFamily="34" charset="0"/>
                <a:ea typeface="Calibri" pitchFamily="34" charset="-122"/>
                <a:cs typeface="Calibri" pitchFamily="34" charset="-120"/>
              </a:rPr>
              <a:t>Target top-frequency Regular customers</a:t>
            </a:r>
            <a:endParaRPr lang="en-US" sz="1000" dirty="0"/>
          </a:p>
        </p:txBody>
      </p:sp>
      <p:sp>
        <p:nvSpPr>
          <p:cNvPr id="18" name="Shape 16"/>
          <p:cNvSpPr/>
          <p:nvPr/>
        </p:nvSpPr>
        <p:spPr>
          <a:xfrm>
            <a:off x="3566160" y="4187952"/>
            <a:ext cx="2331720" cy="0"/>
          </a:xfrm>
          <a:prstGeom prst="line">
            <a:avLst/>
          </a:prstGeom>
          <a:noFill/>
          <a:ln w="9525">
            <a:solidFill>
              <a:srgbClr val="24314E"/>
            </a:solidFill>
            <a:prstDash val="solid"/>
          </a:ln>
        </p:spPr>
      </p:sp>
      <p:sp>
        <p:nvSpPr>
          <p:cNvPr id="19" name="Text 17"/>
          <p:cNvSpPr txBox="1"/>
          <p:nvPr/>
        </p:nvSpPr>
        <p:spPr>
          <a:xfrm>
            <a:off x="3566160" y="4279392"/>
            <a:ext cx="2331720" cy="1234440"/>
          </a:xfrm>
          <a:prstGeom prst="rect">
            <a:avLst/>
          </a:prstGeom>
          <a:noFill/>
          <a:ln/>
        </p:spPr>
        <p:txBody>
          <a:bodyPr wrap="square" lIns="0" tIns="0" rIns="0" bIns="0" rtlCol="0" anchor="t"/>
          <a:lstStyle/>
          <a:p>
            <a:pPr indent="0" marL="0">
              <a:buNone/>
            </a:pPr>
            <a:r>
              <a:rPr lang="en-US" sz="1000" b="1" dirty="0">
                <a:solidFill>
                  <a:srgbClr val="3B82F6"/>
                </a:solidFill>
                <a:latin typeface="Calibri" pitchFamily="34" charset="0"/>
                <a:ea typeface="Calibri" pitchFamily="34" charset="-122"/>
                <a:cs typeface="Calibri" pitchFamily="34" charset="-120"/>
              </a:rPr>
              <a:t>Target: 10% of piloted customers shift ≥1 tier by end of Q2</a:t>
            </a:r>
            <a:endParaRPr lang="en-US" sz="1000" dirty="0"/>
          </a:p>
        </p:txBody>
      </p:sp>
      <p:sp>
        <p:nvSpPr>
          <p:cNvPr id="20" name="Text 18"/>
          <p:cNvSpPr txBox="1"/>
          <p:nvPr/>
        </p:nvSpPr>
        <p:spPr>
          <a:xfrm>
            <a:off x="3566160" y="5806440"/>
            <a:ext cx="2331720" cy="274320"/>
          </a:xfrm>
          <a:prstGeom prst="rect">
            <a:avLst/>
          </a:prstGeom>
          <a:noFill/>
          <a:ln/>
        </p:spPr>
        <p:txBody>
          <a:bodyPr wrap="square" lIns="0" tIns="0" rIns="0" bIns="0" rtlCol="0" anchor="ctr"/>
          <a:lstStyle/>
          <a:p>
            <a:pPr indent="0" marL="0">
              <a:buNone/>
            </a:pPr>
            <a:r>
              <a:rPr lang="en-US" sz="900" dirty="0">
                <a:solidFill>
                  <a:srgbClr val="72859E"/>
                </a:solidFill>
                <a:latin typeface="Calibri" pitchFamily="34" charset="0"/>
                <a:ea typeface="Calibri" pitchFamily="34" charset="-122"/>
                <a:cs typeface="Calibri" pitchFamily="34" charset="-120"/>
              </a:rPr>
              <a:t>Owner: Lifecycle Marketing</a:t>
            </a:r>
            <a:endParaRPr lang="en-US" sz="900" dirty="0"/>
          </a:p>
        </p:txBody>
      </p:sp>
      <p:sp>
        <p:nvSpPr>
          <p:cNvPr id="21" name="Shape 19"/>
          <p:cNvSpPr/>
          <p:nvPr/>
        </p:nvSpPr>
        <p:spPr>
          <a:xfrm>
            <a:off x="6217920" y="1965960"/>
            <a:ext cx="2697480" cy="4160520"/>
          </a:xfrm>
          <a:prstGeom prst="roundRect">
            <a:avLst>
              <a:gd name="adj" fmla="val 4746"/>
            </a:avLst>
          </a:prstGeom>
          <a:solidFill>
            <a:srgbClr val="111F38"/>
          </a:solidFill>
          <a:ln w="12700">
            <a:solidFill>
              <a:srgbClr val="F0B429"/>
            </a:solidFill>
            <a:prstDash val="solid"/>
          </a:ln>
        </p:spPr>
      </p:sp>
      <p:sp>
        <p:nvSpPr>
          <p:cNvPr id="22" name="Shape 20"/>
          <p:cNvSpPr/>
          <p:nvPr/>
        </p:nvSpPr>
        <p:spPr>
          <a:xfrm>
            <a:off x="6217920" y="1965960"/>
            <a:ext cx="2697480" cy="502920"/>
          </a:xfrm>
          <a:prstGeom prst="roundRect">
            <a:avLst>
              <a:gd name="adj" fmla="val 25455"/>
            </a:avLst>
          </a:prstGeom>
          <a:solidFill>
            <a:srgbClr val="F0B429">
              <a:alpha val="18000"/>
            </a:srgbClr>
          </a:solidFill>
          <a:ln/>
        </p:spPr>
      </p:sp>
      <p:sp>
        <p:nvSpPr>
          <p:cNvPr id="23" name="Text 21"/>
          <p:cNvSpPr txBox="1"/>
          <p:nvPr/>
        </p:nvSpPr>
        <p:spPr>
          <a:xfrm>
            <a:off x="6400800" y="1965960"/>
            <a:ext cx="2331720" cy="502920"/>
          </a:xfrm>
          <a:prstGeom prst="rect">
            <a:avLst/>
          </a:prstGeom>
          <a:noFill/>
          <a:ln/>
        </p:spPr>
        <p:txBody>
          <a:bodyPr wrap="square" lIns="0" tIns="0" rIns="0" bIns="0" rtlCol="0" anchor="ctr"/>
          <a:lstStyle/>
          <a:p>
            <a:pPr indent="0" marL="0">
              <a:buNone/>
            </a:pPr>
            <a:r>
              <a:rPr lang="en-US" sz="1600" b="1" dirty="0">
                <a:solidFill>
                  <a:srgbClr val="F0B429"/>
                </a:solidFill>
                <a:latin typeface="Cambria" pitchFamily="34" charset="0"/>
                <a:ea typeface="Cambria" pitchFamily="34" charset="-122"/>
                <a:cs typeface="Cambria" pitchFamily="34" charset="-120"/>
              </a:rPr>
              <a:t>Q2</a:t>
            </a:r>
            <a:endParaRPr lang="en-US" sz="1600" dirty="0"/>
          </a:p>
        </p:txBody>
      </p:sp>
      <p:sp>
        <p:nvSpPr>
          <p:cNvPr id="24" name="Text 22"/>
          <p:cNvSpPr txBox="1"/>
          <p:nvPr/>
        </p:nvSpPr>
        <p:spPr>
          <a:xfrm>
            <a:off x="6400800" y="2606040"/>
            <a:ext cx="2331720" cy="502920"/>
          </a:xfrm>
          <a:prstGeom prst="rect">
            <a:avLst/>
          </a:prstGeom>
          <a:noFill/>
          <a:ln/>
        </p:spPr>
        <p:txBody>
          <a:bodyPr wrap="square" lIns="0" tIns="0" rIns="0" bIns="0" rtlCol="0" anchor="ctr"/>
          <a:lstStyle/>
          <a:p>
            <a:pPr indent="0" marL="0">
              <a:buNone/>
            </a:pPr>
            <a:r>
              <a:rPr lang="en-US" sz="1350" b="1" dirty="0">
                <a:solidFill>
                  <a:srgbClr val="FFFFFF"/>
                </a:solidFill>
                <a:latin typeface="Cambria" pitchFamily="34" charset="0"/>
                <a:ea typeface="Cambria" pitchFamily="34" charset="-122"/>
                <a:cs typeface="Cambria" pitchFamily="34" charset="-120"/>
              </a:rPr>
              <a:t>Protect the Core</a:t>
            </a:r>
            <a:endParaRPr lang="en-US" sz="1350" dirty="0"/>
          </a:p>
        </p:txBody>
      </p:sp>
      <p:sp>
        <p:nvSpPr>
          <p:cNvPr id="25" name="Text 23"/>
          <p:cNvSpPr txBox="1"/>
          <p:nvPr/>
        </p:nvSpPr>
        <p:spPr>
          <a:xfrm>
            <a:off x="6400800" y="3127248"/>
            <a:ext cx="2331720" cy="1051560"/>
          </a:xfrm>
          <a:prstGeom prst="rect">
            <a:avLst/>
          </a:prstGeom>
          <a:noFill/>
          <a:ln/>
        </p:spPr>
        <p:txBody>
          <a:bodyPr wrap="square" lIns="0" tIns="0" rIns="0" bIns="0" rtlCol="0" anchor="t"/>
          <a:lstStyle/>
          <a:p>
            <a:pPr marL="152400" indent="-152400">
              <a:spcAft>
                <a:spcPts val="600"/>
              </a:spcAft>
              <a:buSzPct val="100000"/>
              <a:buChar char="●"/>
            </a:pPr>
            <a:r>
              <a:rPr lang="en-US" sz="1000" dirty="0">
                <a:solidFill>
                  <a:srgbClr val="A8B8D0"/>
                </a:solidFill>
                <a:latin typeface="Calibri" pitchFamily="34" charset="0"/>
                <a:ea typeface="Calibri" pitchFamily="34" charset="-122"/>
                <a:cs typeface="Calibri" pitchFamily="34" charset="-120"/>
              </a:rPr>
              <a:t>Stand up VIP / white-glove tier</a:t>
            </a:r>
            <a:endParaRPr lang="en-US" sz="1000" dirty="0"/>
          </a:p>
          <a:p>
            <a:pPr marL="152400" indent="-152400">
              <a:spcAft>
                <a:spcPts val="600"/>
              </a:spcAft>
              <a:buSzPct val="100000"/>
              <a:buChar char="●"/>
            </a:pPr>
            <a:r>
              <a:rPr lang="en-US" sz="1000" dirty="0">
                <a:solidFill>
                  <a:srgbClr val="A8B8D0"/>
                </a:solidFill>
                <a:latin typeface="Calibri" pitchFamily="34" charset="0"/>
                <a:ea typeface="Calibri" pitchFamily="34" charset="-122"/>
                <a:cs typeface="Calibri" pitchFamily="34" charset="-120"/>
              </a:rPr>
              <a:t>Proactive outreach on recency drift</a:t>
            </a:r>
            <a:endParaRPr lang="en-US" sz="1000" dirty="0"/>
          </a:p>
        </p:txBody>
      </p:sp>
      <p:sp>
        <p:nvSpPr>
          <p:cNvPr id="26" name="Shape 24"/>
          <p:cNvSpPr/>
          <p:nvPr/>
        </p:nvSpPr>
        <p:spPr>
          <a:xfrm>
            <a:off x="6400800" y="4187952"/>
            <a:ext cx="2331720" cy="0"/>
          </a:xfrm>
          <a:prstGeom prst="line">
            <a:avLst/>
          </a:prstGeom>
          <a:noFill/>
          <a:ln w="9525">
            <a:solidFill>
              <a:srgbClr val="24314E"/>
            </a:solidFill>
            <a:prstDash val="solid"/>
          </a:ln>
        </p:spPr>
      </p:sp>
      <p:sp>
        <p:nvSpPr>
          <p:cNvPr id="27" name="Text 25"/>
          <p:cNvSpPr txBox="1"/>
          <p:nvPr/>
        </p:nvSpPr>
        <p:spPr>
          <a:xfrm>
            <a:off x="6400800" y="4279392"/>
            <a:ext cx="2331720" cy="1234440"/>
          </a:xfrm>
          <a:prstGeom prst="rect">
            <a:avLst/>
          </a:prstGeom>
          <a:noFill/>
          <a:ln/>
        </p:spPr>
        <p:txBody>
          <a:bodyPr wrap="square" lIns="0" tIns="0" rIns="0" bIns="0" rtlCol="0" anchor="t"/>
          <a:lstStyle/>
          <a:p>
            <a:pPr indent="0" marL="0">
              <a:buNone/>
            </a:pPr>
            <a:r>
              <a:rPr lang="en-US" sz="1000" b="1" dirty="0">
                <a:solidFill>
                  <a:srgbClr val="F0B429"/>
                </a:solidFill>
                <a:latin typeface="Calibri" pitchFamily="34" charset="0"/>
                <a:ea typeface="Calibri" pitchFamily="34" charset="-122"/>
                <a:cs typeface="Calibri" pitchFamily="34" charset="-120"/>
              </a:rPr>
              <a:t>Target: High Value segment churn held under 5%</a:t>
            </a:r>
            <a:endParaRPr lang="en-US" sz="1000" dirty="0"/>
          </a:p>
        </p:txBody>
      </p:sp>
      <p:sp>
        <p:nvSpPr>
          <p:cNvPr id="28" name="Text 26"/>
          <p:cNvSpPr txBox="1"/>
          <p:nvPr/>
        </p:nvSpPr>
        <p:spPr>
          <a:xfrm>
            <a:off x="6400800" y="5806440"/>
            <a:ext cx="2331720" cy="274320"/>
          </a:xfrm>
          <a:prstGeom prst="rect">
            <a:avLst/>
          </a:prstGeom>
          <a:noFill/>
          <a:ln/>
        </p:spPr>
        <p:txBody>
          <a:bodyPr wrap="square" lIns="0" tIns="0" rIns="0" bIns="0" rtlCol="0" anchor="ctr"/>
          <a:lstStyle/>
          <a:p>
            <a:pPr indent="0" marL="0">
              <a:buNone/>
            </a:pPr>
            <a:r>
              <a:rPr lang="en-US" sz="900" dirty="0">
                <a:solidFill>
                  <a:srgbClr val="72859E"/>
                </a:solidFill>
                <a:latin typeface="Calibri" pitchFamily="34" charset="0"/>
                <a:ea typeface="Calibri" pitchFamily="34" charset="-122"/>
                <a:cs typeface="Calibri" pitchFamily="34" charset="-120"/>
              </a:rPr>
              <a:t>Owner: CRM / VIP Program</a:t>
            </a:r>
            <a:endParaRPr lang="en-US" sz="900" dirty="0"/>
          </a:p>
        </p:txBody>
      </p:sp>
      <p:sp>
        <p:nvSpPr>
          <p:cNvPr id="29" name="Shape 27"/>
          <p:cNvSpPr/>
          <p:nvPr/>
        </p:nvSpPr>
        <p:spPr>
          <a:xfrm>
            <a:off x="9052560" y="1965960"/>
            <a:ext cx="2697480" cy="4160520"/>
          </a:xfrm>
          <a:prstGeom prst="roundRect">
            <a:avLst>
              <a:gd name="adj" fmla="val 4746"/>
            </a:avLst>
          </a:prstGeom>
          <a:solidFill>
            <a:srgbClr val="111F38"/>
          </a:solidFill>
          <a:ln w="12700">
            <a:solidFill>
              <a:srgbClr val="14B8A6"/>
            </a:solidFill>
            <a:prstDash val="solid"/>
          </a:ln>
        </p:spPr>
      </p:sp>
      <p:sp>
        <p:nvSpPr>
          <p:cNvPr id="30" name="Shape 28"/>
          <p:cNvSpPr/>
          <p:nvPr/>
        </p:nvSpPr>
        <p:spPr>
          <a:xfrm>
            <a:off x="9052560" y="1965960"/>
            <a:ext cx="2697480" cy="502920"/>
          </a:xfrm>
          <a:prstGeom prst="roundRect">
            <a:avLst>
              <a:gd name="adj" fmla="val 25455"/>
            </a:avLst>
          </a:prstGeom>
          <a:solidFill>
            <a:srgbClr val="14B8A6">
              <a:alpha val="18000"/>
            </a:srgbClr>
          </a:solidFill>
          <a:ln/>
        </p:spPr>
      </p:sp>
      <p:sp>
        <p:nvSpPr>
          <p:cNvPr id="31" name="Text 29"/>
          <p:cNvSpPr txBox="1"/>
          <p:nvPr/>
        </p:nvSpPr>
        <p:spPr>
          <a:xfrm>
            <a:off x="9235440" y="1965960"/>
            <a:ext cx="2331720" cy="502920"/>
          </a:xfrm>
          <a:prstGeom prst="rect">
            <a:avLst/>
          </a:prstGeom>
          <a:noFill/>
          <a:ln/>
        </p:spPr>
        <p:txBody>
          <a:bodyPr wrap="square" lIns="0" tIns="0" rIns="0" bIns="0" rtlCol="0" anchor="ctr"/>
          <a:lstStyle/>
          <a:p>
            <a:pPr indent="0" marL="0">
              <a:buNone/>
            </a:pPr>
            <a:r>
              <a:rPr lang="en-US" sz="1600" b="1" dirty="0">
                <a:solidFill>
                  <a:srgbClr val="14B8A6"/>
                </a:solidFill>
                <a:latin typeface="Cambria" pitchFamily="34" charset="0"/>
                <a:ea typeface="Cambria" pitchFamily="34" charset="-122"/>
                <a:cs typeface="Cambria" pitchFamily="34" charset="-120"/>
              </a:rPr>
              <a:t>Q3</a:t>
            </a:r>
            <a:endParaRPr lang="en-US" sz="1600" dirty="0"/>
          </a:p>
        </p:txBody>
      </p:sp>
      <p:sp>
        <p:nvSpPr>
          <p:cNvPr id="32" name="Text 30"/>
          <p:cNvSpPr txBox="1"/>
          <p:nvPr/>
        </p:nvSpPr>
        <p:spPr>
          <a:xfrm>
            <a:off x="9235440" y="2606040"/>
            <a:ext cx="2331720" cy="502920"/>
          </a:xfrm>
          <a:prstGeom prst="rect">
            <a:avLst/>
          </a:prstGeom>
          <a:noFill/>
          <a:ln/>
        </p:spPr>
        <p:txBody>
          <a:bodyPr wrap="square" lIns="0" tIns="0" rIns="0" bIns="0" rtlCol="0" anchor="ctr"/>
          <a:lstStyle/>
          <a:p>
            <a:pPr indent="0" marL="0">
              <a:buNone/>
            </a:pPr>
            <a:r>
              <a:rPr lang="en-US" sz="1350" b="1" dirty="0">
                <a:solidFill>
                  <a:srgbClr val="FFFFFF"/>
                </a:solidFill>
                <a:latin typeface="Cambria" pitchFamily="34" charset="0"/>
                <a:ea typeface="Cambria" pitchFamily="34" charset="-122"/>
                <a:cs typeface="Cambria" pitchFamily="34" charset="-120"/>
              </a:rPr>
              <a:t>Re-Validate the Model</a:t>
            </a:r>
            <a:endParaRPr lang="en-US" sz="1350" dirty="0"/>
          </a:p>
        </p:txBody>
      </p:sp>
      <p:sp>
        <p:nvSpPr>
          <p:cNvPr id="33" name="Text 31"/>
          <p:cNvSpPr txBox="1"/>
          <p:nvPr/>
        </p:nvSpPr>
        <p:spPr>
          <a:xfrm>
            <a:off x="9235440" y="3127248"/>
            <a:ext cx="2331720" cy="1051560"/>
          </a:xfrm>
          <a:prstGeom prst="rect">
            <a:avLst/>
          </a:prstGeom>
          <a:noFill/>
          <a:ln/>
        </p:spPr>
        <p:txBody>
          <a:bodyPr wrap="square" lIns="0" tIns="0" rIns="0" bIns="0" rtlCol="0" anchor="t"/>
          <a:lstStyle/>
          <a:p>
            <a:pPr marL="152400" indent="-152400">
              <a:spcAft>
                <a:spcPts val="600"/>
              </a:spcAft>
              <a:buSzPct val="100000"/>
              <a:buChar char="●"/>
            </a:pPr>
            <a:r>
              <a:rPr lang="en-US" sz="1000" dirty="0">
                <a:solidFill>
                  <a:srgbClr val="A8B8D0"/>
                </a:solidFill>
                <a:latin typeface="Calibri" pitchFamily="34" charset="0"/>
                <a:ea typeface="Calibri" pitchFamily="34" charset="-122"/>
                <a:cs typeface="Calibri" pitchFamily="34" charset="-120"/>
              </a:rPr>
              <a:t>Re-run clustering on refreshed data</a:t>
            </a:r>
            <a:endParaRPr lang="en-US" sz="1000" dirty="0"/>
          </a:p>
          <a:p>
            <a:pPr marL="152400" indent="-152400">
              <a:spcAft>
                <a:spcPts val="600"/>
              </a:spcAft>
              <a:buSzPct val="100000"/>
              <a:buChar char="●"/>
            </a:pPr>
            <a:r>
              <a:rPr lang="en-US" sz="1000" dirty="0">
                <a:solidFill>
                  <a:srgbClr val="A8B8D0"/>
                </a:solidFill>
                <a:latin typeface="Calibri" pitchFamily="34" charset="0"/>
                <a:ea typeface="Calibri" pitchFamily="34" charset="-122"/>
                <a:cs typeface="Calibri" pitchFamily="34" charset="-120"/>
              </a:rPr>
              <a:t>Measure Q1–Q2 segment migration</a:t>
            </a:r>
            <a:endParaRPr lang="en-US" sz="1000" dirty="0"/>
          </a:p>
        </p:txBody>
      </p:sp>
      <p:sp>
        <p:nvSpPr>
          <p:cNvPr id="34" name="Shape 32"/>
          <p:cNvSpPr/>
          <p:nvPr/>
        </p:nvSpPr>
        <p:spPr>
          <a:xfrm>
            <a:off x="9235440" y="4187952"/>
            <a:ext cx="2331720" cy="0"/>
          </a:xfrm>
          <a:prstGeom prst="line">
            <a:avLst/>
          </a:prstGeom>
          <a:noFill/>
          <a:ln w="9525">
            <a:solidFill>
              <a:srgbClr val="24314E"/>
            </a:solidFill>
            <a:prstDash val="solid"/>
          </a:ln>
        </p:spPr>
      </p:sp>
      <p:sp>
        <p:nvSpPr>
          <p:cNvPr id="35" name="Text 33"/>
          <p:cNvSpPr txBox="1"/>
          <p:nvPr/>
        </p:nvSpPr>
        <p:spPr>
          <a:xfrm>
            <a:off x="9235440" y="4279392"/>
            <a:ext cx="2331720" cy="1234440"/>
          </a:xfrm>
          <a:prstGeom prst="rect">
            <a:avLst/>
          </a:prstGeom>
          <a:noFill/>
          <a:ln/>
        </p:spPr>
        <p:txBody>
          <a:bodyPr wrap="square" lIns="0" tIns="0" rIns="0" bIns="0" rtlCol="0" anchor="t"/>
          <a:lstStyle/>
          <a:p>
            <a:pPr indent="0" marL="0">
              <a:buNone/>
            </a:pPr>
            <a:r>
              <a:rPr lang="en-US" sz="1000" b="1" dirty="0">
                <a:solidFill>
                  <a:srgbClr val="14B8A6"/>
                </a:solidFill>
                <a:latin typeface="Calibri" pitchFamily="34" charset="0"/>
                <a:ea typeface="Calibri" pitchFamily="34" charset="-122"/>
                <a:cs typeface="Calibri" pitchFamily="34" charset="-120"/>
              </a:rPr>
              <a:t>Target: confirm/update segment boundaries; quantify actual lift</a:t>
            </a:r>
            <a:endParaRPr lang="en-US" sz="1000" dirty="0"/>
          </a:p>
        </p:txBody>
      </p:sp>
      <p:sp>
        <p:nvSpPr>
          <p:cNvPr id="36" name="Text 34"/>
          <p:cNvSpPr txBox="1"/>
          <p:nvPr/>
        </p:nvSpPr>
        <p:spPr>
          <a:xfrm>
            <a:off x="9235440" y="5806440"/>
            <a:ext cx="2331720" cy="274320"/>
          </a:xfrm>
          <a:prstGeom prst="rect">
            <a:avLst/>
          </a:prstGeom>
          <a:noFill/>
          <a:ln/>
        </p:spPr>
        <p:txBody>
          <a:bodyPr wrap="square" lIns="0" tIns="0" rIns="0" bIns="0" rtlCol="0" anchor="ctr"/>
          <a:lstStyle/>
          <a:p>
            <a:pPr indent="0" marL="0">
              <a:buNone/>
            </a:pPr>
            <a:r>
              <a:rPr lang="en-US" sz="900" dirty="0">
                <a:solidFill>
                  <a:srgbClr val="72859E"/>
                </a:solidFill>
                <a:latin typeface="Calibri" pitchFamily="34" charset="0"/>
                <a:ea typeface="Calibri" pitchFamily="34" charset="-122"/>
                <a:cs typeface="Calibri" pitchFamily="34" charset="-120"/>
              </a:rPr>
              <a:t>Owner: Data / Analytics</a:t>
            </a:r>
            <a:endParaRPr lang="en-US" sz="900" dirty="0"/>
          </a:p>
        </p:txBody>
      </p:sp>
      <p:sp>
        <p:nvSpPr>
          <p:cNvPr id="37" name="Text 35"/>
          <p:cNvSpPr/>
          <p:nvPr/>
        </p:nvSpPr>
        <p:spPr>
          <a:xfrm>
            <a:off x="457200" y="6528816"/>
            <a:ext cx="7315200" cy="274320"/>
          </a:xfrm>
          <a:prstGeom prst="rect">
            <a:avLst/>
          </a:prstGeom>
          <a:noFill/>
          <a:ln/>
        </p:spPr>
        <p:txBody>
          <a:bodyPr wrap="square" lIns="0" tIns="0" rIns="0" bIns="0" rtlCol="0" anchor="ctr"/>
          <a:lstStyle/>
          <a:p>
            <a:pPr algn="l" indent="0" marL="0">
              <a:buNone/>
            </a:pPr>
            <a:r>
              <a:rPr lang="en-US" sz="900" dirty="0">
                <a:solidFill>
                  <a:srgbClr val="72859E"/>
                </a:solidFill>
                <a:latin typeface="Calibri" pitchFamily="34" charset="0"/>
                <a:ea typeface="Calibri" pitchFamily="34" charset="-122"/>
                <a:cs typeface="Calibri" pitchFamily="34" charset="-120"/>
              </a:rPr>
              <a:t>Online Retail Business · Customer Segmentation</a:t>
            </a:r>
            <a:endParaRPr lang="en-US" sz="900" dirty="0"/>
          </a:p>
        </p:txBody>
      </p:sp>
      <p:sp>
        <p:nvSpPr>
          <p:cNvPr id="38" name="Text 36"/>
          <p:cNvSpPr/>
          <p:nvPr/>
        </p:nvSpPr>
        <p:spPr>
          <a:xfrm>
            <a:off x="11000232" y="6528816"/>
            <a:ext cx="731520" cy="274320"/>
          </a:xfrm>
          <a:prstGeom prst="rect">
            <a:avLst/>
          </a:prstGeom>
          <a:noFill/>
          <a:ln/>
        </p:spPr>
        <p:txBody>
          <a:bodyPr wrap="square" lIns="0" tIns="0" rIns="0" bIns="0" rtlCol="0" anchor="ctr"/>
          <a:lstStyle/>
          <a:p>
            <a:pPr algn="r" indent="0" marL="0">
              <a:buNone/>
            </a:pPr>
            <a:r>
              <a:rPr lang="en-US" sz="900" dirty="0">
                <a:solidFill>
                  <a:srgbClr val="72859E"/>
                </a:solidFill>
                <a:latin typeface="Calibri" pitchFamily="34" charset="0"/>
                <a:ea typeface="Calibri" pitchFamily="34" charset="-122"/>
                <a:cs typeface="Calibri" pitchFamily="34" charset="-120"/>
              </a:rPr>
              <a:t>15 / 18</a:t>
            </a:r>
            <a:endParaRPr lang="en-US" sz="9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0B1220"/>
        </a:solidFill>
      </p:bgPr>
    </p:bg>
    <p:spTree>
      <p:nvGrpSpPr>
        <p:cNvPr id="1" name=""/>
        <p:cNvGrpSpPr/>
        <p:nvPr/>
      </p:nvGrpSpPr>
      <p:grpSpPr>
        <a:xfrm>
          <a:off x="0" y="0"/>
          <a:ext cx="0" cy="0"/>
          <a:chOff x="0" y="0"/>
          <a:chExt cx="0" cy="0"/>
        </a:xfrm>
      </p:grpSpPr>
      <p:sp>
        <p:nvSpPr>
          <p:cNvPr id="2" name="Text 0"/>
          <p:cNvSpPr txBox="1"/>
          <p:nvPr/>
        </p:nvSpPr>
        <p:spPr>
          <a:xfrm>
            <a:off x="548640" y="201168"/>
            <a:ext cx="7315200" cy="274320"/>
          </a:xfrm>
          <a:prstGeom prst="rect">
            <a:avLst/>
          </a:prstGeom>
          <a:noFill/>
          <a:ln/>
        </p:spPr>
        <p:txBody>
          <a:bodyPr wrap="square" lIns="0" tIns="0" rIns="0" bIns="0" rtlCol="0" anchor="ctr"/>
          <a:lstStyle/>
          <a:p>
            <a:pPr algn="l" indent="0" marL="0">
              <a:buNone/>
            </a:pPr>
            <a:r>
              <a:rPr lang="en-US" sz="1100" b="1" spc="200" kern="0" dirty="0">
                <a:solidFill>
                  <a:srgbClr val="22C55E"/>
                </a:solidFill>
                <a:latin typeface="Calibri" pitchFamily="34" charset="0"/>
                <a:ea typeface="Calibri" pitchFamily="34" charset="-122"/>
                <a:cs typeface="Calibri" pitchFamily="34" charset="-120"/>
              </a:rPr>
              <a:t>PROJECTED IMPACT</a:t>
            </a:r>
            <a:endParaRPr lang="en-US" sz="1100" dirty="0"/>
          </a:p>
        </p:txBody>
      </p:sp>
      <p:sp>
        <p:nvSpPr>
          <p:cNvPr id="3" name="Text 1"/>
          <p:cNvSpPr txBox="1"/>
          <p:nvPr/>
        </p:nvSpPr>
        <p:spPr>
          <a:xfrm>
            <a:off x="548640" y="411480"/>
            <a:ext cx="11064240" cy="685800"/>
          </a:xfrm>
          <a:prstGeom prst="rect">
            <a:avLst/>
          </a:prstGeom>
          <a:noFill/>
          <a:ln/>
        </p:spPr>
        <p:txBody>
          <a:bodyPr wrap="square" lIns="0" tIns="0" rIns="0" bIns="0" rtlCol="0" anchor="ctr"/>
          <a:lstStyle/>
          <a:p>
            <a:pPr algn="l" indent="0" marL="0">
              <a:buNone/>
            </a:pPr>
            <a:r>
              <a:rPr lang="en-US" sz="3000" b="1" dirty="0">
                <a:solidFill>
                  <a:srgbClr val="FFFFFF"/>
                </a:solidFill>
                <a:latin typeface="Cambria" pitchFamily="34" charset="0"/>
                <a:ea typeface="Cambria" pitchFamily="34" charset="-122"/>
                <a:cs typeface="Cambria" pitchFamily="34" charset="-120"/>
              </a:rPr>
              <a:t>Three Scenarios, One Combined Upside</a:t>
            </a:r>
            <a:endParaRPr lang="en-US" sz="3000" dirty="0"/>
          </a:p>
        </p:txBody>
      </p:sp>
      <p:sp>
        <p:nvSpPr>
          <p:cNvPr id="4" name="Shape 2"/>
          <p:cNvSpPr/>
          <p:nvPr/>
        </p:nvSpPr>
        <p:spPr>
          <a:xfrm>
            <a:off x="548640" y="1691640"/>
            <a:ext cx="3566160" cy="3566160"/>
          </a:xfrm>
          <a:prstGeom prst="roundRect">
            <a:avLst>
              <a:gd name="adj" fmla="val 4103"/>
            </a:avLst>
          </a:prstGeom>
          <a:solidFill>
            <a:srgbClr val="111F38"/>
          </a:solidFill>
          <a:ln w="11430">
            <a:solidFill>
              <a:srgbClr val="EF4444"/>
            </a:solidFill>
            <a:prstDash val="solid"/>
          </a:ln>
        </p:spPr>
      </p:sp>
      <p:sp>
        <p:nvSpPr>
          <p:cNvPr id="5" name="Text 3"/>
          <p:cNvSpPr txBox="1"/>
          <p:nvPr/>
        </p:nvSpPr>
        <p:spPr>
          <a:xfrm>
            <a:off x="822960" y="1920240"/>
            <a:ext cx="3017520" cy="320040"/>
          </a:xfrm>
          <a:prstGeom prst="rect">
            <a:avLst/>
          </a:prstGeom>
          <a:noFill/>
          <a:ln/>
        </p:spPr>
        <p:txBody>
          <a:bodyPr wrap="square" lIns="0" tIns="0" rIns="0" bIns="0" rtlCol="0" anchor="ctr"/>
          <a:lstStyle/>
          <a:p>
            <a:pPr indent="0" marL="0">
              <a:buNone/>
            </a:pPr>
            <a:r>
              <a:rPr lang="en-US" sz="1100" b="1" spc="100" kern="0" dirty="0">
                <a:solidFill>
                  <a:srgbClr val="EF4444"/>
                </a:solidFill>
                <a:latin typeface="Calibri" pitchFamily="34" charset="0"/>
                <a:ea typeface="Calibri" pitchFamily="34" charset="-122"/>
                <a:cs typeface="Calibri" pitchFamily="34" charset="-120"/>
              </a:rPr>
              <a:t>SCENARIO A</a:t>
            </a:r>
            <a:endParaRPr lang="en-US" sz="1100" dirty="0"/>
          </a:p>
        </p:txBody>
      </p:sp>
      <p:sp>
        <p:nvSpPr>
          <p:cNvPr id="6" name="Text 4"/>
          <p:cNvSpPr txBox="1"/>
          <p:nvPr/>
        </p:nvSpPr>
        <p:spPr>
          <a:xfrm>
            <a:off x="822960" y="2240280"/>
            <a:ext cx="3017520" cy="457200"/>
          </a:xfrm>
          <a:prstGeom prst="rect">
            <a:avLst/>
          </a:prstGeom>
          <a:noFill/>
          <a:ln/>
        </p:spPr>
        <p:txBody>
          <a:bodyPr wrap="square" lIns="0" tIns="0" rIns="0" bIns="0" rtlCol="0" anchor="ctr"/>
          <a:lstStyle/>
          <a:p>
            <a:pPr indent="0" marL="0">
              <a:buNone/>
            </a:pPr>
            <a:r>
              <a:rPr lang="en-US" sz="1800" b="1" dirty="0">
                <a:solidFill>
                  <a:srgbClr val="FFFFFF"/>
                </a:solidFill>
                <a:latin typeface="Cambria" pitchFamily="34" charset="0"/>
                <a:ea typeface="Cambria" pitchFamily="34" charset="-122"/>
                <a:cs typeface="Cambria" pitchFamily="34" charset="-120"/>
              </a:rPr>
              <a:t>Fix At Risk</a:t>
            </a:r>
            <a:endParaRPr lang="en-US" sz="1800" dirty="0"/>
          </a:p>
        </p:txBody>
      </p:sp>
      <p:sp>
        <p:nvSpPr>
          <p:cNvPr id="7" name="Text 5"/>
          <p:cNvSpPr txBox="1"/>
          <p:nvPr/>
        </p:nvSpPr>
        <p:spPr>
          <a:xfrm>
            <a:off x="822960" y="2788920"/>
            <a:ext cx="3017520" cy="731520"/>
          </a:xfrm>
          <a:prstGeom prst="rect">
            <a:avLst/>
          </a:prstGeom>
          <a:noFill/>
          <a:ln/>
        </p:spPr>
        <p:txBody>
          <a:bodyPr wrap="square" lIns="0" tIns="0" rIns="0" bIns="0" rtlCol="0" anchor="ctr"/>
          <a:lstStyle/>
          <a:p>
            <a:pPr indent="0" marL="0">
              <a:buNone/>
            </a:pPr>
            <a:r>
              <a:rPr lang="en-US" sz="2700" b="1" dirty="0">
                <a:solidFill>
                  <a:srgbClr val="22C55E"/>
                </a:solidFill>
                <a:latin typeface="Cambria" pitchFamily="34" charset="0"/>
                <a:ea typeface="Cambria" pitchFamily="34" charset="-122"/>
                <a:cs typeface="Cambria" pitchFamily="34" charset="-120"/>
              </a:rPr>
              <a:t>+$12K – $25K</a:t>
            </a:r>
            <a:endParaRPr lang="en-US" sz="2700" dirty="0"/>
          </a:p>
        </p:txBody>
      </p:sp>
      <p:sp>
        <p:nvSpPr>
          <p:cNvPr id="8" name="Text 6"/>
          <p:cNvSpPr txBox="1"/>
          <p:nvPr/>
        </p:nvSpPr>
        <p:spPr>
          <a:xfrm>
            <a:off x="822960" y="3611880"/>
            <a:ext cx="3017520" cy="1463040"/>
          </a:xfrm>
          <a:prstGeom prst="rect">
            <a:avLst/>
          </a:prstGeom>
          <a:noFill/>
          <a:ln/>
        </p:spPr>
        <p:txBody>
          <a:bodyPr wrap="square" lIns="0" tIns="0" rIns="0" bIns="0" rtlCol="0" anchor="ctr"/>
          <a:lstStyle/>
          <a:p>
            <a:pPr indent="0" marL="0">
              <a:buNone/>
            </a:pPr>
            <a:r>
              <a:rPr lang="en-US" sz="1150" dirty="0">
                <a:solidFill>
                  <a:srgbClr val="A8B8D0"/>
                </a:solidFill>
                <a:latin typeface="Calibri" pitchFamily="34" charset="0"/>
                <a:ea typeface="Calibri" pitchFamily="34" charset="-122"/>
                <a:cs typeface="Calibri" pitchFamily="34" charset="-120"/>
              </a:rPr>
              <a:t>Resolve the root cause of 99.47% cancellations and recover a portion as real revenue.</a:t>
            </a:r>
            <a:endParaRPr lang="en-US" sz="1150" dirty="0"/>
          </a:p>
        </p:txBody>
      </p:sp>
      <p:sp>
        <p:nvSpPr>
          <p:cNvPr id="9" name="Shape 7"/>
          <p:cNvSpPr/>
          <p:nvPr/>
        </p:nvSpPr>
        <p:spPr>
          <a:xfrm>
            <a:off x="4343400" y="1691640"/>
            <a:ext cx="3566160" cy="3566160"/>
          </a:xfrm>
          <a:prstGeom prst="roundRect">
            <a:avLst>
              <a:gd name="adj" fmla="val 4103"/>
            </a:avLst>
          </a:prstGeom>
          <a:solidFill>
            <a:srgbClr val="111F38"/>
          </a:solidFill>
          <a:ln w="11430">
            <a:solidFill>
              <a:srgbClr val="3B82F6"/>
            </a:solidFill>
            <a:prstDash val="solid"/>
          </a:ln>
        </p:spPr>
      </p:sp>
      <p:sp>
        <p:nvSpPr>
          <p:cNvPr id="10" name="Text 8"/>
          <p:cNvSpPr txBox="1"/>
          <p:nvPr/>
        </p:nvSpPr>
        <p:spPr>
          <a:xfrm>
            <a:off x="4617720" y="1920240"/>
            <a:ext cx="3017520" cy="320040"/>
          </a:xfrm>
          <a:prstGeom prst="rect">
            <a:avLst/>
          </a:prstGeom>
          <a:noFill/>
          <a:ln/>
        </p:spPr>
        <p:txBody>
          <a:bodyPr wrap="square" lIns="0" tIns="0" rIns="0" bIns="0" rtlCol="0" anchor="ctr"/>
          <a:lstStyle/>
          <a:p>
            <a:pPr indent="0" marL="0">
              <a:buNone/>
            </a:pPr>
            <a:r>
              <a:rPr lang="en-US" sz="1100" b="1" spc="100" kern="0" dirty="0">
                <a:solidFill>
                  <a:srgbClr val="3B82F6"/>
                </a:solidFill>
                <a:latin typeface="Calibri" pitchFamily="34" charset="0"/>
                <a:ea typeface="Calibri" pitchFamily="34" charset="-122"/>
                <a:cs typeface="Calibri" pitchFamily="34" charset="-120"/>
              </a:rPr>
              <a:t>SCENARIO B</a:t>
            </a:r>
            <a:endParaRPr lang="en-US" sz="1100" dirty="0"/>
          </a:p>
        </p:txBody>
      </p:sp>
      <p:sp>
        <p:nvSpPr>
          <p:cNvPr id="11" name="Text 9"/>
          <p:cNvSpPr txBox="1"/>
          <p:nvPr/>
        </p:nvSpPr>
        <p:spPr>
          <a:xfrm>
            <a:off x="4617720" y="2240280"/>
            <a:ext cx="3017520" cy="457200"/>
          </a:xfrm>
          <a:prstGeom prst="rect">
            <a:avLst/>
          </a:prstGeom>
          <a:noFill/>
          <a:ln/>
        </p:spPr>
        <p:txBody>
          <a:bodyPr wrap="square" lIns="0" tIns="0" rIns="0" bIns="0" rtlCol="0" anchor="ctr"/>
          <a:lstStyle/>
          <a:p>
            <a:pPr indent="0" marL="0">
              <a:buNone/>
            </a:pPr>
            <a:r>
              <a:rPr lang="en-US" sz="1800" b="1" dirty="0">
                <a:solidFill>
                  <a:srgbClr val="FFFFFF"/>
                </a:solidFill>
                <a:latin typeface="Cambria" pitchFamily="34" charset="0"/>
                <a:ea typeface="Cambria" pitchFamily="34" charset="-122"/>
                <a:cs typeface="Cambria" pitchFamily="34" charset="-120"/>
              </a:rPr>
              <a:t>Nurture Regular</a:t>
            </a:r>
            <a:endParaRPr lang="en-US" sz="1800" dirty="0"/>
          </a:p>
        </p:txBody>
      </p:sp>
      <p:sp>
        <p:nvSpPr>
          <p:cNvPr id="12" name="Text 10"/>
          <p:cNvSpPr txBox="1"/>
          <p:nvPr/>
        </p:nvSpPr>
        <p:spPr>
          <a:xfrm>
            <a:off x="4617720" y="2788920"/>
            <a:ext cx="3017520" cy="731520"/>
          </a:xfrm>
          <a:prstGeom prst="rect">
            <a:avLst/>
          </a:prstGeom>
          <a:noFill/>
          <a:ln/>
        </p:spPr>
        <p:txBody>
          <a:bodyPr wrap="square" lIns="0" tIns="0" rIns="0" bIns="0" rtlCol="0" anchor="ctr"/>
          <a:lstStyle/>
          <a:p>
            <a:pPr indent="0" marL="0">
              <a:buNone/>
            </a:pPr>
            <a:r>
              <a:rPr lang="en-US" sz="2700" b="1" dirty="0">
                <a:solidFill>
                  <a:srgbClr val="22C55E"/>
                </a:solidFill>
                <a:latin typeface="Cambria" pitchFamily="34" charset="0"/>
                <a:ea typeface="Cambria" pitchFamily="34" charset="-122"/>
                <a:cs typeface="Cambria" pitchFamily="34" charset="-120"/>
              </a:rPr>
              <a:t>+$55K – $90K</a:t>
            </a:r>
            <a:endParaRPr lang="en-US" sz="2700" dirty="0"/>
          </a:p>
        </p:txBody>
      </p:sp>
      <p:sp>
        <p:nvSpPr>
          <p:cNvPr id="13" name="Text 11"/>
          <p:cNvSpPr txBox="1"/>
          <p:nvPr/>
        </p:nvSpPr>
        <p:spPr>
          <a:xfrm>
            <a:off x="4617720" y="3611880"/>
            <a:ext cx="3017520" cy="1463040"/>
          </a:xfrm>
          <a:prstGeom prst="rect">
            <a:avLst/>
          </a:prstGeom>
          <a:noFill/>
          <a:ln/>
        </p:spPr>
        <p:txBody>
          <a:bodyPr wrap="square" lIns="0" tIns="0" rIns="0" bIns="0" rtlCol="0" anchor="ctr"/>
          <a:lstStyle/>
          <a:p>
            <a:pPr indent="0" marL="0">
              <a:buNone/>
            </a:pPr>
            <a:r>
              <a:rPr lang="en-US" sz="1150" dirty="0">
                <a:solidFill>
                  <a:srgbClr val="A8B8D0"/>
                </a:solidFill>
                <a:latin typeface="Calibri" pitchFamily="34" charset="0"/>
                <a:ea typeface="Calibri" pitchFamily="34" charset="-122"/>
                <a:cs typeface="Calibri" pitchFamily="34" charset="-120"/>
              </a:rPr>
              <a:t>Shift 10–15% of Regular customers' spend toward High Value behavior.</a:t>
            </a:r>
            <a:endParaRPr lang="en-US" sz="1150" dirty="0"/>
          </a:p>
        </p:txBody>
      </p:sp>
      <p:sp>
        <p:nvSpPr>
          <p:cNvPr id="14" name="Shape 12"/>
          <p:cNvSpPr/>
          <p:nvPr/>
        </p:nvSpPr>
        <p:spPr>
          <a:xfrm>
            <a:off x="8138160" y="1691640"/>
            <a:ext cx="3566160" cy="3566160"/>
          </a:xfrm>
          <a:prstGeom prst="roundRect">
            <a:avLst>
              <a:gd name="adj" fmla="val 4103"/>
            </a:avLst>
          </a:prstGeom>
          <a:solidFill>
            <a:srgbClr val="0F1B30"/>
          </a:solidFill>
          <a:ln w="19050">
            <a:solidFill>
              <a:srgbClr val="F0B429"/>
            </a:solidFill>
            <a:prstDash val="solid"/>
          </a:ln>
        </p:spPr>
      </p:sp>
      <p:sp>
        <p:nvSpPr>
          <p:cNvPr id="15" name="Text 13"/>
          <p:cNvSpPr txBox="1"/>
          <p:nvPr/>
        </p:nvSpPr>
        <p:spPr>
          <a:xfrm>
            <a:off x="8412480" y="1920240"/>
            <a:ext cx="3017520" cy="320040"/>
          </a:xfrm>
          <a:prstGeom prst="rect">
            <a:avLst/>
          </a:prstGeom>
          <a:noFill/>
          <a:ln/>
        </p:spPr>
        <p:txBody>
          <a:bodyPr wrap="square" lIns="0" tIns="0" rIns="0" bIns="0" rtlCol="0" anchor="ctr"/>
          <a:lstStyle/>
          <a:p>
            <a:pPr indent="0" marL="0">
              <a:buNone/>
            </a:pPr>
            <a:r>
              <a:rPr lang="en-US" sz="1100" b="1" spc="100" kern="0" dirty="0">
                <a:solidFill>
                  <a:srgbClr val="F0B429"/>
                </a:solidFill>
                <a:latin typeface="Calibri" pitchFamily="34" charset="0"/>
                <a:ea typeface="Calibri" pitchFamily="34" charset="-122"/>
                <a:cs typeface="Calibri" pitchFamily="34" charset="-120"/>
              </a:rPr>
              <a:t>SCENARIO C</a:t>
            </a:r>
            <a:endParaRPr lang="en-US" sz="1100" dirty="0"/>
          </a:p>
        </p:txBody>
      </p:sp>
      <p:sp>
        <p:nvSpPr>
          <p:cNvPr id="16" name="Text 14"/>
          <p:cNvSpPr txBox="1"/>
          <p:nvPr/>
        </p:nvSpPr>
        <p:spPr>
          <a:xfrm>
            <a:off x="8412480" y="2240280"/>
            <a:ext cx="3017520" cy="457200"/>
          </a:xfrm>
          <a:prstGeom prst="rect">
            <a:avLst/>
          </a:prstGeom>
          <a:noFill/>
          <a:ln/>
        </p:spPr>
        <p:txBody>
          <a:bodyPr wrap="square" lIns="0" tIns="0" rIns="0" bIns="0" rtlCol="0" anchor="ctr"/>
          <a:lstStyle/>
          <a:p>
            <a:pPr indent="0" marL="0">
              <a:buNone/>
            </a:pPr>
            <a:r>
              <a:rPr lang="en-US" sz="1800" b="1" dirty="0">
                <a:solidFill>
                  <a:srgbClr val="FFFFFF"/>
                </a:solidFill>
                <a:latin typeface="Cambria" pitchFamily="34" charset="0"/>
                <a:ea typeface="Cambria" pitchFamily="34" charset="-122"/>
                <a:cs typeface="Cambria" pitchFamily="34" charset="-120"/>
              </a:rPr>
              <a:t>Combined</a:t>
            </a:r>
            <a:endParaRPr lang="en-US" sz="1800" dirty="0"/>
          </a:p>
        </p:txBody>
      </p:sp>
      <p:sp>
        <p:nvSpPr>
          <p:cNvPr id="17" name="Text 15"/>
          <p:cNvSpPr txBox="1"/>
          <p:nvPr/>
        </p:nvSpPr>
        <p:spPr>
          <a:xfrm>
            <a:off x="8412480" y="2788920"/>
            <a:ext cx="3017520" cy="731520"/>
          </a:xfrm>
          <a:prstGeom prst="rect">
            <a:avLst/>
          </a:prstGeom>
          <a:noFill/>
          <a:ln/>
        </p:spPr>
        <p:txBody>
          <a:bodyPr wrap="square" lIns="0" tIns="0" rIns="0" bIns="0" rtlCol="0" anchor="ctr"/>
          <a:lstStyle/>
          <a:p>
            <a:pPr indent="0" marL="0">
              <a:buNone/>
            </a:pPr>
            <a:r>
              <a:rPr lang="en-US" sz="2700" b="1" dirty="0">
                <a:solidFill>
                  <a:srgbClr val="22C55E"/>
                </a:solidFill>
                <a:latin typeface="Cambria" pitchFamily="34" charset="0"/>
                <a:ea typeface="Cambria" pitchFamily="34" charset="-122"/>
                <a:cs typeface="Cambria" pitchFamily="34" charset="-120"/>
              </a:rPr>
              <a:t>+$150K+</a:t>
            </a:r>
            <a:endParaRPr lang="en-US" sz="2700" dirty="0"/>
          </a:p>
        </p:txBody>
      </p:sp>
      <p:sp>
        <p:nvSpPr>
          <p:cNvPr id="18" name="Text 16"/>
          <p:cNvSpPr txBox="1"/>
          <p:nvPr/>
        </p:nvSpPr>
        <p:spPr>
          <a:xfrm>
            <a:off x="8412480" y="3611880"/>
            <a:ext cx="3017520" cy="1463040"/>
          </a:xfrm>
          <a:prstGeom prst="rect">
            <a:avLst/>
          </a:prstGeom>
          <a:noFill/>
          <a:ln/>
        </p:spPr>
        <p:txBody>
          <a:bodyPr wrap="square" lIns="0" tIns="0" rIns="0" bIns="0" rtlCol="0" anchor="ctr"/>
          <a:lstStyle/>
          <a:p>
            <a:pPr indent="0" marL="0">
              <a:buNone/>
            </a:pPr>
            <a:r>
              <a:rPr lang="en-US" sz="1150" dirty="0">
                <a:solidFill>
                  <a:srgbClr val="A8B8D0"/>
                </a:solidFill>
                <a:latin typeface="Calibri" pitchFamily="34" charset="0"/>
                <a:ea typeface="Calibri" pitchFamily="34" charset="-122"/>
                <a:cs typeface="Calibri" pitchFamily="34" charset="-120"/>
              </a:rPr>
              <a:t>Both tracks executed together over 2–3 quarters.</a:t>
            </a:r>
            <a:endParaRPr lang="en-US" sz="1150" dirty="0"/>
          </a:p>
        </p:txBody>
      </p:sp>
      <p:sp>
        <p:nvSpPr>
          <p:cNvPr id="19" name="Shape 17"/>
          <p:cNvSpPr/>
          <p:nvPr/>
        </p:nvSpPr>
        <p:spPr>
          <a:xfrm>
            <a:off x="548640" y="5486400"/>
            <a:ext cx="11064240" cy="868680"/>
          </a:xfrm>
          <a:prstGeom prst="roundRect">
            <a:avLst>
              <a:gd name="adj" fmla="val 12632"/>
            </a:avLst>
          </a:prstGeom>
          <a:solidFill>
            <a:srgbClr val="111F38"/>
          </a:solidFill>
          <a:ln w="12700">
            <a:solidFill>
              <a:srgbClr val="22C55E"/>
            </a:solidFill>
            <a:prstDash val="solid"/>
          </a:ln>
        </p:spPr>
      </p:sp>
      <p:sp>
        <p:nvSpPr>
          <p:cNvPr id="20" name="Text 18"/>
          <p:cNvSpPr txBox="1"/>
          <p:nvPr/>
        </p:nvSpPr>
        <p:spPr>
          <a:xfrm>
            <a:off x="868680" y="5577840"/>
            <a:ext cx="10424160" cy="685800"/>
          </a:xfrm>
          <a:prstGeom prst="rect">
            <a:avLst/>
          </a:prstGeom>
          <a:noFill/>
          <a:ln/>
        </p:spPr>
        <p:txBody>
          <a:bodyPr wrap="square" lIns="0" tIns="0" rIns="0" bIns="0" rtlCol="0" anchor="ctr"/>
          <a:lstStyle/>
          <a:p>
            <a:pPr indent="0" marL="0">
              <a:buNone/>
            </a:pPr>
            <a:r>
              <a:rPr lang="en-US" sz="1800" b="1" dirty="0">
                <a:solidFill>
                  <a:srgbClr val="22C55E"/>
                </a:solidFill>
                <a:latin typeface="Calibri" pitchFamily="34" charset="0"/>
                <a:ea typeface="Calibri" pitchFamily="34" charset="-122"/>
                <a:cs typeface="Calibri" pitchFamily="34" charset="-120"/>
              </a:rPr>
              <a:t>+$150K+ </a:t>
            </a:r>
            <a:pPr indent="0" marL="0">
              <a:buNone/>
            </a:pPr>
            <a:r>
              <a:rPr lang="en-US" sz="1200" dirty="0">
                <a:solidFill>
                  <a:srgbClr val="A8B8D0"/>
                </a:solidFill>
                <a:latin typeface="Calibri" pitchFamily="34" charset="0"/>
                <a:ea typeface="Calibri" pitchFamily="34" charset="-122"/>
                <a:cs typeface="Calibri" pitchFamily="34" charset="-120"/>
              </a:rPr>
              <a:t>estimated annual revenue upside — combining Regular → High Value nurture campaigns with eliminating At Risk-segment waste, without new customer acquisition spend.</a:t>
            </a:r>
            <a:endParaRPr lang="en-US" sz="1800" dirty="0"/>
          </a:p>
        </p:txBody>
      </p:sp>
      <p:sp>
        <p:nvSpPr>
          <p:cNvPr id="21" name="Text 19"/>
          <p:cNvSpPr/>
          <p:nvPr/>
        </p:nvSpPr>
        <p:spPr>
          <a:xfrm>
            <a:off x="457200" y="6528816"/>
            <a:ext cx="7315200" cy="274320"/>
          </a:xfrm>
          <a:prstGeom prst="rect">
            <a:avLst/>
          </a:prstGeom>
          <a:noFill/>
          <a:ln/>
        </p:spPr>
        <p:txBody>
          <a:bodyPr wrap="square" lIns="0" tIns="0" rIns="0" bIns="0" rtlCol="0" anchor="ctr"/>
          <a:lstStyle/>
          <a:p>
            <a:pPr algn="l" indent="0" marL="0">
              <a:buNone/>
            </a:pPr>
            <a:r>
              <a:rPr lang="en-US" sz="900" dirty="0">
                <a:solidFill>
                  <a:srgbClr val="72859E"/>
                </a:solidFill>
                <a:latin typeface="Calibri" pitchFamily="34" charset="0"/>
                <a:ea typeface="Calibri" pitchFamily="34" charset="-122"/>
                <a:cs typeface="Calibri" pitchFamily="34" charset="-120"/>
              </a:rPr>
              <a:t>Online Retail Business · Customer Segmentation</a:t>
            </a:r>
            <a:endParaRPr lang="en-US" sz="900" dirty="0"/>
          </a:p>
        </p:txBody>
      </p:sp>
      <p:sp>
        <p:nvSpPr>
          <p:cNvPr id="22" name="Text 20"/>
          <p:cNvSpPr/>
          <p:nvPr/>
        </p:nvSpPr>
        <p:spPr>
          <a:xfrm>
            <a:off x="11000232" y="6528816"/>
            <a:ext cx="731520" cy="274320"/>
          </a:xfrm>
          <a:prstGeom prst="rect">
            <a:avLst/>
          </a:prstGeom>
          <a:noFill/>
          <a:ln/>
        </p:spPr>
        <p:txBody>
          <a:bodyPr wrap="square" lIns="0" tIns="0" rIns="0" bIns="0" rtlCol="0" anchor="ctr"/>
          <a:lstStyle/>
          <a:p>
            <a:pPr algn="r" indent="0" marL="0">
              <a:buNone/>
            </a:pPr>
            <a:r>
              <a:rPr lang="en-US" sz="900" dirty="0">
                <a:solidFill>
                  <a:srgbClr val="72859E"/>
                </a:solidFill>
                <a:latin typeface="Calibri" pitchFamily="34" charset="0"/>
                <a:ea typeface="Calibri" pitchFamily="34" charset="-122"/>
                <a:cs typeface="Calibri" pitchFamily="34" charset="-120"/>
              </a:rPr>
              <a:t>16 / 18</a:t>
            </a:r>
            <a:endParaRPr lang="en-US" sz="9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0B1220"/>
        </a:solidFill>
      </p:bgPr>
    </p:bg>
    <p:spTree>
      <p:nvGrpSpPr>
        <p:cNvPr id="1" name=""/>
        <p:cNvGrpSpPr/>
        <p:nvPr/>
      </p:nvGrpSpPr>
      <p:grpSpPr>
        <a:xfrm>
          <a:off x="0" y="0"/>
          <a:ext cx="0" cy="0"/>
          <a:chOff x="0" y="0"/>
          <a:chExt cx="0" cy="0"/>
        </a:xfrm>
      </p:grpSpPr>
      <p:sp>
        <p:nvSpPr>
          <p:cNvPr id="2" name="Text 0"/>
          <p:cNvSpPr txBox="1"/>
          <p:nvPr/>
        </p:nvSpPr>
        <p:spPr>
          <a:xfrm>
            <a:off x="548640" y="201168"/>
            <a:ext cx="7315200" cy="274320"/>
          </a:xfrm>
          <a:prstGeom prst="rect">
            <a:avLst/>
          </a:prstGeom>
          <a:noFill/>
          <a:ln/>
        </p:spPr>
        <p:txBody>
          <a:bodyPr wrap="square" lIns="0" tIns="0" rIns="0" bIns="0" rtlCol="0" anchor="ctr"/>
          <a:lstStyle/>
          <a:p>
            <a:pPr algn="l" indent="0" marL="0">
              <a:buNone/>
            </a:pPr>
            <a:r>
              <a:rPr lang="en-US" sz="1100" b="1" spc="200" kern="0" dirty="0">
                <a:solidFill>
                  <a:srgbClr val="22C55E"/>
                </a:solidFill>
                <a:latin typeface="Calibri" pitchFamily="34" charset="0"/>
                <a:ea typeface="Calibri" pitchFamily="34" charset="-122"/>
                <a:cs typeface="Calibri" pitchFamily="34" charset="-120"/>
              </a:rPr>
              <a:t>FORECAST</a:t>
            </a:r>
            <a:endParaRPr lang="en-US" sz="1100" dirty="0"/>
          </a:p>
        </p:txBody>
      </p:sp>
      <p:sp>
        <p:nvSpPr>
          <p:cNvPr id="3" name="Text 1"/>
          <p:cNvSpPr txBox="1"/>
          <p:nvPr/>
        </p:nvSpPr>
        <p:spPr>
          <a:xfrm>
            <a:off x="548640" y="411480"/>
            <a:ext cx="11064240" cy="685800"/>
          </a:xfrm>
          <a:prstGeom prst="rect">
            <a:avLst/>
          </a:prstGeom>
          <a:noFill/>
          <a:ln/>
        </p:spPr>
        <p:txBody>
          <a:bodyPr wrap="square" lIns="0" tIns="0" rIns="0" bIns="0" rtlCol="0" anchor="ctr"/>
          <a:lstStyle/>
          <a:p>
            <a:pPr algn="l" indent="0" marL="0">
              <a:buNone/>
            </a:pPr>
            <a:r>
              <a:rPr lang="en-US" sz="3000" b="1" dirty="0">
                <a:solidFill>
                  <a:srgbClr val="FFFFFF"/>
                </a:solidFill>
                <a:latin typeface="Cambria" pitchFamily="34" charset="0"/>
                <a:ea typeface="Cambria" pitchFamily="34" charset="-122"/>
                <a:cs typeface="Cambria" pitchFamily="34" charset="-120"/>
              </a:rPr>
              <a:t>Three Paths for the Next Four Quarters</a:t>
            </a:r>
            <a:endParaRPr lang="en-US" sz="3000" dirty="0"/>
          </a:p>
        </p:txBody>
      </p:sp>
      <p:sp>
        <p:nvSpPr>
          <p:cNvPr id="4" name="Text 2"/>
          <p:cNvSpPr txBox="1"/>
          <p:nvPr/>
        </p:nvSpPr>
        <p:spPr>
          <a:xfrm>
            <a:off x="548640" y="1298448"/>
            <a:ext cx="10789920" cy="502920"/>
          </a:xfrm>
          <a:prstGeom prst="rect">
            <a:avLst/>
          </a:prstGeom>
          <a:noFill/>
          <a:ln/>
        </p:spPr>
        <p:txBody>
          <a:bodyPr wrap="square" lIns="0" tIns="0" rIns="0" bIns="0" rtlCol="0" anchor="ctr"/>
          <a:lstStyle/>
          <a:p>
            <a:pPr indent="0" marL="0">
              <a:buNone/>
            </a:pPr>
            <a:r>
              <a:rPr lang="en-US" sz="1150" dirty="0">
                <a:solidFill>
                  <a:srgbClr val="A8B8D0"/>
                </a:solidFill>
                <a:latin typeface="Calibri" pitchFamily="34" charset="0"/>
                <a:ea typeface="Calibri" pitchFamily="34" charset="-122"/>
                <a:cs typeface="Calibri" pitchFamily="34" charset="-120"/>
              </a:rPr>
              <a:t>Illustrative projection built from segment averages and the roadmap's own targets — not a statistically fitted time-series forecast, but a planning input to compare doing nothing vs. acting.</a:t>
            </a:r>
            <a:endParaRPr lang="en-US" sz="1150" dirty="0"/>
          </a:p>
        </p:txBody>
      </p:sp>
      <p:graphicFrame>
        <p:nvGraphicFramePr>
          <p:cNvPr id="5" name="Chart 0" descr=""/>
          <p:cNvGraphicFramePr/>
          <p:nvPr/>
        </p:nvGraphicFramePr>
        <p:xfrm>
          <a:off x="457200" y="1874520"/>
          <a:ext cx="7132320" cy="4114800"/>
        </p:xfrm>
        <a:graphic xmlns:a="http://schemas.openxmlformats.org/drawingml/2006/main">
          <a:graphicData uri="http://schemas.openxmlformats.org/drawingml/2006/chart">
            <c:chart xmlns:c="http://schemas.openxmlformats.org/drawingml/2006/chart" r:id="rId1"/>
          </a:graphicData>
        </a:graphic>
      </p:graphicFrame>
      <p:sp>
        <p:nvSpPr>
          <p:cNvPr id="6" name="Shape 3"/>
          <p:cNvSpPr/>
          <p:nvPr/>
        </p:nvSpPr>
        <p:spPr>
          <a:xfrm>
            <a:off x="7818120" y="1874520"/>
            <a:ext cx="3840480" cy="2331720"/>
          </a:xfrm>
          <a:prstGeom prst="roundRect">
            <a:avLst>
              <a:gd name="adj" fmla="val 5490"/>
            </a:avLst>
          </a:prstGeom>
          <a:solidFill>
            <a:srgbClr val="0F1B30"/>
          </a:solidFill>
          <a:ln w="13970">
            <a:solidFill>
              <a:srgbClr val="EF4444"/>
            </a:solidFill>
            <a:prstDash val="solid"/>
          </a:ln>
        </p:spPr>
      </p:sp>
      <p:sp>
        <p:nvSpPr>
          <p:cNvPr id="7" name="Text 4"/>
          <p:cNvSpPr txBox="1"/>
          <p:nvPr/>
        </p:nvSpPr>
        <p:spPr>
          <a:xfrm>
            <a:off x="8001000" y="2011680"/>
            <a:ext cx="3474720" cy="320040"/>
          </a:xfrm>
          <a:prstGeom prst="rect">
            <a:avLst/>
          </a:prstGeom>
          <a:noFill/>
          <a:ln/>
        </p:spPr>
        <p:txBody>
          <a:bodyPr wrap="square" lIns="0" tIns="0" rIns="0" bIns="0" rtlCol="0" anchor="ctr"/>
          <a:lstStyle/>
          <a:p>
            <a:pPr indent="0" marL="0">
              <a:buNone/>
            </a:pPr>
            <a:r>
              <a:rPr lang="en-US" sz="1300" b="1" dirty="0">
                <a:solidFill>
                  <a:srgbClr val="EF4444"/>
                </a:solidFill>
                <a:latin typeface="Calibri" pitchFamily="34" charset="0"/>
                <a:ea typeface="Calibri" pitchFamily="34" charset="-122"/>
                <a:cs typeface="Calibri" pitchFamily="34" charset="-120"/>
              </a:rPr>
              <a:t>⚠️  Risk of Inaction</a:t>
            </a:r>
            <a:endParaRPr lang="en-US" sz="1300" dirty="0"/>
          </a:p>
        </p:txBody>
      </p:sp>
      <p:sp>
        <p:nvSpPr>
          <p:cNvPr id="8" name="Text 5"/>
          <p:cNvSpPr txBox="1"/>
          <p:nvPr/>
        </p:nvSpPr>
        <p:spPr>
          <a:xfrm>
            <a:off x="8001000" y="2395728"/>
            <a:ext cx="3474720" cy="1737360"/>
          </a:xfrm>
          <a:prstGeom prst="rect">
            <a:avLst/>
          </a:prstGeom>
          <a:noFill/>
          <a:ln/>
        </p:spPr>
        <p:txBody>
          <a:bodyPr wrap="square" lIns="0" tIns="0" rIns="0" bIns="0" rtlCol="0" anchor="t"/>
          <a:lstStyle/>
          <a:p>
            <a:pPr marL="152400" indent="-152400">
              <a:spcAft>
                <a:spcPts val="800"/>
              </a:spcAft>
              <a:buSzPct val="100000"/>
              <a:buChar char="●"/>
            </a:pPr>
            <a:r>
              <a:rPr lang="en-US" sz="1000" dirty="0">
                <a:solidFill>
                  <a:srgbClr val="A8B8D0"/>
                </a:solidFill>
                <a:latin typeface="Calibri" pitchFamily="34" charset="0"/>
                <a:ea typeface="Calibri" pitchFamily="34" charset="-122"/>
                <a:cs typeface="Calibri" pitchFamily="34" charset="-120"/>
              </a:rPr>
              <a:t>Every quarter of delay on the Regular nurture track ≈ $13.7K–$22.5K in foregone revenue</a:t>
            </a:r>
            <a:endParaRPr lang="en-US" sz="1000" dirty="0"/>
          </a:p>
          <a:p>
            <a:pPr marL="152400" indent="-152400">
              <a:spcAft>
                <a:spcPts val="800"/>
              </a:spcAft>
              <a:buSzPct val="100000"/>
              <a:buChar char="●"/>
            </a:pPr>
            <a:r>
              <a:rPr lang="en-US" sz="1000" dirty="0">
                <a:solidFill>
                  <a:srgbClr val="A8B8D0"/>
                </a:solidFill>
                <a:latin typeface="Calibri" pitchFamily="34" charset="0"/>
                <a:ea typeface="Calibri" pitchFamily="34" charset="-122"/>
                <a:cs typeface="Calibri" pitchFamily="34" charset="-120"/>
              </a:rPr>
              <a:t>Unresolved At Risk failure mode could spread if it's systemic (payments/fraud), not isolated</a:t>
            </a:r>
            <a:endParaRPr lang="en-US" sz="1000" dirty="0"/>
          </a:p>
          <a:p>
            <a:pPr marL="152400" indent="-152400">
              <a:spcAft>
                <a:spcPts val="800"/>
              </a:spcAft>
              <a:buSzPct val="100000"/>
              <a:buChar char="●"/>
            </a:pPr>
            <a:r>
              <a:rPr lang="en-US" sz="1000" dirty="0">
                <a:solidFill>
                  <a:srgbClr val="A8B8D0"/>
                </a:solidFill>
                <a:latin typeface="Calibri" pitchFamily="34" charset="0"/>
                <a:ea typeface="Calibri" pitchFamily="34" charset="-122"/>
                <a:cs typeface="Calibri" pitchFamily="34" charset="-120"/>
              </a:rPr>
              <a:t>Without quarterly re-segmentation, targeting accuracy decays as behavior drifts</a:t>
            </a:r>
            <a:endParaRPr lang="en-US" sz="1000" dirty="0"/>
          </a:p>
        </p:txBody>
      </p:sp>
      <p:sp>
        <p:nvSpPr>
          <p:cNvPr id="9" name="Shape 6"/>
          <p:cNvSpPr/>
          <p:nvPr/>
        </p:nvSpPr>
        <p:spPr>
          <a:xfrm>
            <a:off x="7818120" y="4343400"/>
            <a:ext cx="3840480" cy="1691640"/>
          </a:xfrm>
          <a:prstGeom prst="roundRect">
            <a:avLst>
              <a:gd name="adj" fmla="val 7568"/>
            </a:avLst>
          </a:prstGeom>
          <a:solidFill>
            <a:srgbClr val="111F38"/>
          </a:solidFill>
          <a:ln w="13970">
            <a:solidFill>
              <a:srgbClr val="22C55E"/>
            </a:solidFill>
            <a:prstDash val="solid"/>
          </a:ln>
        </p:spPr>
      </p:sp>
      <p:sp>
        <p:nvSpPr>
          <p:cNvPr id="10" name="Text 7"/>
          <p:cNvSpPr txBox="1"/>
          <p:nvPr/>
        </p:nvSpPr>
        <p:spPr>
          <a:xfrm>
            <a:off x="8001000" y="4480560"/>
            <a:ext cx="3474720" cy="502920"/>
          </a:xfrm>
          <a:prstGeom prst="rect">
            <a:avLst/>
          </a:prstGeom>
          <a:noFill/>
          <a:ln/>
        </p:spPr>
        <p:txBody>
          <a:bodyPr wrap="square" lIns="0" tIns="0" rIns="0" bIns="0" rtlCol="0" anchor="ctr"/>
          <a:lstStyle/>
          <a:p>
            <a:pPr indent="0" marL="0">
              <a:buNone/>
            </a:pPr>
            <a:r>
              <a:rPr lang="en-US" sz="1050" dirty="0">
                <a:solidFill>
                  <a:srgbClr val="A8B8D0"/>
                </a:solidFill>
                <a:latin typeface="Calibri" pitchFamily="34" charset="0"/>
                <a:ea typeface="Calibri" pitchFamily="34" charset="-122"/>
                <a:cs typeface="Calibri" pitchFamily="34" charset="-120"/>
              </a:rPr>
              <a:t>By Q4, With Roadmap vs. Risk of Inaction:</a:t>
            </a:r>
            <a:endParaRPr lang="en-US" sz="1050" dirty="0"/>
          </a:p>
        </p:txBody>
      </p:sp>
      <p:sp>
        <p:nvSpPr>
          <p:cNvPr id="11" name="Text 8"/>
          <p:cNvSpPr txBox="1"/>
          <p:nvPr/>
        </p:nvSpPr>
        <p:spPr>
          <a:xfrm>
            <a:off x="8001000" y="4956048"/>
            <a:ext cx="3474720" cy="502920"/>
          </a:xfrm>
          <a:prstGeom prst="rect">
            <a:avLst/>
          </a:prstGeom>
          <a:noFill/>
          <a:ln/>
        </p:spPr>
        <p:txBody>
          <a:bodyPr wrap="square" lIns="0" tIns="0" rIns="0" bIns="0" rtlCol="0" anchor="ctr"/>
          <a:lstStyle/>
          <a:p>
            <a:pPr indent="0" marL="0">
              <a:buNone/>
            </a:pPr>
            <a:r>
              <a:rPr lang="en-US" sz="1900" b="1" dirty="0">
                <a:solidFill>
                  <a:srgbClr val="22C55E"/>
                </a:solidFill>
                <a:latin typeface="Cambria" pitchFamily="34" charset="0"/>
                <a:ea typeface="Cambria" pitchFamily="34" charset="-122"/>
                <a:cs typeface="Cambria" pitchFamily="34" charset="-120"/>
              </a:rPr>
              <a:t>≈ $58K / quarter swing</a:t>
            </a:r>
            <a:endParaRPr lang="en-US" sz="1900" dirty="0"/>
          </a:p>
        </p:txBody>
      </p:sp>
      <p:sp>
        <p:nvSpPr>
          <p:cNvPr id="12" name="Text 9"/>
          <p:cNvSpPr txBox="1"/>
          <p:nvPr/>
        </p:nvSpPr>
        <p:spPr>
          <a:xfrm>
            <a:off x="8001000" y="5440680"/>
            <a:ext cx="3474720" cy="502920"/>
          </a:xfrm>
          <a:prstGeom prst="rect">
            <a:avLst/>
          </a:prstGeom>
          <a:noFill/>
          <a:ln/>
        </p:spPr>
        <p:txBody>
          <a:bodyPr wrap="square" lIns="0" tIns="0" rIns="0" bIns="0" rtlCol="0" anchor="ctr"/>
          <a:lstStyle/>
          <a:p>
            <a:pPr indent="0" marL="0">
              <a:buNone/>
            </a:pPr>
            <a:r>
              <a:rPr lang="en-US" sz="950" dirty="0">
                <a:solidFill>
                  <a:srgbClr val="72859E"/>
                </a:solidFill>
                <a:latin typeface="Calibri" pitchFamily="34" charset="0"/>
                <a:ea typeface="Calibri" pitchFamily="34" charset="-122"/>
                <a:cs typeface="Calibri" pitchFamily="34" charset="-120"/>
              </a:rPr>
              <a:t>($172K vs. $114K) — the real cost of choosing not to act</a:t>
            </a:r>
            <a:endParaRPr lang="en-US" sz="950" dirty="0"/>
          </a:p>
        </p:txBody>
      </p:sp>
      <p:sp>
        <p:nvSpPr>
          <p:cNvPr id="13" name="Text 10"/>
          <p:cNvSpPr/>
          <p:nvPr/>
        </p:nvSpPr>
        <p:spPr>
          <a:xfrm>
            <a:off x="457200" y="6528816"/>
            <a:ext cx="7315200" cy="274320"/>
          </a:xfrm>
          <a:prstGeom prst="rect">
            <a:avLst/>
          </a:prstGeom>
          <a:noFill/>
          <a:ln/>
        </p:spPr>
        <p:txBody>
          <a:bodyPr wrap="square" lIns="0" tIns="0" rIns="0" bIns="0" rtlCol="0" anchor="ctr"/>
          <a:lstStyle/>
          <a:p>
            <a:pPr algn="l" indent="0" marL="0">
              <a:buNone/>
            </a:pPr>
            <a:r>
              <a:rPr lang="en-US" sz="900" dirty="0">
                <a:solidFill>
                  <a:srgbClr val="72859E"/>
                </a:solidFill>
                <a:latin typeface="Calibri" pitchFamily="34" charset="0"/>
                <a:ea typeface="Calibri" pitchFamily="34" charset="-122"/>
                <a:cs typeface="Calibri" pitchFamily="34" charset="-120"/>
              </a:rPr>
              <a:t>Online Retail Business · Customer Segmentation</a:t>
            </a:r>
            <a:endParaRPr lang="en-US" sz="900" dirty="0"/>
          </a:p>
        </p:txBody>
      </p:sp>
      <p:sp>
        <p:nvSpPr>
          <p:cNvPr id="14" name="Text 11"/>
          <p:cNvSpPr/>
          <p:nvPr/>
        </p:nvSpPr>
        <p:spPr>
          <a:xfrm>
            <a:off x="11000232" y="6528816"/>
            <a:ext cx="731520" cy="274320"/>
          </a:xfrm>
          <a:prstGeom prst="rect">
            <a:avLst/>
          </a:prstGeom>
          <a:noFill/>
          <a:ln/>
        </p:spPr>
        <p:txBody>
          <a:bodyPr wrap="square" lIns="0" tIns="0" rIns="0" bIns="0" rtlCol="0" anchor="ctr"/>
          <a:lstStyle/>
          <a:p>
            <a:pPr algn="r" indent="0" marL="0">
              <a:buNone/>
            </a:pPr>
            <a:r>
              <a:rPr lang="en-US" sz="900" dirty="0">
                <a:solidFill>
                  <a:srgbClr val="72859E"/>
                </a:solidFill>
                <a:latin typeface="Calibri" pitchFamily="34" charset="0"/>
                <a:ea typeface="Calibri" pitchFamily="34" charset="-122"/>
                <a:cs typeface="Calibri" pitchFamily="34" charset="-120"/>
              </a:rPr>
              <a:t>17 / 18</a:t>
            </a:r>
            <a:endParaRPr lang="en-US" sz="9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0B1220"/>
        </a:solidFill>
      </p:bgPr>
    </p:bg>
    <p:spTree>
      <p:nvGrpSpPr>
        <p:cNvPr id="1" name=""/>
        <p:cNvGrpSpPr/>
        <p:nvPr/>
      </p:nvGrpSpPr>
      <p:grpSpPr>
        <a:xfrm>
          <a:off x="0" y="0"/>
          <a:ext cx="0" cy="0"/>
          <a:chOff x="0" y="0"/>
          <a:chExt cx="0" cy="0"/>
        </a:xfrm>
      </p:grpSpPr>
      <p:sp>
        <p:nvSpPr>
          <p:cNvPr id="2" name="Shape 0"/>
          <p:cNvSpPr/>
          <p:nvPr/>
        </p:nvSpPr>
        <p:spPr>
          <a:xfrm>
            <a:off x="-1828800" y="-2286000"/>
            <a:ext cx="6400800" cy="6400800"/>
          </a:xfrm>
          <a:prstGeom prst="ellipse">
            <a:avLst/>
          </a:prstGeom>
          <a:solidFill>
            <a:srgbClr val="F0B429">
              <a:alpha val="7000"/>
            </a:srgbClr>
          </a:solidFill>
          <a:ln/>
        </p:spPr>
      </p:sp>
      <p:sp>
        <p:nvSpPr>
          <p:cNvPr id="3" name="Shape 1"/>
          <p:cNvSpPr/>
          <p:nvPr/>
        </p:nvSpPr>
        <p:spPr>
          <a:xfrm>
            <a:off x="7772400" y="3200400"/>
            <a:ext cx="6400800" cy="6400800"/>
          </a:xfrm>
          <a:prstGeom prst="ellipse">
            <a:avLst/>
          </a:prstGeom>
          <a:solidFill>
            <a:srgbClr val="3B82F6">
              <a:alpha val="9000"/>
            </a:srgbClr>
          </a:solidFill>
          <a:ln/>
        </p:spPr>
      </p:sp>
      <p:sp>
        <p:nvSpPr>
          <p:cNvPr id="4" name="Text 2"/>
          <p:cNvSpPr txBox="1"/>
          <p:nvPr/>
        </p:nvSpPr>
        <p:spPr>
          <a:xfrm>
            <a:off x="548640" y="2286000"/>
            <a:ext cx="9144000" cy="914400"/>
          </a:xfrm>
          <a:prstGeom prst="rect">
            <a:avLst/>
          </a:prstGeom>
          <a:noFill/>
          <a:ln/>
        </p:spPr>
        <p:txBody>
          <a:bodyPr wrap="square" lIns="0" tIns="0" rIns="0" bIns="0" rtlCol="0" anchor="ctr"/>
          <a:lstStyle/>
          <a:p>
            <a:pPr indent="0" marL="0">
              <a:buNone/>
            </a:pPr>
            <a:r>
              <a:rPr lang="en-US" sz="4000" b="1" dirty="0">
                <a:solidFill>
                  <a:srgbClr val="FFFFFF"/>
                </a:solidFill>
                <a:latin typeface="Cambria" pitchFamily="34" charset="0"/>
                <a:ea typeface="Cambria" pitchFamily="34" charset="-122"/>
                <a:cs typeface="Cambria" pitchFamily="34" charset="-120"/>
              </a:rPr>
              <a:t>Let's Discuss</a:t>
            </a:r>
            <a:endParaRPr lang="en-US" sz="4000" dirty="0"/>
          </a:p>
        </p:txBody>
      </p:sp>
      <p:sp>
        <p:nvSpPr>
          <p:cNvPr id="5" name="Text 3"/>
          <p:cNvSpPr txBox="1"/>
          <p:nvPr/>
        </p:nvSpPr>
        <p:spPr>
          <a:xfrm>
            <a:off x="548640" y="3154680"/>
            <a:ext cx="9144000" cy="548640"/>
          </a:xfrm>
          <a:prstGeom prst="rect">
            <a:avLst/>
          </a:prstGeom>
          <a:noFill/>
          <a:ln/>
        </p:spPr>
        <p:txBody>
          <a:bodyPr wrap="square" lIns="0" tIns="0" rIns="0" bIns="0" rtlCol="0" anchor="ctr"/>
          <a:lstStyle/>
          <a:p>
            <a:pPr indent="0" marL="0">
              <a:buNone/>
            </a:pPr>
            <a:r>
              <a:rPr lang="en-US" sz="1600" dirty="0">
                <a:solidFill>
                  <a:srgbClr val="FFD166"/>
                </a:solidFill>
                <a:latin typeface="Calibri" pitchFamily="34" charset="0"/>
                <a:ea typeface="Calibri" pitchFamily="34" charset="-122"/>
                <a:cs typeface="Calibri" pitchFamily="34" charset="-120"/>
              </a:rPr>
              <a:t>Which of the four roadmap priorities should we own first this quarter?</a:t>
            </a:r>
            <a:endParaRPr lang="en-US" sz="1600" dirty="0"/>
          </a:p>
        </p:txBody>
      </p:sp>
      <p:sp>
        <p:nvSpPr>
          <p:cNvPr id="6" name="Text 4"/>
          <p:cNvSpPr txBox="1"/>
          <p:nvPr/>
        </p:nvSpPr>
        <p:spPr>
          <a:xfrm>
            <a:off x="548640" y="3886200"/>
            <a:ext cx="8046720" cy="822960"/>
          </a:xfrm>
          <a:prstGeom prst="rect">
            <a:avLst/>
          </a:prstGeom>
          <a:noFill/>
          <a:ln/>
        </p:spPr>
        <p:txBody>
          <a:bodyPr wrap="square" lIns="0" tIns="0" rIns="0" bIns="0" rtlCol="0" anchor="ctr"/>
          <a:lstStyle/>
          <a:p>
            <a:pPr indent="0" marL="0">
              <a:buNone/>
            </a:pPr>
            <a:r>
              <a:rPr lang="en-US" sz="1250" dirty="0">
                <a:solidFill>
                  <a:srgbClr val="A8B8D0"/>
                </a:solidFill>
                <a:latin typeface="Calibri" pitchFamily="34" charset="0"/>
                <a:ea typeface="Calibri" pitchFamily="34" charset="-122"/>
                <a:cs typeface="Calibri" pitchFamily="34" charset="-120"/>
              </a:rPr>
              <a:t>A full interactive version of this analysis — live charts, a rotatable 3D cluster view, and every underlying number — is available as a companion report for anyone who wants to dig deeper after this meeting.</a:t>
            </a:r>
            <a:endParaRPr lang="en-US" sz="1250" dirty="0"/>
          </a:p>
        </p:txBody>
      </p:sp>
      <p:sp>
        <p:nvSpPr>
          <p:cNvPr id="7" name="Text 5"/>
          <p:cNvSpPr txBox="1"/>
          <p:nvPr/>
        </p:nvSpPr>
        <p:spPr>
          <a:xfrm>
            <a:off x="548640" y="5989320"/>
            <a:ext cx="7315200" cy="320040"/>
          </a:xfrm>
          <a:prstGeom prst="rect">
            <a:avLst/>
          </a:prstGeom>
          <a:noFill/>
          <a:ln/>
        </p:spPr>
        <p:txBody>
          <a:bodyPr wrap="square" lIns="0" tIns="0" rIns="0" bIns="0" rtlCol="0" anchor="ctr"/>
          <a:lstStyle/>
          <a:p>
            <a:pPr indent="0" marL="0">
              <a:buNone/>
            </a:pPr>
            <a:r>
              <a:rPr lang="en-US" sz="1200" b="1" dirty="0">
                <a:solidFill>
                  <a:srgbClr val="A8B8D0"/>
                </a:solidFill>
                <a:latin typeface="Calibri" pitchFamily="34" charset="0"/>
                <a:ea typeface="Calibri" pitchFamily="34" charset="-122"/>
                <a:cs typeface="Calibri" pitchFamily="34" charset="-120"/>
              </a:rPr>
              <a:t>Ali Ahmed Zaky  ·  Business Intelligence Expert</a:t>
            </a:r>
            <a:endParaRPr lang="en-US" sz="1200" dirty="0"/>
          </a:p>
        </p:txBody>
      </p:sp>
      <p:sp>
        <p:nvSpPr>
          <p:cNvPr id="8" name="Text 6"/>
          <p:cNvSpPr txBox="1"/>
          <p:nvPr/>
        </p:nvSpPr>
        <p:spPr>
          <a:xfrm>
            <a:off x="548640" y="6309360"/>
            <a:ext cx="7315200" cy="274320"/>
          </a:xfrm>
          <a:prstGeom prst="rect">
            <a:avLst/>
          </a:prstGeom>
          <a:noFill/>
          <a:ln/>
        </p:spPr>
        <p:txBody>
          <a:bodyPr wrap="square" lIns="0" tIns="0" rIns="0" bIns="0" rtlCol="0" anchor="ctr"/>
          <a:lstStyle/>
          <a:p>
            <a:pPr indent="0" marL="0">
              <a:buNone/>
            </a:pPr>
            <a:r>
              <a:rPr lang="en-US" sz="1000" dirty="0">
                <a:solidFill>
                  <a:srgbClr val="72859E"/>
                </a:solidFill>
                <a:latin typeface="Calibri" pitchFamily="34" charset="0"/>
                <a:ea typeface="Calibri" pitchFamily="34" charset="-122"/>
                <a:cs typeface="Calibri" pitchFamily="34" charset="-120"/>
              </a:rPr>
              <a:t>KMeans · k=3 · Silhouette 0.432 · 909 customers · 13 behavioral features</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18</Slides>
  <Notes>18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18</vt:i4>
      </vt:variant>
    </vt:vector>
  </HeadingPairs>
  <TitlesOfParts>
    <vt:vector size="21"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Online Retail Business — Customer Segmentation</dc:title>
  <dc:subject>PptxGenJS Presentation</dc:subject>
  <dc:creator>Ali Ahmed Zaky</dc:creator>
  <cp:lastModifiedBy>Ali Ahmed Zaky</cp:lastModifiedBy>
  <cp:revision>1</cp:revision>
  <dcterms:created xsi:type="dcterms:W3CDTF">2026-09-14T15:35:16Z</dcterms:created>
  <dcterms:modified xsi:type="dcterms:W3CDTF">2026-09-14T15:35:16Z</dcterms:modified>
</cp:coreProperties>
</file>